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11"/>
    <p:sldId id="257" r:id="rId17"/>
    <p:sldId id="258" r:id="rId19"/>
    <p:sldId id="259" r:id="rId2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akP5lgJyIUN/Y8tr0OFWP9HQs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92932B-25C6-472D-8F38-46E435DC3DE4}">
  <a:tblStyle styleId="{C292932B-25C6-472D-8F38-46E435DC3DE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7" Type="http://schemas.openxmlformats.org/officeDocument/2006/relationships/slide" Target="slides/slide2.xml"/><Relationship Id="rId19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0" name="Google Shape;39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Source: Monarch Home - Media Plan worksheet. In-market line: 1,800,000 impressions / $18,000 (row 6). Remarketing line: 100,000 impressions / $2,000 (row 9). Workbook TOTAL cell M18 reads $20,000, which agrees with the sum of both line items. Implied CPMs are derived, not quoted in the workbook.</a:t>
            </a:r>
          </a:p>
        </p:txBody>
      </p:sp>
      <p:sp>
        <p:nvSpPr>
          <p:cNvPr id="391" name="Google Shape;39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Key change vs. a smaller plan: at an estimated 1.9M impressions in a 30-day window the campaign clears the ~1.5M threshold the Ad Effectiveness Study requires, so both added-value components are available from the first flight rather than at a later scale step.</a:t>
            </a:r>
          </a:p>
        </p:txBody>
      </p:sp>
      <p:sp>
        <p:nvSpPr>
          <p:cNvPr id="442" name="Google Shape;44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3" name="Google Shape;56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/>
          <p:nvPr/>
        </p:nvSpPr>
        <p:spPr>
          <a:xfrm>
            <a:off x="566928" y="365760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PRICING MODEL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566928" y="603504"/>
            <a:ext cx="106920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100% Working Media. Zero Hidden Tech Taxes.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566928" y="109728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Media is purchased directly through the ad engines at transparent CPM-based pricing, with a flat monthly management fee that keeps our incentives aligned with campaign outcomes.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66928" y="1609344"/>
            <a:ext cx="5382616" cy="2286000"/>
          </a:xfrm>
          <a:prstGeom prst="roundRect">
            <a:avLst>
              <a:gd fmla="val 2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859536" y="1865376"/>
            <a:ext cx="4797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TRADITIONAL CTV MODELS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859536" y="2212848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1170432" y="2212848"/>
            <a:ext cx="446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Hidden platform markups and unknown inventory fees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859536" y="2743200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1170432" y="2743200"/>
            <a:ext cx="446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Layered reseller margins that shrink working media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859536" y="3273552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170432" y="3273552"/>
            <a:ext cx="446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Obscured placement and performance reporting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6242152" y="1609344"/>
            <a:ext cx="5382616" cy="2286000"/>
          </a:xfrm>
          <a:prstGeom prst="roundRect">
            <a:avLst>
              <a:gd fmla="val 200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6534760" y="1865376"/>
            <a:ext cx="4797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THE CAMP DIGITAL MODEL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6534760" y="2212848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6845656" y="2212848"/>
            <a:ext cx="446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CE5F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CE5F5"/>
                </a:solidFill>
                <a:latin typeface="Calibri"/>
                <a:ea typeface="Calibri"/>
                <a:cs typeface="Calibri"/>
                <a:sym typeface="Calibri"/>
              </a:rPr>
              <a:t>100% of media budget goes to buying impressions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534760" y="2743200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6845656" y="2743200"/>
            <a:ext cx="446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CE5F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CE5F5"/>
                </a:solidFill>
                <a:latin typeface="Calibri"/>
                <a:ea typeface="Calibri"/>
                <a:cs typeface="Calibri"/>
                <a:sym typeface="Calibri"/>
              </a:rPr>
              <a:t>Flat monthly management fee, disclosed up front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6534760" y="3273552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845656" y="3273552"/>
            <a:ext cx="446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CE5F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CE5F5"/>
                </a:solidFill>
                <a:latin typeface="Calibri"/>
                <a:ea typeface="Calibri"/>
                <a:cs typeface="Calibri"/>
                <a:sym typeface="Calibri"/>
              </a:rPr>
              <a:t>Direct access to placement, CPM and delivery reporting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66928" y="4187952"/>
            <a:ext cx="3527450" cy="1517904"/>
          </a:xfrm>
          <a:prstGeom prst="roundRect">
            <a:avLst>
              <a:gd fmla="val 301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841248" y="4425696"/>
            <a:ext cx="297881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MONARCH’S MONTHLY MEDIA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813816" y="4645152"/>
            <a:ext cx="303367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$20,000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841248" y="5230368"/>
            <a:ext cx="297881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NET USD, working media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332122" y="4187952"/>
            <a:ext cx="3527450" cy="1517904"/>
          </a:xfrm>
          <a:prstGeom prst="roundRect">
            <a:avLst>
              <a:gd fmla="val 3012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606442" y="4425696"/>
            <a:ext cx="297881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THIRD-PARTY MARKUPS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4579010" y="4645152"/>
            <a:ext cx="303367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$0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606442" y="5230368"/>
            <a:ext cx="297881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 reseller margin in the buy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8097317" y="4187952"/>
            <a:ext cx="3527450" cy="1517904"/>
          </a:xfrm>
          <a:prstGeom prst="roundRect">
            <a:avLst>
              <a:gd fmla="val 301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8371637" y="4425696"/>
            <a:ext cx="297881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ESTIMATED IMPRESSIONS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8344205" y="4645152"/>
            <a:ext cx="303367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1,900,000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8371637" y="5230368"/>
            <a:ext cx="297881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Across two targeted ad groups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566928" y="642823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CAMP Digital  ·  Premium Streaming Media Plan  ·  Monarch Home Services  ·  August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"/>
          <p:cNvSpPr/>
          <p:nvPr/>
        </p:nvSpPr>
        <p:spPr>
          <a:xfrm>
            <a:off x="566928" y="365760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THE PROPOSAL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566928" y="603504"/>
            <a:ext cx="106920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Monarch Home Services Premium Streaming Plan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566928" y="109728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One campaign, two ad groups, each with individual targeting — built to create demand at the top of the funnel and recapture it at the bottom.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566928" y="1609344"/>
            <a:ext cx="11057839" cy="786384"/>
          </a:xfrm>
          <a:prstGeom prst="roundRect">
            <a:avLst>
              <a:gd fmla="val 581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822960" y="1737360"/>
            <a:ext cx="151378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822960" y="1938528"/>
            <a:ext cx="151378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Microsoft Audience Network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2665933" y="1737360"/>
            <a:ext cx="151378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PLACEMENT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2665933" y="1938528"/>
            <a:ext cx="151378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CTV / OTT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4508906" y="1737360"/>
            <a:ext cx="151378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AD UNITS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4508906" y="1938528"/>
            <a:ext cx="151378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:05 – :90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6351880" y="1737360"/>
            <a:ext cx="151378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FLIGHT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6351880" y="1938528"/>
            <a:ext cx="151378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 days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8194853" y="1737360"/>
            <a:ext cx="151378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DEVICE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8194853" y="1938528"/>
            <a:ext cx="151378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Cross Device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10037826" y="1737360"/>
            <a:ext cx="151378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PRICING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10037826" y="1938528"/>
            <a:ext cx="151378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CPCV · $0.03 est. bid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9" name="Google Shape;409;p13"/>
          <p:cNvGraphicFramePr/>
          <p:nvPr/>
        </p:nvGraphicFramePr>
        <p:xfrm>
          <a:off x="566928" y="2633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{C292932B-25C6-472D-8F38-46E435DC3DE4}</a:tableStyleId>
              </a:tblPr>
              <a:tblGrid>
                <a:gridCol w="3200400"/>
                <a:gridCol w="3474725"/>
                <a:gridCol w="1600200"/>
                <a:gridCol w="1691650"/>
                <a:gridCol w="10908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 group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Targeting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Est. impressions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Monthly investment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Implied CPM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In-Market — Relevant Audiences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 &amp; Garden + Building Construction &amp; Maintenance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1,800,000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$18,000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$10.00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Remarketing — Site Visitors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Remarketing list — prior site visitors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$20.00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campaign / 2 ad groups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D4ED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1,900,000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D4ED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$20,000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D4ED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$10.53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E"/>
                    </a:solidFill>
                  </a:tcPr>
                </a:tc>
              </a:tr>
            </a:tbl>
          </a:graphicData>
        </a:graphic>
      </p:graphicFrame>
      <p:sp>
        <p:nvSpPr>
          <p:cNvPr id="410" name="Google Shape;410;p13"/>
          <p:cNvSpPr/>
          <p:nvPr/>
        </p:nvSpPr>
        <p:spPr>
          <a:xfrm>
            <a:off x="566928" y="4773168"/>
            <a:ext cx="11057839" cy="731520"/>
          </a:xfrm>
          <a:prstGeom prst="roundRect">
            <a:avLst>
              <a:gd fmla="val 5625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841248" y="4892040"/>
            <a:ext cx="1050919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READ THIS ALONGSIDE THE GEOGRAPHY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841248" y="5093208"/>
            <a:ext cx="10509199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1,800,000 in-market impressions build the brand across five California cities; 100,000 remarketing impressions keep Monarch in front of households that have already visited the site. Every dollar of the $20,000 is working media.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566928" y="5614416"/>
            <a:ext cx="110578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 impressions are estimates and are not guaranteed; pricing is dynamic based on market demand. All dollars are NET USD. Implied CPM is derived from monthly investment ÷ estimated impressions.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566928" y="642823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CAMP Digital  ·  Premium Streaming Media Plan  ·  Monarch Home Services  ·  August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5"/>
          <p:cNvSpPr/>
          <p:nvPr/>
        </p:nvSpPr>
        <p:spPr>
          <a:xfrm>
            <a:off x="566928" y="365760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INCLUDED AT NO ADDITIONAL COST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566928" y="603504"/>
            <a:ext cx="106920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Two Assets Monarch Keeps — Both Unlocked at Launch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566928" y="109728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plan includes added-value components that most CTV vendors either charge for or simply do not offer. At 1.9M impressions, Monarch qualifies for both from day one.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566928" y="1609344"/>
            <a:ext cx="5382616" cy="2560320"/>
          </a:xfrm>
          <a:prstGeom prst="roundRect">
            <a:avLst>
              <a:gd fmla="val 1786" name="adj"/>
            </a:avLst>
          </a:prstGeom>
          <a:solidFill>
            <a:srgbClr val="ECFDF5"/>
          </a:solidFill>
          <a:ln cap="flat" cmpd="sng" w="12700">
            <a:solidFill>
              <a:srgbClr val="A7E3C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859536" y="1865376"/>
            <a:ext cx="4797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ADDED VALUE 01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859536" y="2121408"/>
            <a:ext cx="4797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Impression-Based Remarketing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859536" y="2578608"/>
            <a:ext cx="4797400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Every household exposed to Monarch’s streaming ad is assembled into a remarketing list — usable across Search, Performance Max, Display, Native and Online Video.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841248" y="3383280"/>
            <a:ext cx="4833976" cy="585216"/>
          </a:xfrm>
          <a:prstGeom prst="roundRect">
            <a:avLst>
              <a:gd fmla="val 7813" name="adj"/>
            </a:avLst>
          </a:prstGeom>
          <a:solidFill>
            <a:srgbClr val="FFFFFF"/>
          </a:solidFill>
          <a:ln cap="flat" cmpd="sng" w="12700">
            <a:solidFill>
              <a:srgbClr val="A7E3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5"/>
          <p:cNvSpPr/>
          <p:nvPr/>
        </p:nvSpPr>
        <p:spPr>
          <a:xfrm>
            <a:off x="987552" y="3438144"/>
            <a:ext cx="45413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audience built by the TV campaign becomes a targeting asset for every other channel Monarch runs.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6242152" y="1609344"/>
            <a:ext cx="5382616" cy="2560320"/>
          </a:xfrm>
          <a:prstGeom prst="roundRect">
            <a:avLst>
              <a:gd fmla="val 1786" name="adj"/>
            </a:avLst>
          </a:prstGeom>
          <a:solidFill>
            <a:srgbClr val="ECFDF5"/>
          </a:solidFill>
          <a:ln cap="flat" cmpd="sng" w="12700">
            <a:solidFill>
              <a:srgbClr val="A7E3C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6534760" y="1865376"/>
            <a:ext cx="4797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ADDED VALUE 02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6534760" y="2121408"/>
            <a:ext cx="4797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 Effectiveness Study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6534760" y="2578608"/>
            <a:ext cx="4797400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Formal measurement of search lift, impact on the consumer decision journey and multi-touch attribution, correlated to Microsoft Audience Network ad exposure.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6516472" y="3383280"/>
            <a:ext cx="4833976" cy="585216"/>
          </a:xfrm>
          <a:prstGeom prst="roundRect">
            <a:avLst>
              <a:gd fmla="val 7813" name="adj"/>
            </a:avLst>
          </a:prstGeom>
          <a:solidFill>
            <a:srgbClr val="FFFFFF"/>
          </a:solidFill>
          <a:ln cap="flat" cmpd="sng" w="12700">
            <a:solidFill>
              <a:srgbClr val="A7E3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6662776" y="3438144"/>
            <a:ext cx="45413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Requires approximately 1.5M impressions in a 30-day period — this plan delivers an estimated 1.9M.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566928" y="4480560"/>
            <a:ext cx="11057839" cy="1700784"/>
          </a:xfrm>
          <a:prstGeom prst="roundRect">
            <a:avLst>
              <a:gd fmla="val 2688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5"/>
          <p:cNvSpPr/>
          <p:nvPr/>
        </p:nvSpPr>
        <p:spPr>
          <a:xfrm>
            <a:off x="877824" y="466344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THRESHOLD CLEARED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877824" y="4901184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brand lift study is unlocked at launch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877824" y="5303520"/>
            <a:ext cx="67665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7D3E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7D3E6"/>
                </a:solidFill>
                <a:latin typeface="Calibri"/>
                <a:ea typeface="Calibri"/>
                <a:cs typeface="Calibri"/>
                <a:sym typeface="Calibri"/>
              </a:rPr>
              <a:t>The August plan delivers an estimated 1,900,000 impressions in a 30-day window — above the roughly 1.5M the Ad Effectiveness Study requires. Monarch qualifies for formal search-lift and multi-touch attribution measurement from the very first flight, at no additional cost.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8058607" y="4882896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AUGUST PLAN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8058607" y="5102352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1.9M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9841687" y="4882896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STUDY THRESHOLD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9841687" y="5102352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1.5M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566928" y="642823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CAMP Digital  ·  Premium Streaming Media Plan  ·  Monarch Home Services  ·  August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9"/>
          <p:cNvSpPr/>
          <p:nvPr/>
        </p:nvSpPr>
        <p:spPr>
          <a:xfrm>
            <a:off x="566928" y="45720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THE RECOMMENDATION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9"/>
          <p:cNvSpPr/>
          <p:nvPr/>
        </p:nvSpPr>
        <p:spPr>
          <a:xfrm>
            <a:off x="566928" y="731520"/>
            <a:ext cx="11057839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Monarch Home Services Receives for $20,000 a Month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9"/>
          <p:cNvSpPr/>
          <p:nvPr/>
        </p:nvSpPr>
        <p:spPr>
          <a:xfrm>
            <a:off x="566928" y="1481328"/>
            <a:ext cx="6858000" cy="3346704"/>
          </a:xfrm>
          <a:prstGeom prst="roundRect">
            <a:avLst>
              <a:gd fmla="val 1366" name="adj"/>
            </a:avLst>
          </a:prstGeom>
          <a:solidFill>
            <a:srgbClr val="1B2942"/>
          </a:solidFill>
          <a:ln cap="flat" cmpd="sng" w="12700">
            <a:solidFill>
              <a:srgbClr val="2E42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9"/>
          <p:cNvSpPr/>
          <p:nvPr/>
        </p:nvSpPr>
        <p:spPr>
          <a:xfrm>
            <a:off x="877824" y="18105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9"/>
          <p:cNvSpPr/>
          <p:nvPr/>
        </p:nvSpPr>
        <p:spPr>
          <a:xfrm>
            <a:off x="1243584" y="1810512"/>
            <a:ext cx="5852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1,900,000 estimated premium CTV/OTT impressions over a 30-day flight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9"/>
          <p:cNvSpPr/>
          <p:nvPr/>
        </p:nvSpPr>
        <p:spPr>
          <a:xfrm>
            <a:off x="877824" y="22951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9"/>
          <p:cNvSpPr/>
          <p:nvPr/>
        </p:nvSpPr>
        <p:spPr>
          <a:xfrm>
            <a:off x="1243584" y="2295144"/>
            <a:ext cx="5852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Delivery confined to five named California cities across three DMAs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9"/>
          <p:cNvSpPr/>
          <p:nvPr/>
        </p:nvSpPr>
        <p:spPr>
          <a:xfrm>
            <a:off x="877824" y="277977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9"/>
          <p:cNvSpPr/>
          <p:nvPr/>
        </p:nvSpPr>
        <p:spPr>
          <a:xfrm>
            <a:off x="1243584" y="2779776"/>
            <a:ext cx="5852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 in-market audience pools plus prior-site-visitor retargeting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9"/>
          <p:cNvSpPr/>
          <p:nvPr/>
        </p:nvSpPr>
        <p:spPr>
          <a:xfrm>
            <a:off x="877824" y="32644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9"/>
          <p:cNvSpPr/>
          <p:nvPr/>
        </p:nvSpPr>
        <p:spPr>
          <a:xfrm>
            <a:off x="1243584" y="3264408"/>
            <a:ext cx="5852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Direct-to-engine buying — no reseller markup on any impression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9"/>
          <p:cNvSpPr/>
          <p:nvPr/>
        </p:nvSpPr>
        <p:spPr>
          <a:xfrm>
            <a:off x="877824" y="37490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9"/>
          <p:cNvSpPr/>
          <p:nvPr/>
        </p:nvSpPr>
        <p:spPr>
          <a:xfrm>
            <a:off x="1243584" y="3749040"/>
            <a:ext cx="5852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Impression-Based Remarketing and the Ad Effectiveness Study, both included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9"/>
          <p:cNvSpPr/>
          <p:nvPr/>
        </p:nvSpPr>
        <p:spPr>
          <a:xfrm>
            <a:off x="877824" y="42336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9"/>
          <p:cNvSpPr/>
          <p:nvPr/>
        </p:nvSpPr>
        <p:spPr>
          <a:xfrm>
            <a:off x="1243584" y="4233672"/>
            <a:ext cx="5852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App-level placement, CPM and completion reporting every month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9"/>
          <p:cNvSpPr/>
          <p:nvPr/>
        </p:nvSpPr>
        <p:spPr>
          <a:xfrm>
            <a:off x="7717536" y="1481328"/>
            <a:ext cx="3907231" cy="1572768"/>
          </a:xfrm>
          <a:prstGeom prst="roundRect">
            <a:avLst>
              <a:gd fmla="val 290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9"/>
          <p:cNvSpPr/>
          <p:nvPr/>
        </p:nvSpPr>
        <p:spPr>
          <a:xfrm>
            <a:off x="8010144" y="1719072"/>
            <a:ext cx="33220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2F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D6E2FE"/>
                </a:solidFill>
                <a:latin typeface="Arial"/>
                <a:ea typeface="Arial"/>
                <a:cs typeface="Arial"/>
                <a:sym typeface="Arial"/>
              </a:rPr>
              <a:t>MONTHLY INVESTMENT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9"/>
          <p:cNvSpPr/>
          <p:nvPr/>
        </p:nvSpPr>
        <p:spPr>
          <a:xfrm>
            <a:off x="7982712" y="1938528"/>
            <a:ext cx="3376879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$20,000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9"/>
          <p:cNvSpPr/>
          <p:nvPr/>
        </p:nvSpPr>
        <p:spPr>
          <a:xfrm>
            <a:off x="8010144" y="2615184"/>
            <a:ext cx="3322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2F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6E2FE"/>
                </a:solidFill>
                <a:latin typeface="Calibri"/>
                <a:ea typeface="Calibri"/>
                <a:cs typeface="Calibri"/>
                <a:sym typeface="Calibri"/>
              </a:rPr>
              <a:t>NET USD  ·  100% working media  ·  fully scalable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9"/>
          <p:cNvSpPr/>
          <p:nvPr/>
        </p:nvSpPr>
        <p:spPr>
          <a:xfrm>
            <a:off x="7717536" y="3218688"/>
            <a:ext cx="3907231" cy="1609344"/>
          </a:xfrm>
          <a:prstGeom prst="roundRect">
            <a:avLst>
              <a:gd fmla="val 2841" name="adj"/>
            </a:avLst>
          </a:prstGeom>
          <a:solidFill>
            <a:srgbClr val="1B2942"/>
          </a:solidFill>
          <a:ln cap="flat" cmpd="sng" w="12700">
            <a:solidFill>
              <a:srgbClr val="2E42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9"/>
          <p:cNvSpPr/>
          <p:nvPr/>
        </p:nvSpPr>
        <p:spPr>
          <a:xfrm>
            <a:off x="8010144" y="3419856"/>
            <a:ext cx="33220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NEXT STEP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9"/>
          <p:cNvSpPr/>
          <p:nvPr/>
        </p:nvSpPr>
        <p:spPr>
          <a:xfrm>
            <a:off x="8010144" y="3639312"/>
            <a:ext cx="3322015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Complimentary local CTV audit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9"/>
          <p:cNvSpPr/>
          <p:nvPr/>
        </p:nvSpPr>
        <p:spPr>
          <a:xfrm>
            <a:off x="8010144" y="4096512"/>
            <a:ext cx="33220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7D3E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7D3E6"/>
                </a:solidFill>
                <a:latin typeface="Calibri"/>
                <a:ea typeface="Calibri"/>
                <a:cs typeface="Calibri"/>
                <a:sym typeface="Calibri"/>
              </a:rPr>
              <a:t>A real-time inventory forecast across Monarch’s five California cities, confirming the streaming audience supports a sustained television presence — before a dollar is committed.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packed/ppt/media/image12.png" id="589" name="Google Shape;5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5230368"/>
            <a:ext cx="1572768" cy="630936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9"/>
          <p:cNvSpPr/>
          <p:nvPr/>
        </p:nvSpPr>
        <p:spPr>
          <a:xfrm>
            <a:off x="2487168" y="5321808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Ready to own the big screen in your service territory?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9"/>
          <p:cNvSpPr/>
          <p:nvPr/>
        </p:nvSpPr>
        <p:spPr>
          <a:xfrm>
            <a:off x="8424367" y="5321808"/>
            <a:ext cx="3200400" cy="566928"/>
          </a:xfrm>
          <a:prstGeom prst="roundRect">
            <a:avLst>
              <a:gd fmla="val 14516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9"/>
          <p:cNvSpPr/>
          <p:nvPr/>
        </p:nvSpPr>
        <p:spPr>
          <a:xfrm>
            <a:off x="8424367" y="5321808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Request Your Free CTV Audit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9"/>
          <p:cNvSpPr/>
          <p:nvPr/>
        </p:nvSpPr>
        <p:spPr>
          <a:xfrm>
            <a:off x="566928" y="6199632"/>
            <a:ext cx="110578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 impressions are estimates and are not guaranteed. Pricing is dynamic based on market demand. All dollars are NET USD.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2026-08-09T18:20:06Z</dcterms:created>
  <dc:creator>CAMP Digital</dc:creator>
</cp:coreProperties>
</file>