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akP5lgJyIUN/Y8tr0OFWP9HQs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92932B-25C6-472D-8F38-46E435DC3DE4}">
  <a:tblStyle styleId="{C292932B-25C6-472D-8F38-46E435DC3DE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customschemas.google.com/relationships/presentationmetadata" Target="meta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Pluto TV &amp; other</c:v>
                </c:pt>
                <c:pt idx="1">
                  <c:v>Tubi</c:v>
                </c:pt>
                <c:pt idx="2">
                  <c:v>Samsung TV Plus</c:v>
                </c:pt>
                <c:pt idx="3">
                  <c:v>Roku Channel</c:v>
                </c:pt>
                <c:pt idx="4">
                  <c:v>Peacock</c:v>
                </c:pt>
                <c:pt idx="5">
                  <c:v>Max</c:v>
                </c:pt>
                <c:pt idx="6">
                  <c:v>Paramount+</c:v>
                </c:pt>
                <c:pt idx="7">
                  <c:v>Hulu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152320</c:v>
                </c:pt>
                <c:pt idx="1">
                  <c:v>152320</c:v>
                </c:pt>
                <c:pt idx="2">
                  <c:v>190400</c:v>
                </c:pt>
                <c:pt idx="3">
                  <c:v>209440</c:v>
                </c:pt>
                <c:pt idx="4">
                  <c:v>228480</c:v>
                </c:pt>
                <c:pt idx="5">
                  <c:v>247520</c:v>
                </c:pt>
                <c:pt idx="6">
                  <c:v>304640</c:v>
                </c:pt>
                <c:pt idx="7">
                  <c:v>418880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D6-4D2B-9792-F1DE893D07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00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devices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235-4726-9B81-C606AE5FCF9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235-4726-9B81-C606AE5FCF93}"/>
              </c:ext>
            </c:extLst>
          </c:dPt>
          <c:dPt>
            <c:idx val="2"/>
            <c:invertIfNegative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235-4726-9B81-C606AE5FCF93}"/>
              </c:ext>
            </c:extLst>
          </c:dPt>
          <c:dPt>
            <c:idx val="3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235-4726-9B81-C606AE5FCF9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4.0x frequency</c:v>
                </c:pt>
                <c:pt idx="1">
                  <c:v>5.0x frequency</c:v>
                </c:pt>
                <c:pt idx="2">
                  <c:v>6.0x frequency</c:v>
                </c:pt>
                <c:pt idx="3">
                  <c:v>7.0x frequency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475000</c:v>
                </c:pt>
                <c:pt idx="1">
                  <c:v>380000</c:v>
                </c:pt>
                <c:pt idx="2">
                  <c:v>316700</c:v>
                </c:pt>
                <c:pt idx="3">
                  <c:v>271400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235-4726-9B81-C606AE5FCF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480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Proposal cover. Campaign facts from the Monarch Home Services Media Plan workbook (August 2026): 30-day flight, 1,900,000 estimated impressions across two ad groups. Investment $20,000 = $18,000 in-market + $2,000 remarketing; matches the workbook TOTAL.</a:t>
            </a: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Illustrative only. Internal consistency: 272,000 households x 7.0 frequency = 1,904,000 impressions; 1,841,000 completed views / 1,904,000 = 96.7% VCR; $20,000 / 1,841,000 = $0.011 CPCV; $20,000 / 1,904,000 x 1,000 = $10.50 CPM. Platform mix sums to 1,904,000.</a:t>
            </a:r>
          </a:p>
        </p:txBody>
      </p:sp>
      <p:sp>
        <p:nvSpPr>
          <p:cNvPr id="258" name="Google Shape;25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0" name="Google Shape;39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Source: Monarch Home - Media Plan worksheet. In-market line: 1,800,000 impressions / $18,000 (row 6). Remarketing line: 100,000 impressions / $2,000 (row 9). Workbook TOTAL cell M18 reads $20,000, which agrees with the sum of both line items. Implied CPMs are derived, not quoted in the workbook.</a:t>
            </a:r>
          </a:p>
        </p:txBody>
      </p:sp>
      <p:sp>
        <p:nvSpPr>
          <p:cNvPr id="391" name="Google Shape;39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Scenarios are 1,900,000 plan impressions divided by average frequency: 4.0x = 475,000; 5.0x = 380,000; 6.0x = 316,700; 7.0x = 271,400. In-market share = 1,800,000 / 1,900,000 = 94.7%.</a:t>
            </a:r>
          </a:p>
        </p:txBody>
      </p:sp>
      <p:sp>
        <p:nvSpPr>
          <p:cNvPr id="419" name="Google Shape;41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Key change vs. a smaller plan: at an estimated 1.9M impressions in a 30-day window the campaign clears the ~1.5M threshold the Ad Effectiveness Study requires, so both added-value components are available from the first flight rather than at a later scale step.</a:t>
            </a:r>
          </a:p>
        </p:txBody>
      </p:sp>
      <p:sp>
        <p:nvSpPr>
          <p:cNvPr id="442" name="Google Shape;442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Google Shape;471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4" name="Google Shape;504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0" name="Google Shape;530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3" name="Google Shape;56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packed/ppt/media/image13.png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4072" y="0"/>
            <a:ext cx="475762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7434072" y="0"/>
            <a:ext cx="4757623" cy="6858000"/>
          </a:xfrm>
          <a:prstGeom prst="rect">
            <a:avLst/>
          </a:prstGeom>
          <a:solidFill>
            <a:srgbClr val="0F172A">
              <a:alpha val="67843"/>
            </a:srgbClr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npacked/ppt/media/image12.png" id="14" name="Google Shape;1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566928"/>
            <a:ext cx="2084832" cy="83667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566928" y="1883664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PREMIUM STREAMING (CTV / OTT) PROPOSAL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30352" y="2157984"/>
            <a:ext cx="65836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Monarch Home Services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66928" y="2999232"/>
            <a:ext cx="64008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Enterprise TV Advertising.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Direct Publisher Costs. Zero Markups.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66928" y="3950208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7D3E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D3E6"/>
                </a:solidFill>
                <a:latin typeface="Calibri"/>
                <a:ea typeface="Calibri"/>
                <a:cs typeface="Calibri"/>
                <a:sym typeface="Calibri"/>
              </a:rPr>
              <a:t>How CAMP Digital connects big-screen streaming to booked home service calls across Monarch’s five-city Central California footprint.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66928" y="4736592"/>
            <a:ext cx="1993392" cy="786384"/>
          </a:xfrm>
          <a:prstGeom prst="roundRect">
            <a:avLst>
              <a:gd fmla="val 5814" name="adj"/>
            </a:avLst>
          </a:prstGeom>
          <a:solidFill>
            <a:srgbClr val="1B2942"/>
          </a:solidFill>
          <a:ln cap="flat" cmpd="sng" w="12700">
            <a:solidFill>
              <a:srgbClr val="2E42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49808" y="484632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INVESTMENT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49808" y="50292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$20,000 / month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724912" y="4736592"/>
            <a:ext cx="1993392" cy="786384"/>
          </a:xfrm>
          <a:prstGeom prst="roundRect">
            <a:avLst>
              <a:gd fmla="val 5814" name="adj"/>
            </a:avLst>
          </a:prstGeom>
          <a:solidFill>
            <a:srgbClr val="1B2942"/>
          </a:solidFill>
          <a:ln cap="flat" cmpd="sng" w="12700">
            <a:solidFill>
              <a:srgbClr val="2E42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2907792" y="484632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FLIGHT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907792" y="50292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 days · </a:t>
            </a:r>
            <a:r>
              <a:rPr b="1" lang="en-US">
                <a:solidFill>
                  <a:srgbClr val="FFFFFF"/>
                </a:solidFill>
              </a:rPr>
              <a:t>AUG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882896" y="4736592"/>
            <a:ext cx="1993392" cy="786384"/>
          </a:xfrm>
          <a:prstGeom prst="roundRect">
            <a:avLst>
              <a:gd fmla="val 5814" name="adj"/>
            </a:avLst>
          </a:prstGeom>
          <a:solidFill>
            <a:srgbClr val="1B2942"/>
          </a:solidFill>
          <a:ln cap="flat" cmpd="sng" w="12700">
            <a:solidFill>
              <a:srgbClr val="2E42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5065776" y="484632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EST. IMPRESSIONS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065776" y="50292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1,900,000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66928" y="5870448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Google Premier Partner  ·  Microsoft Elite Partner  ·  Prepared for Monarch Home Services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566928" y="365760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THE SHIFT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66928" y="603504"/>
            <a:ext cx="106920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Homeowners Left Cable. Traditional Agencies Kept the Markups.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66928" y="109728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Today's homeowners spend more time on streaming platforms than on traditional cable. Most CTV providers still sell that audience as a black-box media buy — layered fees, hidden markups, fragmented reporting.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284568" y="1609344"/>
            <a:ext cx="4340200" cy="3364992"/>
          </a:xfrm>
          <a:prstGeom prst="roundRect">
            <a:avLst>
              <a:gd fmla="val 1223" name="adj"/>
            </a:avLst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2944368" y="1609344"/>
            <a:ext cx="4340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Traditional cable &amp; broadcast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284568" y="1609344"/>
            <a:ext cx="4340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CTV / premium streaming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66928" y="2121408"/>
            <a:ext cx="22311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Buying unit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054096" y="2121408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Dayparts and programs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394296" y="2121408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Households and audiences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2"/>
          <p:cNvCxnSpPr/>
          <p:nvPr/>
        </p:nvCxnSpPr>
        <p:spPr>
          <a:xfrm>
            <a:off x="566928" y="2596896"/>
            <a:ext cx="11057839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2"/>
          <p:cNvSpPr/>
          <p:nvPr/>
        </p:nvSpPr>
        <p:spPr>
          <a:xfrm>
            <a:off x="566928" y="2596896"/>
            <a:ext cx="22311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Geography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054096" y="2596896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entire DMA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394296" y="2596896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City and ZIP-code footprint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2"/>
          <p:cNvCxnSpPr/>
          <p:nvPr/>
        </p:nvCxnSpPr>
        <p:spPr>
          <a:xfrm>
            <a:off x="566928" y="3072384"/>
            <a:ext cx="11057839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2"/>
          <p:cNvSpPr/>
          <p:nvPr/>
        </p:nvSpPr>
        <p:spPr>
          <a:xfrm>
            <a:off x="566928" y="3072384"/>
            <a:ext cx="22311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Targeting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054096" y="3072384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Age and gender demographics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394296" y="3072384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In-market intent, CRM, retargeting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2"/>
          <p:cNvCxnSpPr/>
          <p:nvPr/>
        </p:nvCxnSpPr>
        <p:spPr>
          <a:xfrm>
            <a:off x="566928" y="3547872"/>
            <a:ext cx="11057839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2"/>
          <p:cNvSpPr/>
          <p:nvPr/>
        </p:nvSpPr>
        <p:spPr>
          <a:xfrm>
            <a:off x="566928" y="3547872"/>
            <a:ext cx="22311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Commitment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054096" y="3547872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Large upfront commitments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394296" y="3547872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Monthly, fully scalable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" name="Google Shape;55;p2"/>
          <p:cNvCxnSpPr/>
          <p:nvPr/>
        </p:nvCxnSpPr>
        <p:spPr>
          <a:xfrm>
            <a:off x="566928" y="4023360"/>
            <a:ext cx="11057839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2"/>
          <p:cNvSpPr/>
          <p:nvPr/>
        </p:nvSpPr>
        <p:spPr>
          <a:xfrm>
            <a:off x="566928" y="4023360"/>
            <a:ext cx="22311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Measurement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054096" y="4023360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Panel-based estimates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7394296" y="4023360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Impression-level delivery reporting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2"/>
          <p:cNvCxnSpPr/>
          <p:nvPr/>
        </p:nvCxnSpPr>
        <p:spPr>
          <a:xfrm>
            <a:off x="566928" y="4498848"/>
            <a:ext cx="11057839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2"/>
          <p:cNvSpPr/>
          <p:nvPr/>
        </p:nvSpPr>
        <p:spPr>
          <a:xfrm>
            <a:off x="566928" y="4498848"/>
            <a:ext cx="22311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Waste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054096" y="4498848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Paying for viewers you can't serve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394296" y="4498848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Spend confined to your service area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66928" y="5193792"/>
            <a:ext cx="11057839" cy="749808"/>
          </a:xfrm>
          <a:prstGeom prst="roundRect">
            <a:avLst>
              <a:gd fmla="val 5488" name="adj"/>
            </a:avLst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841248" y="5312664"/>
            <a:ext cx="1050919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WHAT THIS MEANS FOR MONARCH HOME SERVICES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841248" y="5513832"/>
            <a:ext cx="1050919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Monarch does not need to buy three California DMAs to advertise on television. The plan in this deck buys five specific Central Valley and Central Coast cities — the same big screen, none of the waste.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66928" y="6428232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CAMP Digital  ·  Premium Streaming Media Plan  ·  Monarch Home Services  ·  August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/>
          <p:nvPr/>
        </p:nvSpPr>
        <p:spPr>
          <a:xfrm>
            <a:off x="566928" y="365760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AUDIENCE STRATEGY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66928" y="603504"/>
            <a:ext cx="106920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Living Room Opportunity: A Branding Layer Above Search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66928" y="109728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Homeowners move seamlessly across devices. Search captures demand that already exists — CTV reaches the household earlier, before the failure happens.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66928" y="1609344"/>
            <a:ext cx="3527450" cy="2944368"/>
          </a:xfrm>
          <a:prstGeom prst="roundRect">
            <a:avLst>
              <a:gd fmla="val 1553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859536" y="1883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59536" y="2212848"/>
            <a:ext cx="294223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Connected TV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859536" y="2596896"/>
            <a:ext cx="294223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AWARENESS · PRE-NEED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59536" y="2944368"/>
            <a:ext cx="294223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C7D3E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7D3E6"/>
                </a:solidFill>
                <a:latin typeface="Calibri"/>
                <a:ea typeface="Calibri"/>
                <a:cs typeface="Calibri"/>
                <a:sym typeface="Calibri"/>
              </a:rPr>
              <a:t>Reaches the household on the living-room screen weeks or months before a furnace quits or an AC unit fails in a 105-degree Central Valley August.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332122" y="1609344"/>
            <a:ext cx="3527450" cy="2944368"/>
          </a:xfrm>
          <a:prstGeom prst="roundRect">
            <a:avLst>
              <a:gd fmla="val 1553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4624730" y="1883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624730" y="2212848"/>
            <a:ext cx="294223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Demand Gen &amp; Social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624730" y="2596896"/>
            <a:ext cx="294223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CONSIDERATION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624730" y="2944368"/>
            <a:ext cx="294223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Re-engages CTV-exposed households across YouTube, Gmail and Discover with the same message and value proposition.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8097317" y="1609344"/>
            <a:ext cx="3527450" cy="2944368"/>
          </a:xfrm>
          <a:prstGeom prst="roundRect">
            <a:avLst>
              <a:gd fmla="val 1553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8389925" y="18836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8389925" y="2212848"/>
            <a:ext cx="294223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Search, LSA &amp; Website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8389925" y="2596896"/>
            <a:ext cx="294223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CAPTURE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8389925" y="2944368"/>
            <a:ext cx="294223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Converts the demand that CTV created — at a lower cost, because the brand is already familiar.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66928" y="4828032"/>
            <a:ext cx="11057839" cy="749808"/>
          </a:xfrm>
          <a:prstGeom prst="roundRect">
            <a:avLst>
              <a:gd fmla="val 5488" name="adj"/>
            </a:avLst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841248" y="4946904"/>
            <a:ext cx="1050919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KEY TAKEAWAY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841248" y="5148072"/>
            <a:ext cx="1050919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upper-funnel branding layer warms the audience before the emergency — driving brand lift and improving the efficiency of every lower-funnel search dollar Monarch already spends.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566928" y="6428232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CAMP Digital  ·  Premium Streaming Media Plan  ·  Monarch Home Services  ·  August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/>
          <p:nvPr/>
        </p:nvSpPr>
        <p:spPr>
          <a:xfrm>
            <a:off x="566928" y="365760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INVENTORY QUALITY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66928" y="603504"/>
            <a:ext cx="106920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Not All Video Impressions Are Television Impressions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66928" y="109728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"Online video" and "premium streaming" are priced similarly and perform nothing alike. The difference is the screen, the format and the environment the ad runs in.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284568" y="1609344"/>
            <a:ext cx="4340200" cy="3364992"/>
          </a:xfrm>
          <a:prstGeom prst="roundRect">
            <a:avLst>
              <a:gd fmla="val 1223" name="adj"/>
            </a:avLst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2944368" y="1609344"/>
            <a:ext cx="4340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Standard digital video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284568" y="1609344"/>
            <a:ext cx="4340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Premium CTV / OTT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66928" y="2121408"/>
            <a:ext cx="22311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screen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054096" y="2121408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Phone or desktop, in-feed, partial view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7394296" y="2121408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Living-room television, full screen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4"/>
          <p:cNvCxnSpPr/>
          <p:nvPr/>
        </p:nvCxnSpPr>
        <p:spPr>
          <a:xfrm>
            <a:off x="566928" y="2596896"/>
            <a:ext cx="11057839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4"/>
          <p:cNvSpPr/>
          <p:nvPr/>
        </p:nvSpPr>
        <p:spPr>
          <a:xfrm>
            <a:off x="566928" y="2596896"/>
            <a:ext cx="22311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format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054096" y="2596896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Skippable after ~5 seconds, scroll-away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394296" y="2596896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Non-skippable ad pods inside programming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4"/>
          <p:cNvCxnSpPr/>
          <p:nvPr/>
        </p:nvCxnSpPr>
        <p:spPr>
          <a:xfrm>
            <a:off x="566928" y="3072384"/>
            <a:ext cx="11057839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4"/>
          <p:cNvSpPr/>
          <p:nvPr/>
        </p:nvSpPr>
        <p:spPr>
          <a:xfrm>
            <a:off x="566928" y="3072384"/>
            <a:ext cx="22311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sound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054096" y="3072384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Muted by default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7394296" y="3072384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Sound-on by default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4"/>
          <p:cNvCxnSpPr/>
          <p:nvPr/>
        </p:nvCxnSpPr>
        <p:spPr>
          <a:xfrm>
            <a:off x="566928" y="3547872"/>
            <a:ext cx="11057839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4"/>
          <p:cNvSpPr/>
          <p:nvPr/>
        </p:nvSpPr>
        <p:spPr>
          <a:xfrm>
            <a:off x="566928" y="3547872"/>
            <a:ext cx="22311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environment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054096" y="3547872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Long-tail sites, UGC and gaming apps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7394296" y="3547872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Licensed, brand-safe programming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566928" y="4023360"/>
            <a:ext cx="11057839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566928" y="4023360"/>
            <a:ext cx="22311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viewer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054096" y="4023360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Lean-forward and distracted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7394296" y="4023360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Lean-back, attentive, often co-viewed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566928" y="4498848"/>
            <a:ext cx="11057839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4"/>
          <p:cNvSpPr/>
          <p:nvPr/>
        </p:nvSpPr>
        <p:spPr>
          <a:xfrm>
            <a:off x="566928" y="4498848"/>
            <a:ext cx="22311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report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054096" y="4498848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Aggregated, often opaque placements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7394296" y="4498848"/>
            <a:ext cx="412074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Named app-level placement and CPM detail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66928" y="5193792"/>
            <a:ext cx="11057839" cy="749808"/>
          </a:xfrm>
          <a:prstGeom prst="roundRect">
            <a:avLst>
              <a:gd fmla="val 5488" name="adj"/>
            </a:avLst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841248" y="5312664"/>
            <a:ext cx="1050919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HOW WE PROTECT THE DIFFERENCE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841248" y="5513832"/>
            <a:ext cx="1050919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CAMP Digital actively excludes non-video desktop display domains — gaming and long-tail sites — from delivery, so budget stays inside genuine streaming environments rather than drifting into cheap web video.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66928" y="6428232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CAMP Digital  ·  Premium Streaming Media Plan  ·  Monarch Home Services  ·  August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566928" y="365760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INVENTORY ACCESS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66928" y="603504"/>
            <a:ext cx="106920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Same Big-Screen Placements as National Brands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66928" y="109728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Direct access to premium streaming inventory — full-screen, non-skippable, sound-on advertising delivered on television screens inside premium content environments.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66928" y="1609344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PREMIUM STREAMING ENVIRONMENTS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66928" y="1938528"/>
            <a:ext cx="1627632" cy="1060704"/>
          </a:xfrm>
          <a:prstGeom prst="roundRect">
            <a:avLst>
              <a:gd fmla="val 517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566928" y="1938528"/>
            <a:ext cx="1627632" cy="1060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YouTube Select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2340864" y="1938528"/>
            <a:ext cx="1627632" cy="1060704"/>
          </a:xfrm>
          <a:prstGeom prst="roundRect">
            <a:avLst>
              <a:gd fmla="val 517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2340864" y="1938528"/>
            <a:ext cx="1627632" cy="1060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Hulu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114800" y="1938528"/>
            <a:ext cx="1627632" cy="1060704"/>
          </a:xfrm>
          <a:prstGeom prst="roundRect">
            <a:avLst>
              <a:gd fmla="val 517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114800" y="1938528"/>
            <a:ext cx="1627632" cy="1060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Disney+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888736" y="1938528"/>
            <a:ext cx="1627632" cy="1060704"/>
          </a:xfrm>
          <a:prstGeom prst="roundRect">
            <a:avLst>
              <a:gd fmla="val 517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5888736" y="1938528"/>
            <a:ext cx="1627632" cy="1060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66928" y="3145536"/>
            <a:ext cx="1627632" cy="1060704"/>
          </a:xfrm>
          <a:prstGeom prst="roundRect">
            <a:avLst>
              <a:gd fmla="val 517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566928" y="3145536"/>
            <a:ext cx="1627632" cy="1060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Paramount+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2340864" y="3145536"/>
            <a:ext cx="1627632" cy="1060704"/>
          </a:xfrm>
          <a:prstGeom prst="roundRect">
            <a:avLst>
              <a:gd fmla="val 517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2340864" y="3145536"/>
            <a:ext cx="1627632" cy="1060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Peacock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114800" y="3145536"/>
            <a:ext cx="1627632" cy="1060704"/>
          </a:xfrm>
          <a:prstGeom prst="roundRect">
            <a:avLst>
              <a:gd fmla="val 517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4114800" y="3145536"/>
            <a:ext cx="1627632" cy="1060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Roku Channel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888736" y="3145536"/>
            <a:ext cx="1627632" cy="1060704"/>
          </a:xfrm>
          <a:prstGeom prst="roundRect">
            <a:avLst>
              <a:gd fmla="val 517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5888736" y="3145536"/>
            <a:ext cx="1627632" cy="1060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Samsung TV Plus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66928" y="4352544"/>
            <a:ext cx="1627632" cy="1060704"/>
          </a:xfrm>
          <a:prstGeom prst="roundRect">
            <a:avLst>
              <a:gd fmla="val 517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566928" y="4352544"/>
            <a:ext cx="1627632" cy="1060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Pluto TV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2340864" y="4352544"/>
            <a:ext cx="1627632" cy="1060704"/>
          </a:xfrm>
          <a:prstGeom prst="roundRect">
            <a:avLst>
              <a:gd fmla="val 517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2340864" y="4352544"/>
            <a:ext cx="1627632" cy="1060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Tubi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114800" y="4352544"/>
            <a:ext cx="1627632" cy="1060704"/>
          </a:xfrm>
          <a:prstGeom prst="roundRect">
            <a:avLst>
              <a:gd fmla="val 517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4114800" y="4352544"/>
            <a:ext cx="1627632" cy="1060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ESPN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888736" y="4352544"/>
            <a:ext cx="1627632" cy="1060704"/>
          </a:xfrm>
          <a:prstGeom prst="roundRect">
            <a:avLst>
              <a:gd fmla="val 517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5888736" y="4352544"/>
            <a:ext cx="1627632" cy="1060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Prime Video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7808976" y="1609344"/>
            <a:ext cx="3815791" cy="1170432"/>
          </a:xfrm>
          <a:prstGeom prst="roundRect">
            <a:avLst>
              <a:gd fmla="val 3906" name="adj"/>
            </a:avLst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8065008" y="1792224"/>
            <a:ext cx="3303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Hyper-local by design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8065008" y="2103120"/>
            <a:ext cx="3303727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Delivery is confined to your active service footprint — down to specific cities and ZIP codes, not the whole DMA.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808976" y="2916936"/>
            <a:ext cx="3815791" cy="1170432"/>
          </a:xfrm>
          <a:prstGeom prst="roundRect">
            <a:avLst>
              <a:gd fmla="val 3906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8065008" y="3099816"/>
            <a:ext cx="3303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Unbiased placement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8065008" y="3410712"/>
            <a:ext cx="3303727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Options across both the Microsoft and Google networks, chosen on performance rather than on which inventory we happen to resell.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7808976" y="4224528"/>
            <a:ext cx="3815791" cy="1170432"/>
          </a:xfrm>
          <a:prstGeom prst="roundRect">
            <a:avLst>
              <a:gd fmla="val 3906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8065008" y="4407408"/>
            <a:ext cx="3303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Television-grade recall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8065008" y="4718304"/>
            <a:ext cx="3303727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Full-screen, sound-on exposure on the household TV builds significantly stronger recall than mobile advertising alone.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566928" y="5541264"/>
            <a:ext cx="11057839" cy="713232"/>
          </a:xfrm>
          <a:prstGeom prst="roundRect">
            <a:avLst>
              <a:gd fmla="val 5769" name="adj"/>
            </a:avLst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841248" y="5660136"/>
            <a:ext cx="1050919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BOUGHT DIRECT, NOT RESOLD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841248" y="5861304"/>
            <a:ext cx="10509199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Every environment above is purchased through the Microsoft or Google engines at publisher cost — the same inventory national advertisers buy, without a reseller standing between Monarch and the impression.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566928" y="6428232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CAMP Digital  ·  Premium Streaming Media Plan  ·  Monarch Home Services  ·  August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/>
          <p:nvPr/>
        </p:nvSpPr>
        <p:spPr>
          <a:xfrm>
            <a:off x="566928" y="365760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PRICING MODEL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566928" y="603504"/>
            <a:ext cx="106920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100% Working Media. Zero Hidden Tech Taxes.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566928" y="109728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Media is purchased directly through the ad engines at transparent CPM-based pricing, with a flat monthly management fee that keeps our incentives aligned with campaign outcomes.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566928" y="1609344"/>
            <a:ext cx="5382616" cy="2286000"/>
          </a:xfrm>
          <a:prstGeom prst="roundRect">
            <a:avLst>
              <a:gd fmla="val 2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859536" y="1865376"/>
            <a:ext cx="4797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TRADITIONAL CTV MODELS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859536" y="2212848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1170432" y="2212848"/>
            <a:ext cx="446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Hidden platform markups and unknown inventory fees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859536" y="2743200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1170432" y="2743200"/>
            <a:ext cx="446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Layered reseller margins that shrink working media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859536" y="3273552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170432" y="3273552"/>
            <a:ext cx="446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Obscured placement and performance reporting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6242152" y="1609344"/>
            <a:ext cx="5382616" cy="2286000"/>
          </a:xfrm>
          <a:prstGeom prst="roundRect">
            <a:avLst>
              <a:gd fmla="val 200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6534760" y="1865376"/>
            <a:ext cx="4797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THE CAMP DIGITAL MODEL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6534760" y="2212848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6845656" y="2212848"/>
            <a:ext cx="446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CE5F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CE5F5"/>
                </a:solidFill>
                <a:latin typeface="Calibri"/>
                <a:ea typeface="Calibri"/>
                <a:cs typeface="Calibri"/>
                <a:sym typeface="Calibri"/>
              </a:rPr>
              <a:t>100% of media budget goes to buying impressions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534760" y="2743200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6845656" y="2743200"/>
            <a:ext cx="446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CE5F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CE5F5"/>
                </a:solidFill>
                <a:latin typeface="Calibri"/>
                <a:ea typeface="Calibri"/>
                <a:cs typeface="Calibri"/>
                <a:sym typeface="Calibri"/>
              </a:rPr>
              <a:t>Flat monthly management fee, disclosed up front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6534760" y="3273552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6845656" y="3273552"/>
            <a:ext cx="446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CE5F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CE5F5"/>
                </a:solidFill>
                <a:latin typeface="Calibri"/>
                <a:ea typeface="Calibri"/>
                <a:cs typeface="Calibri"/>
                <a:sym typeface="Calibri"/>
              </a:rPr>
              <a:t>Direct access to placement, CPM and delivery reporting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66928" y="4187952"/>
            <a:ext cx="3527450" cy="1517904"/>
          </a:xfrm>
          <a:prstGeom prst="roundRect">
            <a:avLst>
              <a:gd fmla="val 301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841248" y="4425696"/>
            <a:ext cx="297881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MONARCH’S MONTHLY MEDIA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813816" y="4645152"/>
            <a:ext cx="303367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$20,000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841248" y="5230368"/>
            <a:ext cx="297881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NET USD, working media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332122" y="4187952"/>
            <a:ext cx="3527450" cy="1517904"/>
          </a:xfrm>
          <a:prstGeom prst="roundRect">
            <a:avLst>
              <a:gd fmla="val 3012" name="adj"/>
            </a:avLst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606442" y="4425696"/>
            <a:ext cx="297881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THIRD-PARTY MARKUPS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4579010" y="4645152"/>
            <a:ext cx="303367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$0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606442" y="5230368"/>
            <a:ext cx="297881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 reseller margin in the buy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8097317" y="4187952"/>
            <a:ext cx="3527450" cy="1517904"/>
          </a:xfrm>
          <a:prstGeom prst="roundRect">
            <a:avLst>
              <a:gd fmla="val 301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8371637" y="4425696"/>
            <a:ext cx="297881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ESTIMATED IMPRESSIONS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8344205" y="4645152"/>
            <a:ext cx="303367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1,900,000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8371637" y="5230368"/>
            <a:ext cx="297881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Across two targeted ad groups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566928" y="6428232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CAMP Digital  ·  Premium Streaming Media Plan  ·  Monarch Home Services  ·  August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"/>
          <p:cNvSpPr/>
          <p:nvPr/>
        </p:nvSpPr>
        <p:spPr>
          <a:xfrm>
            <a:off x="566928" y="365760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WHY CAMP DIGITAL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66928" y="603504"/>
            <a:ext cx="106920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Two Premier Partner Networks. One Accountable Team.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566928" y="109728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Our dual-engine architecture pairs brand demand creation with demand capture. We match the engine to the objective rather than to whatever inventory we are obligated to sell.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66928" y="1609344"/>
            <a:ext cx="5382616" cy="2889504"/>
          </a:xfrm>
          <a:prstGeom prst="roundRect">
            <a:avLst>
              <a:gd fmla="val 1582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859536" y="1883664"/>
            <a:ext cx="1517904" cy="27432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859536" y="1883664"/>
            <a:ext cx="15179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ELITE PARTNER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859536" y="2249424"/>
            <a:ext cx="479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Microsoft Advertising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859536" y="2651760"/>
            <a:ext cx="4797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93B4FB"/>
                </a:solidFill>
                <a:latin typeface="Calibri"/>
                <a:ea typeface="Calibri"/>
                <a:cs typeface="Calibri"/>
                <a:sym typeface="Calibri"/>
              </a:rPr>
              <a:t>Max · Hulu · Roku · Samsung TV Plus · Paramount+ and more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859536" y="3145536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1078992" y="3145536"/>
            <a:ext cx="4559656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CE5F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CE5F5"/>
                </a:solidFill>
                <a:latin typeface="Calibri"/>
                <a:ea typeface="Calibri"/>
                <a:cs typeface="Calibri"/>
                <a:sym typeface="Calibri"/>
              </a:rPr>
              <a:t>Unique audience signals including LinkedIn profile targeting by company and industry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859536" y="3584448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1078992" y="3584448"/>
            <a:ext cx="4559656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CE5F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CE5F5"/>
                </a:solidFill>
                <a:latin typeface="Calibri"/>
                <a:ea typeface="Calibri"/>
                <a:cs typeface="Calibri"/>
                <a:sym typeface="Calibri"/>
              </a:rPr>
              <a:t>Impression-Based Remarketing built from streaming exposure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859536" y="40233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1078992" y="4023360"/>
            <a:ext cx="4559656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CE5F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CE5F5"/>
                </a:solidFill>
                <a:latin typeface="Calibri"/>
                <a:ea typeface="Calibri"/>
                <a:cs typeface="Calibri"/>
                <a:sym typeface="Calibri"/>
              </a:rPr>
              <a:t>In-market audience curation from Bing search and click behavior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6242152" y="1609344"/>
            <a:ext cx="5382616" cy="2889504"/>
          </a:xfrm>
          <a:prstGeom prst="roundRect">
            <a:avLst>
              <a:gd fmla="val 158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6534760" y="1883664"/>
            <a:ext cx="1517904" cy="274320"/>
          </a:xfrm>
          <a:prstGeom prst="roundRect">
            <a:avLst>
              <a:gd fmla="val 50000" name="adj"/>
            </a:avLst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6534760" y="1883664"/>
            <a:ext cx="15179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PREMIER PARTNER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6534760" y="2249424"/>
            <a:ext cx="479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Google Premier CTV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6534760" y="2651760"/>
            <a:ext cx="4797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YouTube TV · YouTube Select · Max · Peacock · Hulu · Paramount+ and more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6534760" y="3145536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6754216" y="3145536"/>
            <a:ext cx="4559656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Living-room dominance across YouTube Select and premium partners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6534760" y="3584448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6754216" y="3584448"/>
            <a:ext cx="4559656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Direct integration with Google Demand Gen for warm re-engagement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6534760" y="40233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6754216" y="4023360"/>
            <a:ext cx="4559656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Real-time intent capture across YouTube, Gmail and Discover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566928" y="4773168"/>
            <a:ext cx="11057839" cy="804672"/>
          </a:xfrm>
          <a:prstGeom prst="roundRect">
            <a:avLst>
              <a:gd fmla="val 5114" name="adj"/>
            </a:avLst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841248" y="4892040"/>
            <a:ext cx="1050919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RECOMMENDATION FOR MONARCH HOME SERVICES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841248" y="5093208"/>
            <a:ext cx="1050919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Launch on the Microsoft Audience Network — the only engine in the pair that curates both in-market pools this plan buys, with Impression-Based Remarketing included. Google Premier stays the scale path once August establishes a baseline.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566928" y="6428232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CAMP Digital  ·  Premium Streaming Media Plan  ·  Monarch Home Services  ·  August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"/>
          <p:cNvSpPr/>
          <p:nvPr/>
        </p:nvSpPr>
        <p:spPr>
          <a:xfrm>
            <a:off x="566928" y="365760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ILLUSTRATIVE MODEL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566928" y="603504"/>
            <a:ext cx="106920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a $20,000 Local CTV Month Can Look Like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566928" y="109728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Illustrative modeling for a 30-day, $20,000 CTV campaign in a five-city footprint of roughly 390,000 households. Example figures for planning discussion — not historical client results.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566928" y="1609344"/>
            <a:ext cx="2065264" cy="1609344"/>
          </a:xfrm>
          <a:prstGeom prst="roundRect">
            <a:avLst>
              <a:gd fmla="val 2841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786384" y="1847088"/>
            <a:ext cx="16263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IMPRESSIONS DELIVERED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758952" y="2066544"/>
            <a:ext cx="168121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1,904,000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786384" y="2596896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30-day flight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2815072" y="1609344"/>
            <a:ext cx="2065264" cy="1609344"/>
          </a:xfrm>
          <a:prstGeom prst="roundRect">
            <a:avLst>
              <a:gd fmla="val 2841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3034528" y="1847088"/>
            <a:ext cx="16263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HOUSEHOLDS REACHED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3007096" y="2066544"/>
            <a:ext cx="168121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272,000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3034528" y="2596896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69.7% of the footprint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063216" y="1609344"/>
            <a:ext cx="2065264" cy="1609344"/>
          </a:xfrm>
          <a:prstGeom prst="roundRect">
            <a:avLst>
              <a:gd fmla="val 2841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5282672" y="1847088"/>
            <a:ext cx="16263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AVERAGE FREQUENCY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5255240" y="2066544"/>
            <a:ext cx="168121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7.0x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5282672" y="2596896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Per household / month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7311360" y="1609344"/>
            <a:ext cx="2065264" cy="1609344"/>
          </a:xfrm>
          <a:prstGeom prst="roundRect">
            <a:avLst>
              <a:gd fmla="val 2841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7530816" y="1847088"/>
            <a:ext cx="16263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VIDEO COMPLETION RATE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7503384" y="2066544"/>
            <a:ext cx="168121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96.7%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7530816" y="2596896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7D3E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7D3E6"/>
                </a:solidFill>
                <a:latin typeface="Calibri"/>
                <a:ea typeface="Calibri"/>
                <a:cs typeface="Calibri"/>
                <a:sym typeface="Calibri"/>
              </a:rPr>
              <a:t>1,841,000 completed views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9559503" y="1609344"/>
            <a:ext cx="2065264" cy="1609344"/>
          </a:xfrm>
          <a:prstGeom prst="roundRect">
            <a:avLst>
              <a:gd fmla="val 2841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9778959" y="1847088"/>
            <a:ext cx="16263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COST / COMPLETED VIEW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9751527" y="2066544"/>
            <a:ext cx="168121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$0.011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9778959" y="2596896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Below a $0.03 CPCV bid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566928" y="3493008"/>
            <a:ext cx="6720840" cy="22860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841248" y="3675888"/>
            <a:ext cx="6172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ILLUSTRATIVE PREMIUM PLATFORM MIX  ·  SHARE OF IMPRESSIONS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5" name="Google Shape;285;p8"/>
          <p:cNvGraphicFramePr/>
          <p:nvPr/>
        </p:nvGraphicFramePr>
        <p:xfrm>
          <a:off x="676656" y="3895344"/>
          <a:ext cx="6446520" cy="1682496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86" name="Google Shape;286;p8"/>
          <p:cNvSpPr/>
          <p:nvPr/>
        </p:nvSpPr>
        <p:spPr>
          <a:xfrm>
            <a:off x="7562088" y="3493008"/>
            <a:ext cx="4062679" cy="694944"/>
          </a:xfrm>
          <a:prstGeom prst="roundRect">
            <a:avLst>
              <a:gd fmla="val 6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7799832" y="3602736"/>
            <a:ext cx="358719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BLENDED CPM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7781544" y="3785616"/>
            <a:ext cx="362376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$10.50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7562088" y="4288536"/>
            <a:ext cx="4062679" cy="694944"/>
          </a:xfrm>
          <a:prstGeom prst="roundRect">
            <a:avLst>
              <a:gd fmla="val 6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7799832" y="4398264"/>
            <a:ext cx="358719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CTV SHARE OF IMPRESSIONS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7781544" y="4581144"/>
            <a:ext cx="362376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94.6%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7562088" y="5084064"/>
            <a:ext cx="4062679" cy="694944"/>
          </a:xfrm>
          <a:prstGeom prst="roundRect">
            <a:avLst>
              <a:gd fmla="val 657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7799832" y="5193792"/>
            <a:ext cx="358719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DELIVERY INSIDE FOOTPRINT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7781544" y="5376672"/>
            <a:ext cx="362376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97.9%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566928" y="5925312"/>
            <a:ext cx="1105783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Illustrative example only. Figures are internally consistent planning estimates built to show the scale, reach and completion quality a local CTV campaign can produce. They are not actual campaign results for Monarch Home Services or any other advertiser.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566928" y="6428232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CAMP Digital  ·  Premium Streaming Media Plan  ·  Monarch Home Services  ·  August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packed/ppt/media/image13.png" id="303" name="Google Shape;3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440" y="0"/>
            <a:ext cx="524225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9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0F172A">
              <a:alpha val="70196"/>
            </a:srgbClr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566928" y="1874519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PART TWO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530352" y="2176272"/>
            <a:ext cx="6309360" cy="1225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Built for Monarch Home Services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566928" y="3566160"/>
            <a:ext cx="6035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7D3E6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C7D3E6"/>
                </a:solidFill>
                <a:latin typeface="Calibri"/>
                <a:ea typeface="Calibri"/>
                <a:cs typeface="Calibri"/>
                <a:sym typeface="Calibri"/>
              </a:rPr>
              <a:t>Everything that follows is drawn from the Monarch Home Services media plan — the audiences we buy, the five California cities we buy them in, the impressions that investment delivers, and what is included at no additional cost.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packed/ppt/media/image12.png" id="308" name="Google Shape;30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4791456"/>
            <a:ext cx="1737360" cy="697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"/>
          <p:cNvSpPr/>
          <p:nvPr/>
        </p:nvSpPr>
        <p:spPr>
          <a:xfrm>
            <a:off x="566928" y="365760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PROACTIVE STRATEGY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566928" y="603504"/>
            <a:ext cx="106920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Reaching Homeowners Before the Breakdown Happens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566928" y="109728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Traditional TV buys target generic demographics. Our strategy positions Monarch in front of the household before the service need occurs, building familiarity and trust early.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566928" y="1609344"/>
            <a:ext cx="2613584" cy="2889504"/>
          </a:xfrm>
          <a:prstGeom prst="roundRect">
            <a:avLst>
              <a:gd fmla="val 174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841248" y="1865376"/>
            <a:ext cx="20649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LAYER 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841248" y="2139696"/>
            <a:ext cx="20649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Geographic precision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841248" y="2779776"/>
            <a:ext cx="2064944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Delivery restricted to Monarch’s five named California service cities — no spend outside the territory the trucks can reach.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3381680" y="1609344"/>
            <a:ext cx="2613584" cy="2889504"/>
          </a:xfrm>
          <a:prstGeom prst="roundRect">
            <a:avLst>
              <a:gd fmla="val 174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3656000" y="1865376"/>
            <a:ext cx="20649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LAYER 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3656000" y="2139696"/>
            <a:ext cx="20649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Two in-market pools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3656000" y="2779776"/>
            <a:ext cx="2064944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Microsoft in-market Home &amp; Garden plus Building Construction &amp; Maintenance — residential demand and the trade audience, in one buy.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6196432" y="1609344"/>
            <a:ext cx="2613584" cy="2889504"/>
          </a:xfrm>
          <a:prstGeom prst="roundRect">
            <a:avLst>
              <a:gd fmla="val 174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6470752" y="1865376"/>
            <a:ext cx="20649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LAYER 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6470752" y="2139696"/>
            <a:ext cx="20649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Custom intent from PPC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6470752" y="2779776"/>
            <a:ext cx="2064944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Custom intent audiences built from Monarch’s own performing keyword data, so CTV reaches households already showing category demand.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9011183" y="1609344"/>
            <a:ext cx="2613584" cy="2889504"/>
          </a:xfrm>
          <a:prstGeom prst="roundRect">
            <a:avLst>
              <a:gd fmla="val 1749" name="adj"/>
            </a:avLst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9285503" y="1865376"/>
            <a:ext cx="20649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LAYER 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9285503" y="2139696"/>
            <a:ext cx="20649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First-party CRM &amp; retargeting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9285503" y="2779776"/>
            <a:ext cx="2064944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Site visitors and CRM segments retargeted on the big screen, keeping Monarch present with households that already know the brand.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566928" y="4773168"/>
            <a:ext cx="11057839" cy="804672"/>
          </a:xfrm>
          <a:prstGeom prst="roundRect">
            <a:avLst>
              <a:gd fmla="val 5114" name="adj"/>
            </a:avLst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841248" y="4892040"/>
            <a:ext cx="1050919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THE PRE-NEED ADVANTAGE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841248" y="5093208"/>
            <a:ext cx="1050919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 homeowner who already recognizes Monarch does not shop the category when the AC quits in a 108-degree Bakersfield afternoon — they call the name they know. That is the difference between competing on price at the moment of failure and owning the decision before it.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566928" y="6428232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CAMP Digital  ·  Premium Streaming Media Plan  ·  Monarch Home Services  ·  August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"/>
          <p:cNvSpPr/>
          <p:nvPr/>
        </p:nvSpPr>
        <p:spPr>
          <a:xfrm>
            <a:off x="566928" y="365760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GEOGRAPHIC TARGETING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566928" y="603504"/>
            <a:ext cx="106920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Five Cities. Three DMAs. Zero Wasted Impressions.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566928" y="109728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Delivery is confined to the California cities Monarch actively services — bought by name, one city at a time, rather than as a Fresno–Visalia or Bakersfield DMA broadcast buy.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566928" y="1609344"/>
            <a:ext cx="6766560" cy="3675888"/>
          </a:xfrm>
          <a:prstGeom prst="roundRect">
            <a:avLst>
              <a:gd fmla="val 124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804672" y="1847088"/>
            <a:ext cx="6291072" cy="566928"/>
          </a:xfrm>
          <a:prstGeom prst="roundRect">
            <a:avLst>
              <a:gd fmla="val 945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1033271" y="1847088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Bakersfield, 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804672" y="2505456"/>
            <a:ext cx="6291072" cy="566928"/>
          </a:xfrm>
          <a:prstGeom prst="roundRect">
            <a:avLst>
              <a:gd fmla="val 945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2"/>
          <p:cNvSpPr/>
          <p:nvPr/>
        </p:nvSpPr>
        <p:spPr>
          <a:xfrm>
            <a:off x="1033271" y="2505456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Visalia, 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804672" y="3163824"/>
            <a:ext cx="6291072" cy="566928"/>
          </a:xfrm>
          <a:prstGeom prst="roundRect">
            <a:avLst>
              <a:gd fmla="val 945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1033271" y="3163824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Fresno, 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804672" y="3822191"/>
            <a:ext cx="6291072" cy="566928"/>
          </a:xfrm>
          <a:prstGeom prst="roundRect">
            <a:avLst>
              <a:gd fmla="val 945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1033271" y="3822191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Paso Robles, 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804672" y="4480560"/>
            <a:ext cx="6291072" cy="566928"/>
          </a:xfrm>
          <a:prstGeom prst="roundRect">
            <a:avLst>
              <a:gd fmla="val 945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1033271" y="4480560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San Luis Obispo, 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7607808" y="1609344"/>
            <a:ext cx="4016959" cy="1143000"/>
          </a:xfrm>
          <a:prstGeom prst="roundRect">
            <a:avLst>
              <a:gd fmla="val 400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7863840" y="1792224"/>
            <a:ext cx="350489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COMMUNITIES TARGETED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7836408" y="2011680"/>
            <a:ext cx="3559759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7863840" y="2450592"/>
            <a:ext cx="35048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7D3E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7D3E6"/>
                </a:solidFill>
                <a:latin typeface="Calibri"/>
                <a:ea typeface="Calibri"/>
                <a:cs typeface="Calibri"/>
                <a:sym typeface="Calibri"/>
              </a:rPr>
              <a:t>Named city-level geo targets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7607808" y="2875788"/>
            <a:ext cx="4016959" cy="1143000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7863840" y="3058668"/>
            <a:ext cx="350489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DEVICE SCOPE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7836408" y="3278124"/>
            <a:ext cx="3559759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Cross Device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7863840" y="3717036"/>
            <a:ext cx="35048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CTV-led, cross-screen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7607808" y="4142232"/>
            <a:ext cx="4016959" cy="1143000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7863840" y="4325112"/>
            <a:ext cx="350489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FLIGHT LENGTH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7836408" y="4544568"/>
            <a:ext cx="3559759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30 Days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7863840" y="4983480"/>
            <a:ext cx="35048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August 2026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566928" y="5431536"/>
            <a:ext cx="11057839" cy="731520"/>
          </a:xfrm>
          <a:prstGeom prst="roundRect">
            <a:avLst>
              <a:gd fmla="val 5625" name="adj"/>
            </a:avLst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841248" y="5550408"/>
            <a:ext cx="1050919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841248" y="5751576"/>
            <a:ext cx="10509199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 DMA broadcast buy would scatter impressions across three separate California markets, most of them in front of households Monarch cannot profitably serve. City-level CTV targeting spends the same dollars only where the trucks already run.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566928" y="6428232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CAMP Digital  ·  Premium Streaming Media Plan  ·  Monarch Home Services  ·  August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348;p12"/>
          <p:cNvSpPr/>
          <p:nvPr/>
        </p:nvSpPr>
        <p:spPr>
          <a:xfrm>
            <a:off x="4389120" y="1847088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0"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Bakersfield DMA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350;p12"/>
          <p:cNvSpPr/>
          <p:nvPr/>
        </p:nvSpPr>
        <p:spPr>
          <a:xfrm>
            <a:off x="4389120" y="2505456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0"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Fresno–Visalia DMA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352;p12"/>
          <p:cNvSpPr/>
          <p:nvPr/>
        </p:nvSpPr>
        <p:spPr>
          <a:xfrm>
            <a:off x="4389120" y="3163824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0"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Fresno–Visalia DMA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354;p12"/>
          <p:cNvSpPr/>
          <p:nvPr/>
        </p:nvSpPr>
        <p:spPr>
          <a:xfrm>
            <a:off x="4389120" y="3822191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0"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Santa Barbara–SLO DMA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356;p12"/>
          <p:cNvSpPr/>
          <p:nvPr/>
        </p:nvSpPr>
        <p:spPr>
          <a:xfrm>
            <a:off x="4389120" y="4480560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0"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Santa Barbara–SLO DMA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"/>
          <p:cNvSpPr/>
          <p:nvPr/>
        </p:nvSpPr>
        <p:spPr>
          <a:xfrm>
            <a:off x="566928" y="365760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THE PROPOSAL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566928" y="603504"/>
            <a:ext cx="106920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Monarch Home Services Premium Streaming Plan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566928" y="109728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One campaign, two ad groups, each with individual targeting — built to create demand at the top of the funnel and recapture it at the bottom.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566928" y="1609344"/>
            <a:ext cx="11057839" cy="786384"/>
          </a:xfrm>
          <a:prstGeom prst="roundRect">
            <a:avLst>
              <a:gd fmla="val 5814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822960" y="1737360"/>
            <a:ext cx="151378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822960" y="1938528"/>
            <a:ext cx="151378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Microsoft Audience Network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2665933" y="1737360"/>
            <a:ext cx="151378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PLACEMENT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2665933" y="1938528"/>
            <a:ext cx="151378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CTV / OTT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4508906" y="1737360"/>
            <a:ext cx="151378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AD UNITS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4508906" y="1938528"/>
            <a:ext cx="151378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:05 – :90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6351880" y="1737360"/>
            <a:ext cx="151378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FLIGHT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6351880" y="1938528"/>
            <a:ext cx="151378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 days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8194853" y="1737360"/>
            <a:ext cx="151378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DEVICE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8194853" y="1938528"/>
            <a:ext cx="151378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Cross Device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10037826" y="1737360"/>
            <a:ext cx="151378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PRICING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10037826" y="1938528"/>
            <a:ext cx="151378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CPCV · $0.03 est. bid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9" name="Google Shape;409;p13"/>
          <p:cNvGraphicFramePr/>
          <p:nvPr/>
        </p:nvGraphicFramePr>
        <p:xfrm>
          <a:off x="566928" y="2633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{C292932B-25C6-472D-8F38-46E435DC3DE4}</a:tableStyleId>
              </a:tblPr>
              <a:tblGrid>
                <a:gridCol w="3200400"/>
                <a:gridCol w="3474725"/>
                <a:gridCol w="1600200"/>
                <a:gridCol w="1691650"/>
                <a:gridCol w="10908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 group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Targeting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Est. impressions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Monthly investment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Implied CPM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In-Market — Relevant Audiences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Home &amp; Garden + Building Construction &amp; Maintenance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1,800,000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$18,000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$10.00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Remarketing — Site Visitors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Remarketing list — prior site visitors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$20.00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campaign / 2 ad groups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D4ED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1,900,000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D4ED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$20,000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D4ED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$10.53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875" marB="54875" marR="128025" marL="128025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E"/>
                    </a:solidFill>
                  </a:tcPr>
                </a:tc>
              </a:tr>
            </a:tbl>
          </a:graphicData>
        </a:graphic>
      </p:graphicFrame>
      <p:sp>
        <p:nvSpPr>
          <p:cNvPr id="410" name="Google Shape;410;p13"/>
          <p:cNvSpPr/>
          <p:nvPr/>
        </p:nvSpPr>
        <p:spPr>
          <a:xfrm>
            <a:off x="566928" y="4773168"/>
            <a:ext cx="11057839" cy="731520"/>
          </a:xfrm>
          <a:prstGeom prst="roundRect">
            <a:avLst>
              <a:gd fmla="val 5625" name="adj"/>
            </a:avLst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841248" y="4892040"/>
            <a:ext cx="1050919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READ THIS ALONGSIDE THE GEOGRAPHY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841248" y="5093208"/>
            <a:ext cx="10509199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1,800,000 in-market impressions build the brand across five California cities; 100,000 remarketing impressions keep Monarch in front of households that have already visited the site. Every dollar of the $20,000 is working media.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566928" y="5614416"/>
            <a:ext cx="110578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 impressions are estimates and are not guaranteed; pricing is dynamic based on market demand. All dollars are NET USD. Implied CPM is derived from monthly investment ÷ estimated impressions.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566928" y="6428232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CAMP Digital  ·  Premium Streaming Media Plan  ·  Monarch Home Services  ·  August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4"/>
          <p:cNvSpPr/>
          <p:nvPr/>
        </p:nvSpPr>
        <p:spPr>
          <a:xfrm>
            <a:off x="566928" y="365760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REACH &amp; FREQUENCY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566928" y="603504"/>
            <a:ext cx="106920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1,900,000 Impressions Actually Delivers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566928" y="109728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Impressions are the unit we buy; reach and frequency are what the household experiences. These scenarios show how the same 1,900,000 impressions resolve at different exposure levels.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566928" y="1609344"/>
            <a:ext cx="6720840" cy="3255264"/>
          </a:xfrm>
          <a:prstGeom prst="roundRect">
            <a:avLst>
              <a:gd fmla="val 140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4"/>
          <p:cNvSpPr/>
          <p:nvPr/>
        </p:nvSpPr>
        <p:spPr>
          <a:xfrm>
            <a:off x="841248" y="1792224"/>
            <a:ext cx="6172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UNIQUE DEVICES REACHED AT EACH AVERAGE FREQUENCY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6" name="Google Shape;426;p14"/>
          <p:cNvGraphicFramePr/>
          <p:nvPr/>
        </p:nvGraphicFramePr>
        <p:xfrm>
          <a:off x="713232" y="2029968"/>
          <a:ext cx="6391656" cy="2615184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27" name="Google Shape;427;p14"/>
          <p:cNvSpPr/>
          <p:nvPr/>
        </p:nvSpPr>
        <p:spPr>
          <a:xfrm>
            <a:off x="7562088" y="1609344"/>
            <a:ext cx="4062679" cy="1389888"/>
          </a:xfrm>
          <a:prstGeom prst="roundRect">
            <a:avLst>
              <a:gd fmla="val 3289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7836408" y="1865376"/>
            <a:ext cx="35140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IN-MARKET SHARE OF DELIVERY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7808976" y="2084832"/>
            <a:ext cx="3568903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94.7%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7836408" y="2578608"/>
            <a:ext cx="3514039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7D3E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7D3E6"/>
                </a:solidFill>
                <a:latin typeface="Calibri"/>
                <a:ea typeface="Calibri"/>
                <a:cs typeface="Calibri"/>
                <a:sym typeface="Calibri"/>
              </a:rPr>
              <a:t>1,800,000 of 1,900,000 impressions build new reach; the rest keep prior site visitors warm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7562088" y="3145536"/>
            <a:ext cx="4062679" cy="1719072"/>
          </a:xfrm>
          <a:prstGeom prst="roundRect">
            <a:avLst>
              <a:gd fmla="val 2660" name="adj"/>
            </a:avLst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7836408" y="3328416"/>
            <a:ext cx="35140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HOW WE MANAGE IT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7836408" y="3584448"/>
            <a:ext cx="3514039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Frequency is managed in-flight. Too low and the brand never registers; too high and impressions pile onto the same households instead of finding new ones. We cap and rebalance weekly to hold delivery in the productive middle.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566928" y="5120640"/>
            <a:ext cx="11057839" cy="786384"/>
          </a:xfrm>
          <a:prstGeom prst="roundRect">
            <a:avLst>
              <a:gd fmla="val 5233" name="adj"/>
            </a:avLst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4"/>
          <p:cNvSpPr/>
          <p:nvPr/>
        </p:nvSpPr>
        <p:spPr>
          <a:xfrm>
            <a:off x="841248" y="5239512"/>
            <a:ext cx="1050919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PLANNING NOTE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841248" y="5440680"/>
            <a:ext cx="1050919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Scenarios are arithmetic on the plan’s own estimate — 1,900,000 impressions divided by average frequency — not a guaranteed reach forecast. Actual reach depends on inventory availability across the five-city footprint and is reported against these benchmarks every month.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566928" y="6428232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CAMP Digital  ·  Premium Streaming Media Plan  ·  Monarch Home Services  ·  August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5"/>
          <p:cNvSpPr/>
          <p:nvPr/>
        </p:nvSpPr>
        <p:spPr>
          <a:xfrm>
            <a:off x="566928" y="365760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INCLUDED AT NO ADDITIONAL COST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566928" y="603504"/>
            <a:ext cx="106920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Two Assets Monarch Keeps — Both Unlocked at Launch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566928" y="109728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plan includes added-value components that most CTV vendors either charge for or simply do not offer. At 1.9M impressions, Monarch qualifies for both from day one.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566928" y="1609344"/>
            <a:ext cx="5382616" cy="2560320"/>
          </a:xfrm>
          <a:prstGeom prst="roundRect">
            <a:avLst>
              <a:gd fmla="val 1786" name="adj"/>
            </a:avLst>
          </a:prstGeom>
          <a:solidFill>
            <a:srgbClr val="ECFDF5"/>
          </a:solidFill>
          <a:ln cap="flat" cmpd="sng" w="12700">
            <a:solidFill>
              <a:srgbClr val="A7E3C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859536" y="1865376"/>
            <a:ext cx="4797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ADDED VALUE 01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859536" y="2121408"/>
            <a:ext cx="4797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Impression-Based Remarketing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859536" y="2578608"/>
            <a:ext cx="4797400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Every household exposed to Monarch’s streaming ad is assembled into a remarketing list — usable across Search, Performance Max, Display, Native and Online Video.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841248" y="3383280"/>
            <a:ext cx="4833976" cy="585216"/>
          </a:xfrm>
          <a:prstGeom prst="roundRect">
            <a:avLst>
              <a:gd fmla="val 7813" name="adj"/>
            </a:avLst>
          </a:prstGeom>
          <a:solidFill>
            <a:srgbClr val="FFFFFF"/>
          </a:solidFill>
          <a:ln cap="flat" cmpd="sng" w="12700">
            <a:solidFill>
              <a:srgbClr val="A7E3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5"/>
          <p:cNvSpPr/>
          <p:nvPr/>
        </p:nvSpPr>
        <p:spPr>
          <a:xfrm>
            <a:off x="987552" y="3438144"/>
            <a:ext cx="45413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audience built by the TV campaign becomes a targeting asset for every other channel Monarch runs.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6242152" y="1609344"/>
            <a:ext cx="5382616" cy="2560320"/>
          </a:xfrm>
          <a:prstGeom prst="roundRect">
            <a:avLst>
              <a:gd fmla="val 1786" name="adj"/>
            </a:avLst>
          </a:prstGeom>
          <a:solidFill>
            <a:srgbClr val="ECFDF5"/>
          </a:solidFill>
          <a:ln cap="flat" cmpd="sng" w="12700">
            <a:solidFill>
              <a:srgbClr val="A7E3C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6534760" y="1865376"/>
            <a:ext cx="4797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ADDED VALUE 02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6534760" y="2121408"/>
            <a:ext cx="4797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 Effectiveness Study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6534760" y="2578608"/>
            <a:ext cx="4797400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Formal measurement of search lift, impact on the consumer decision journey and multi-touch attribution, correlated to Microsoft Audience Network ad exposure.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6516472" y="3383280"/>
            <a:ext cx="4833976" cy="585216"/>
          </a:xfrm>
          <a:prstGeom prst="roundRect">
            <a:avLst>
              <a:gd fmla="val 7813" name="adj"/>
            </a:avLst>
          </a:prstGeom>
          <a:solidFill>
            <a:srgbClr val="FFFFFF"/>
          </a:solidFill>
          <a:ln cap="flat" cmpd="sng" w="12700">
            <a:solidFill>
              <a:srgbClr val="A7E3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5"/>
          <p:cNvSpPr/>
          <p:nvPr/>
        </p:nvSpPr>
        <p:spPr>
          <a:xfrm>
            <a:off x="6662776" y="3438144"/>
            <a:ext cx="45413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Requires approximately 1.5M impressions in a 30-day period — this plan delivers an estimated 1.9M.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566928" y="4480560"/>
            <a:ext cx="11057839" cy="1700784"/>
          </a:xfrm>
          <a:prstGeom prst="roundRect">
            <a:avLst>
              <a:gd fmla="val 2688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5"/>
          <p:cNvSpPr/>
          <p:nvPr/>
        </p:nvSpPr>
        <p:spPr>
          <a:xfrm>
            <a:off x="877824" y="466344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THRESHOLD CLEARED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877824" y="4901184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brand lift study is unlocked at launch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877824" y="5303520"/>
            <a:ext cx="67665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7D3E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C7D3E6"/>
                </a:solidFill>
                <a:latin typeface="Calibri"/>
                <a:ea typeface="Calibri"/>
                <a:cs typeface="Calibri"/>
                <a:sym typeface="Calibri"/>
              </a:rPr>
              <a:t>The August plan delivers an estimated 1,900,000 impressions in a 30-day window — above the roughly 1.5M the Ad Effectiveness Study requires. Monarch qualifies for formal search-lift and multi-touch attribution measurement from the very first flight, at no additional cost.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8058607" y="4882896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AUGUST PLAN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8058607" y="5102352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1.9M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9841687" y="4882896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STUDY THRESHOLD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9841687" y="5102352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1.5M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566928" y="6428232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CAMP Digital  ·  Premium Streaming Media Plan  ·  Monarch Home Services  ·  August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6"/>
          <p:cNvSpPr/>
          <p:nvPr/>
        </p:nvSpPr>
        <p:spPr>
          <a:xfrm>
            <a:off x="566928" y="365760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BUSINESS OUTCOME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566928" y="603504"/>
            <a:ext cx="106920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Building Brand Demand Lowers Your Cost Per Lead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566928" y="109728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CTV creates top-of-mind trust; Search PPC captures the appointment when the repair is needed. Managed together, the two get cheaper — not more expensive.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566928" y="1609344"/>
            <a:ext cx="2613584" cy="2377440"/>
          </a:xfrm>
          <a:prstGeom prst="roundRect">
            <a:avLst>
              <a:gd fmla="val 1923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6"/>
          <p:cNvSpPr/>
          <p:nvPr/>
        </p:nvSpPr>
        <p:spPr>
          <a:xfrm>
            <a:off x="841248" y="1883664"/>
            <a:ext cx="493776" cy="493776"/>
          </a:xfrm>
          <a:prstGeom prst="ellipse">
            <a:avLst/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6"/>
          <p:cNvSpPr/>
          <p:nvPr/>
        </p:nvSpPr>
        <p:spPr>
          <a:xfrm>
            <a:off x="841248" y="1883664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841248" y="2523744"/>
            <a:ext cx="2064944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Household sees the ad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6"/>
          <p:cNvSpPr/>
          <p:nvPr/>
        </p:nvSpPr>
        <p:spPr>
          <a:xfrm>
            <a:off x="841248" y="3090672"/>
            <a:ext cx="2064944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Full-screen, sound-on exposure on the living-room television inside premium programming.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3381680" y="1609344"/>
            <a:ext cx="2613584" cy="2377440"/>
          </a:xfrm>
          <a:prstGeom prst="roundRect">
            <a:avLst>
              <a:gd fmla="val 1923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6"/>
          <p:cNvSpPr/>
          <p:nvPr/>
        </p:nvSpPr>
        <p:spPr>
          <a:xfrm>
            <a:off x="3656000" y="1883664"/>
            <a:ext cx="493776" cy="493776"/>
          </a:xfrm>
          <a:prstGeom prst="ellipse">
            <a:avLst/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6"/>
          <p:cNvSpPr/>
          <p:nvPr/>
        </p:nvSpPr>
        <p:spPr>
          <a:xfrm>
            <a:off x="3656000" y="1883664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6"/>
          <p:cNvSpPr/>
          <p:nvPr/>
        </p:nvSpPr>
        <p:spPr>
          <a:xfrm>
            <a:off x="3656000" y="2523744"/>
            <a:ext cx="2064944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Audience is captured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3656000" y="3090672"/>
            <a:ext cx="2064944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exposed household enters an Impression-Based Remarketing list at no additional cost.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6196432" y="1609344"/>
            <a:ext cx="2613584" cy="2377440"/>
          </a:xfrm>
          <a:prstGeom prst="roundRect">
            <a:avLst>
              <a:gd fmla="val 1923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6"/>
          <p:cNvSpPr/>
          <p:nvPr/>
        </p:nvSpPr>
        <p:spPr>
          <a:xfrm>
            <a:off x="6470752" y="1883664"/>
            <a:ext cx="493776" cy="493776"/>
          </a:xfrm>
          <a:prstGeom prst="ellipse">
            <a:avLst/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6"/>
          <p:cNvSpPr/>
          <p:nvPr/>
        </p:nvSpPr>
        <p:spPr>
          <a:xfrm>
            <a:off x="6470752" y="1883664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6470752" y="2523744"/>
            <a:ext cx="2064944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Message is reinforced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6470752" y="3090672"/>
            <a:ext cx="2064944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Demand Gen re-engages the same household across YouTube Shorts, Discover and Gmail.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9011183" y="1609344"/>
            <a:ext cx="2613584" cy="2377440"/>
          </a:xfrm>
          <a:prstGeom prst="roundRect">
            <a:avLst>
              <a:gd fmla="val 1923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6"/>
          <p:cNvSpPr/>
          <p:nvPr/>
        </p:nvSpPr>
        <p:spPr>
          <a:xfrm>
            <a:off x="9285503" y="1883664"/>
            <a:ext cx="493776" cy="493776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6"/>
          <p:cNvSpPr/>
          <p:nvPr/>
        </p:nvSpPr>
        <p:spPr>
          <a:xfrm>
            <a:off x="9285503" y="1883664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9285503" y="2523744"/>
            <a:ext cx="2064944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Search converts cheaper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9285503" y="3090672"/>
            <a:ext cx="2064944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7D3E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C7D3E6"/>
                </a:solidFill>
                <a:latin typeface="Calibri"/>
                <a:ea typeface="Calibri"/>
                <a:cs typeface="Calibri"/>
                <a:sym typeface="Calibri"/>
              </a:rPr>
              <a:t>When the failure happens, the brand is already familiar — lifting click-through and lowering acquisition cost.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566928" y="4279392"/>
            <a:ext cx="11057839" cy="786384"/>
          </a:xfrm>
          <a:prstGeom prst="roundRect">
            <a:avLst>
              <a:gd fmla="val 5233" name="adj"/>
            </a:avLst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6"/>
          <p:cNvSpPr/>
          <p:nvPr/>
        </p:nvSpPr>
        <p:spPr>
          <a:xfrm>
            <a:off x="841248" y="4398264"/>
            <a:ext cx="1050919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WHY THIS COMPOUNDS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6"/>
          <p:cNvSpPr/>
          <p:nvPr/>
        </p:nvSpPr>
        <p:spPr>
          <a:xfrm>
            <a:off x="841248" y="4599432"/>
            <a:ext cx="1050919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Awareness and demand capture managed by one team on one audience graph removes duplicated spend between channels, improves search efficiency, and lowers long-term customer acquisition cost. Run separately, the two compete for the same household twice.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566928" y="6428232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CAMP Digital  ·  Premium Streaming Media Plan  ·  Monarch Home Services  ·  August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6"/>
          <p:cNvSpPr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7"/>
          <p:cNvSpPr/>
          <p:nvPr/>
        </p:nvSpPr>
        <p:spPr>
          <a:xfrm>
            <a:off x="566928" y="365760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ACCOUNTABILITY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566928" y="603504"/>
            <a:ext cx="106920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Reporting Built for Service Business Decisions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7"/>
          <p:cNvSpPr/>
          <p:nvPr/>
        </p:nvSpPr>
        <p:spPr>
          <a:xfrm>
            <a:off x="566928" y="109728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One reporting environment covering delivery, engagement and the downstream business signals that tell you whether the television spend is working.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7"/>
          <p:cNvSpPr/>
          <p:nvPr/>
        </p:nvSpPr>
        <p:spPr>
          <a:xfrm>
            <a:off x="566928" y="1609344"/>
            <a:ext cx="3539642" cy="2286000"/>
          </a:xfrm>
          <a:prstGeom prst="roundRect">
            <a:avLst>
              <a:gd fmla="val 2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7"/>
          <p:cNvSpPr/>
          <p:nvPr/>
        </p:nvSpPr>
        <p:spPr>
          <a:xfrm>
            <a:off x="859536" y="1865376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7"/>
          <p:cNvSpPr/>
          <p:nvPr/>
        </p:nvSpPr>
        <p:spPr>
          <a:xfrm>
            <a:off x="859536" y="2176272"/>
            <a:ext cx="295442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Full placement visibility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7"/>
          <p:cNvSpPr/>
          <p:nvPr/>
        </p:nvSpPr>
        <p:spPr>
          <a:xfrm>
            <a:off x="859536" y="2596896"/>
            <a:ext cx="295442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Exact streaming networks, app-level placements and CPMs — so you can see precisely which environments the budget bought.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7"/>
          <p:cNvSpPr/>
          <p:nvPr/>
        </p:nvSpPr>
        <p:spPr>
          <a:xfrm>
            <a:off x="4326026" y="1609344"/>
            <a:ext cx="3539642" cy="2286000"/>
          </a:xfrm>
          <a:prstGeom prst="roundRect">
            <a:avLst>
              <a:gd fmla="val 2000" name="adj"/>
            </a:avLst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7"/>
          <p:cNvSpPr/>
          <p:nvPr/>
        </p:nvSpPr>
        <p:spPr>
          <a:xfrm>
            <a:off x="4618634" y="1865376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7"/>
          <p:cNvSpPr/>
          <p:nvPr/>
        </p:nvSpPr>
        <p:spPr>
          <a:xfrm>
            <a:off x="4618634" y="2176272"/>
            <a:ext cx="295442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Branded search lift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7"/>
          <p:cNvSpPr/>
          <p:nvPr/>
        </p:nvSpPr>
        <p:spPr>
          <a:xfrm>
            <a:off x="4618634" y="2596896"/>
            <a:ext cx="295442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Growth in branded query volume tracked against the flight, the clearest early signal that television exposure is registering.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7"/>
          <p:cNvSpPr/>
          <p:nvPr/>
        </p:nvSpPr>
        <p:spPr>
          <a:xfrm>
            <a:off x="8085125" y="1609344"/>
            <a:ext cx="3539642" cy="2286000"/>
          </a:xfrm>
          <a:prstGeom prst="roundRect">
            <a:avLst>
              <a:gd fmla="val 2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7"/>
          <p:cNvSpPr/>
          <p:nvPr/>
        </p:nvSpPr>
        <p:spPr>
          <a:xfrm>
            <a:off x="8377733" y="1865376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7"/>
          <p:cNvSpPr/>
          <p:nvPr/>
        </p:nvSpPr>
        <p:spPr>
          <a:xfrm>
            <a:off x="8377733" y="2176272"/>
            <a:ext cx="295442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Business outcomes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7"/>
          <p:cNvSpPr/>
          <p:nvPr/>
        </p:nvSpPr>
        <p:spPr>
          <a:xfrm>
            <a:off x="8377733" y="2596896"/>
            <a:ext cx="295442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Website engagement and lead trends monitored alongside delivery, tying media activity to booked calls rather than to impressions alone.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7"/>
          <p:cNvSpPr/>
          <p:nvPr/>
        </p:nvSpPr>
        <p:spPr>
          <a:xfrm>
            <a:off x="566928" y="4187952"/>
            <a:ext cx="11057839" cy="1481328"/>
          </a:xfrm>
          <a:prstGeom prst="roundRect">
            <a:avLst>
              <a:gd fmla="val 3086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7"/>
          <p:cNvSpPr/>
          <p:nvPr/>
        </p:nvSpPr>
        <p:spPr>
          <a:xfrm>
            <a:off x="877824" y="44074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BUDGET OPTIMIZATION IN FLIGHT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7"/>
          <p:cNvSpPr/>
          <p:nvPr/>
        </p:nvSpPr>
        <p:spPr>
          <a:xfrm>
            <a:off x="877824" y="4645152"/>
            <a:ext cx="5852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Protecting premium streaming delivery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7"/>
          <p:cNvSpPr/>
          <p:nvPr/>
        </p:nvSpPr>
        <p:spPr>
          <a:xfrm>
            <a:off x="877824" y="5010912"/>
            <a:ext cx="10436047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7D3E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7D3E6"/>
                </a:solidFill>
                <a:latin typeface="Calibri"/>
                <a:ea typeface="Calibri"/>
                <a:cs typeface="Calibri"/>
                <a:sym typeface="Calibri"/>
              </a:rPr>
              <a:t>Our optimization process actively excludes domains that capture non-video desktop display impressions — gaming sites and long-tail web inventory — so budget stays directed at high-value streaming environments. Filtering that traffic out secures stronger engagement and produces clean, transparent environment tracking.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7"/>
          <p:cNvSpPr/>
          <p:nvPr/>
        </p:nvSpPr>
        <p:spPr>
          <a:xfrm>
            <a:off x="566928" y="6428232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CAMP Digital  ·  Premium Streaming Media Plan  ·  Monarch Home Services  ·  August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7"/>
          <p:cNvSpPr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8"/>
          <p:cNvSpPr/>
          <p:nvPr/>
        </p:nvSpPr>
        <p:spPr>
          <a:xfrm>
            <a:off x="566928" y="365760"/>
            <a:ext cx="8778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CAMPAIGN ROADMAP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566928" y="603504"/>
            <a:ext cx="106920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From Market Analysis to Living Room Screens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8"/>
          <p:cNvSpPr/>
          <p:nvPr/>
        </p:nvSpPr>
        <p:spPr>
          <a:xfrm>
            <a:off x="566928" y="109728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 enterprise-grade four-step activation process, sequenced against Monarch’s 30-day August 2026 flight.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8"/>
          <p:cNvSpPr/>
          <p:nvPr/>
        </p:nvSpPr>
        <p:spPr>
          <a:xfrm>
            <a:off x="566928" y="1609344"/>
            <a:ext cx="2613584" cy="2615184"/>
          </a:xfrm>
          <a:prstGeom prst="roundRect">
            <a:avLst>
              <a:gd fmla="val 174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8"/>
          <p:cNvSpPr/>
          <p:nvPr/>
        </p:nvSpPr>
        <p:spPr>
          <a:xfrm>
            <a:off x="841248" y="1847088"/>
            <a:ext cx="20649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8"/>
          <p:cNvSpPr/>
          <p:nvPr/>
        </p:nvSpPr>
        <p:spPr>
          <a:xfrm>
            <a:off x="841248" y="2103120"/>
            <a:ext cx="2064944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Service Footprint Audit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8"/>
          <p:cNvSpPr/>
          <p:nvPr/>
        </p:nvSpPr>
        <p:spPr>
          <a:xfrm>
            <a:off x="841248" y="2651760"/>
            <a:ext cx="2064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Pre-flight · Week 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8"/>
          <p:cNvSpPr/>
          <p:nvPr/>
        </p:nvSpPr>
        <p:spPr>
          <a:xfrm>
            <a:off x="841248" y="2944368"/>
            <a:ext cx="206494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We review Monarch’s active service ZIP codes and existing search performance benchmarks.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8"/>
          <p:cNvSpPr/>
          <p:nvPr/>
        </p:nvSpPr>
        <p:spPr>
          <a:xfrm>
            <a:off x="3381680" y="1609344"/>
            <a:ext cx="2613584" cy="2615184"/>
          </a:xfrm>
          <a:prstGeom prst="roundRect">
            <a:avLst>
              <a:gd fmla="val 174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8"/>
          <p:cNvSpPr/>
          <p:nvPr/>
        </p:nvSpPr>
        <p:spPr>
          <a:xfrm>
            <a:off x="3656000" y="1847088"/>
            <a:ext cx="20649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8"/>
          <p:cNvSpPr/>
          <p:nvPr/>
        </p:nvSpPr>
        <p:spPr>
          <a:xfrm>
            <a:off x="3656000" y="2103120"/>
            <a:ext cx="2064944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Inventory Validation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8"/>
          <p:cNvSpPr/>
          <p:nvPr/>
        </p:nvSpPr>
        <p:spPr>
          <a:xfrm>
            <a:off x="3656000" y="2651760"/>
            <a:ext cx="2064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Pre-flight · Week 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8"/>
          <p:cNvSpPr/>
          <p:nvPr/>
        </p:nvSpPr>
        <p:spPr>
          <a:xfrm>
            <a:off x="3656000" y="2944368"/>
            <a:ext cx="206494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We forecast eligible premium impressions available inside the five-city footprint.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8"/>
          <p:cNvSpPr/>
          <p:nvPr/>
        </p:nvSpPr>
        <p:spPr>
          <a:xfrm>
            <a:off x="6196432" y="1609344"/>
            <a:ext cx="2613584" cy="2615184"/>
          </a:xfrm>
          <a:prstGeom prst="roundRect">
            <a:avLst>
              <a:gd fmla="val 1749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8"/>
          <p:cNvSpPr/>
          <p:nvPr/>
        </p:nvSpPr>
        <p:spPr>
          <a:xfrm>
            <a:off x="6470752" y="1847088"/>
            <a:ext cx="20649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8"/>
          <p:cNvSpPr/>
          <p:nvPr/>
        </p:nvSpPr>
        <p:spPr>
          <a:xfrm>
            <a:off x="6470752" y="2103120"/>
            <a:ext cx="2064944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Creative Alignment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8"/>
          <p:cNvSpPr/>
          <p:nvPr/>
        </p:nvSpPr>
        <p:spPr>
          <a:xfrm>
            <a:off x="6470752" y="2651760"/>
            <a:ext cx="2064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Pre-flight · Week 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8"/>
          <p:cNvSpPr/>
          <p:nvPr/>
        </p:nvSpPr>
        <p:spPr>
          <a:xfrm>
            <a:off x="6470752" y="2944368"/>
            <a:ext cx="206494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We organize Monarch’s :15 and :30 TV spots and vertical video assets against the :05–:90 ad unit spec.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8"/>
          <p:cNvSpPr/>
          <p:nvPr/>
        </p:nvSpPr>
        <p:spPr>
          <a:xfrm>
            <a:off x="9011183" y="1609344"/>
            <a:ext cx="2613584" cy="2615184"/>
          </a:xfrm>
          <a:prstGeom prst="roundRect">
            <a:avLst>
              <a:gd fmla="val 1749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1778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8"/>
          <p:cNvSpPr/>
          <p:nvPr/>
        </p:nvSpPr>
        <p:spPr>
          <a:xfrm>
            <a:off x="9285503" y="1847088"/>
            <a:ext cx="20649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STEP 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8"/>
          <p:cNvSpPr/>
          <p:nvPr/>
        </p:nvSpPr>
        <p:spPr>
          <a:xfrm>
            <a:off x="9285503" y="2103120"/>
            <a:ext cx="2064944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Launch &amp; Measurement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8"/>
          <p:cNvSpPr/>
          <p:nvPr/>
        </p:nvSpPr>
        <p:spPr>
          <a:xfrm>
            <a:off x="9285503" y="2651760"/>
            <a:ext cx="20649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93B4FB"/>
                </a:solidFill>
                <a:latin typeface="Calibri"/>
                <a:ea typeface="Calibri"/>
                <a:cs typeface="Calibri"/>
                <a:sym typeface="Calibri"/>
              </a:rPr>
              <a:t>Days 1–30 · August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8"/>
          <p:cNvSpPr/>
          <p:nvPr/>
        </p:nvSpPr>
        <p:spPr>
          <a:xfrm>
            <a:off x="9285503" y="2944368"/>
            <a:ext cx="206494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7D3E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7D3E6"/>
                </a:solidFill>
                <a:latin typeface="Calibri"/>
                <a:ea typeface="Calibri"/>
                <a:cs typeface="Calibri"/>
                <a:sym typeface="Calibri"/>
              </a:rPr>
              <a:t>Campaign activates; we track net new customers, revenue growth and acquisition cost alongside delivery.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8"/>
          <p:cNvSpPr/>
          <p:nvPr/>
        </p:nvSpPr>
        <p:spPr>
          <a:xfrm>
            <a:off x="566928" y="4498848"/>
            <a:ext cx="11057839" cy="768096"/>
          </a:xfrm>
          <a:prstGeom prst="roundRect">
            <a:avLst>
              <a:gd fmla="val 5357" name="adj"/>
            </a:avLst>
          </a:prstGeom>
          <a:solidFill>
            <a:srgbClr val="EFF4FE"/>
          </a:solidFill>
          <a:ln cap="flat" cmpd="sng" w="12700">
            <a:solidFill>
              <a:srgbClr val="C9D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8"/>
          <p:cNvSpPr/>
          <p:nvPr/>
        </p:nvSpPr>
        <p:spPr>
          <a:xfrm>
            <a:off x="841248" y="4617720"/>
            <a:ext cx="1050919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WHAT WE NEED FROM MONARCH HOME SERVICES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8"/>
          <p:cNvSpPr/>
          <p:nvPr/>
        </p:nvSpPr>
        <p:spPr>
          <a:xfrm>
            <a:off x="841248" y="4818888"/>
            <a:ext cx="10509199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Approved service ZIP code list, existing :15 / :30 video assets (or a creative brief if new spots are required), and website access for the retargeting tag. Everything else is handled by CAMP Digital.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8"/>
          <p:cNvSpPr/>
          <p:nvPr/>
        </p:nvSpPr>
        <p:spPr>
          <a:xfrm>
            <a:off x="566928" y="6428232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CAMP Digital  ·  Premium Streaming Media Plan  ·  Monarch Home Services  ·  August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8"/>
          <p:cNvSpPr/>
          <p:nvPr/>
        </p:nvSpPr>
        <p:spPr>
          <a:xfrm>
            <a:off x="10527487" y="642823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9"/>
          <p:cNvSpPr/>
          <p:nvPr/>
        </p:nvSpPr>
        <p:spPr>
          <a:xfrm>
            <a:off x="566928" y="457200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THE RECOMMENDATION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9"/>
          <p:cNvSpPr/>
          <p:nvPr/>
        </p:nvSpPr>
        <p:spPr>
          <a:xfrm>
            <a:off x="566928" y="731520"/>
            <a:ext cx="11057839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Monarch Home Services Receives for $20,000 a Month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9"/>
          <p:cNvSpPr/>
          <p:nvPr/>
        </p:nvSpPr>
        <p:spPr>
          <a:xfrm>
            <a:off x="566928" y="1481328"/>
            <a:ext cx="6858000" cy="3346704"/>
          </a:xfrm>
          <a:prstGeom prst="roundRect">
            <a:avLst>
              <a:gd fmla="val 1366" name="adj"/>
            </a:avLst>
          </a:prstGeom>
          <a:solidFill>
            <a:srgbClr val="1B2942"/>
          </a:solidFill>
          <a:ln cap="flat" cmpd="sng" w="12700">
            <a:solidFill>
              <a:srgbClr val="2E42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9"/>
          <p:cNvSpPr/>
          <p:nvPr/>
        </p:nvSpPr>
        <p:spPr>
          <a:xfrm>
            <a:off x="877824" y="18105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9"/>
          <p:cNvSpPr/>
          <p:nvPr/>
        </p:nvSpPr>
        <p:spPr>
          <a:xfrm>
            <a:off x="1243584" y="1810512"/>
            <a:ext cx="5852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1,900,000 estimated premium CTV/OTT impressions over a 30-day flight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9"/>
          <p:cNvSpPr/>
          <p:nvPr/>
        </p:nvSpPr>
        <p:spPr>
          <a:xfrm>
            <a:off x="877824" y="229514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9"/>
          <p:cNvSpPr/>
          <p:nvPr/>
        </p:nvSpPr>
        <p:spPr>
          <a:xfrm>
            <a:off x="1243584" y="2295144"/>
            <a:ext cx="5852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Delivery confined to five named California cities across three DMAs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9"/>
          <p:cNvSpPr/>
          <p:nvPr/>
        </p:nvSpPr>
        <p:spPr>
          <a:xfrm>
            <a:off x="877824" y="277977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9"/>
          <p:cNvSpPr/>
          <p:nvPr/>
        </p:nvSpPr>
        <p:spPr>
          <a:xfrm>
            <a:off x="1243584" y="2779776"/>
            <a:ext cx="5852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 in-market audience pools plus prior-site-visitor retargeting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9"/>
          <p:cNvSpPr/>
          <p:nvPr/>
        </p:nvSpPr>
        <p:spPr>
          <a:xfrm>
            <a:off x="877824" y="32644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9"/>
          <p:cNvSpPr/>
          <p:nvPr/>
        </p:nvSpPr>
        <p:spPr>
          <a:xfrm>
            <a:off x="1243584" y="3264408"/>
            <a:ext cx="5852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Direct-to-engine buying — no reseller markup on any impression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9"/>
          <p:cNvSpPr/>
          <p:nvPr/>
        </p:nvSpPr>
        <p:spPr>
          <a:xfrm>
            <a:off x="877824" y="37490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9"/>
          <p:cNvSpPr/>
          <p:nvPr/>
        </p:nvSpPr>
        <p:spPr>
          <a:xfrm>
            <a:off x="1243584" y="3749040"/>
            <a:ext cx="5852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Impression-Based Remarketing and the Ad Effectiveness Study, both included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9"/>
          <p:cNvSpPr/>
          <p:nvPr/>
        </p:nvSpPr>
        <p:spPr>
          <a:xfrm>
            <a:off x="877824" y="42336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9"/>
          <p:cNvSpPr/>
          <p:nvPr/>
        </p:nvSpPr>
        <p:spPr>
          <a:xfrm>
            <a:off x="1243584" y="4233672"/>
            <a:ext cx="5852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App-level placement, CPM and completion reporting every month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9"/>
          <p:cNvSpPr/>
          <p:nvPr/>
        </p:nvSpPr>
        <p:spPr>
          <a:xfrm>
            <a:off x="7717536" y="1481328"/>
            <a:ext cx="3907231" cy="1572768"/>
          </a:xfrm>
          <a:prstGeom prst="roundRect">
            <a:avLst>
              <a:gd fmla="val 290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9"/>
          <p:cNvSpPr/>
          <p:nvPr/>
        </p:nvSpPr>
        <p:spPr>
          <a:xfrm>
            <a:off x="8010144" y="1719072"/>
            <a:ext cx="33220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2FE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D6E2FE"/>
                </a:solidFill>
                <a:latin typeface="Arial"/>
                <a:ea typeface="Arial"/>
                <a:cs typeface="Arial"/>
                <a:sym typeface="Arial"/>
              </a:rPr>
              <a:t>MONTHLY INVESTMENT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9"/>
          <p:cNvSpPr/>
          <p:nvPr/>
        </p:nvSpPr>
        <p:spPr>
          <a:xfrm>
            <a:off x="7982712" y="1938528"/>
            <a:ext cx="3376879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$20,000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9"/>
          <p:cNvSpPr/>
          <p:nvPr/>
        </p:nvSpPr>
        <p:spPr>
          <a:xfrm>
            <a:off x="8010144" y="2615184"/>
            <a:ext cx="3322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2F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6E2FE"/>
                </a:solidFill>
                <a:latin typeface="Calibri"/>
                <a:ea typeface="Calibri"/>
                <a:cs typeface="Calibri"/>
                <a:sym typeface="Calibri"/>
              </a:rPr>
              <a:t>NET USD  ·  100% working media  ·  fully scalable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9"/>
          <p:cNvSpPr/>
          <p:nvPr/>
        </p:nvSpPr>
        <p:spPr>
          <a:xfrm>
            <a:off x="7717536" y="3218688"/>
            <a:ext cx="3907231" cy="1609344"/>
          </a:xfrm>
          <a:prstGeom prst="roundRect">
            <a:avLst>
              <a:gd fmla="val 2841" name="adj"/>
            </a:avLst>
          </a:prstGeom>
          <a:solidFill>
            <a:srgbClr val="1B2942"/>
          </a:solidFill>
          <a:ln cap="flat" cmpd="sng" w="12700">
            <a:solidFill>
              <a:srgbClr val="2E42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9"/>
          <p:cNvSpPr/>
          <p:nvPr/>
        </p:nvSpPr>
        <p:spPr>
          <a:xfrm>
            <a:off x="8010144" y="3419856"/>
            <a:ext cx="33220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4F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93B4FB"/>
                </a:solidFill>
                <a:latin typeface="Arial"/>
                <a:ea typeface="Arial"/>
                <a:cs typeface="Arial"/>
                <a:sym typeface="Arial"/>
              </a:rPr>
              <a:t>NEXT STEP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9"/>
          <p:cNvSpPr/>
          <p:nvPr/>
        </p:nvSpPr>
        <p:spPr>
          <a:xfrm>
            <a:off x="8010144" y="3639312"/>
            <a:ext cx="3322015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Complimentary local CTV audit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9"/>
          <p:cNvSpPr/>
          <p:nvPr/>
        </p:nvSpPr>
        <p:spPr>
          <a:xfrm>
            <a:off x="8010144" y="4096512"/>
            <a:ext cx="33220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7D3E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C7D3E6"/>
                </a:solidFill>
                <a:latin typeface="Calibri"/>
                <a:ea typeface="Calibri"/>
                <a:cs typeface="Calibri"/>
                <a:sym typeface="Calibri"/>
              </a:rPr>
              <a:t>A real-time inventory forecast across Monarch’s five California cities, confirming the streaming audience supports a sustained television presence — before a dollar is committed.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packed/ppt/media/image12.png" id="589" name="Google Shape;5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5230368"/>
            <a:ext cx="1572768" cy="630936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19"/>
          <p:cNvSpPr/>
          <p:nvPr/>
        </p:nvSpPr>
        <p:spPr>
          <a:xfrm>
            <a:off x="2487168" y="5321808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Ready to own the big screen in your service territory?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9"/>
          <p:cNvSpPr/>
          <p:nvPr/>
        </p:nvSpPr>
        <p:spPr>
          <a:xfrm>
            <a:off x="8424367" y="5321808"/>
            <a:ext cx="3200400" cy="566928"/>
          </a:xfrm>
          <a:prstGeom prst="roundRect">
            <a:avLst>
              <a:gd fmla="val 14516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9"/>
          <p:cNvSpPr/>
          <p:nvPr/>
        </p:nvSpPr>
        <p:spPr>
          <a:xfrm>
            <a:off x="8424367" y="5321808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Request Your Free CTV Audit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9"/>
          <p:cNvSpPr/>
          <p:nvPr/>
        </p:nvSpPr>
        <p:spPr>
          <a:xfrm>
            <a:off x="566928" y="6199632"/>
            <a:ext cx="110578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 impressions are estimates and are not guaranteed. Pricing is dynamic based on market demand. All dollars are NET USD.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2026-08-09T18:20:06Z</dcterms:created>
  <dc:creator>CAMP Digital</dc:creator>
</cp:coreProperties>
</file>