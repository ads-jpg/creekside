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EAA2BA-DEC5-4F7B-9BCD-5BED20CD59F3}">
  <a:tblStyle styleId="{FAEAA2BA-DEC5-4F7B-9BCD-5BED20CD59F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Inter-regular.fntdata"/><Relationship Id="rId14" Type="http://schemas.openxmlformats.org/officeDocument/2006/relationships/slide" Target="slides/slide8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79569a60f_0_393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f79569a60f_0_393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g3f79569a60f_0_393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79569a60f_0_416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f79569a60f_0_416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g3f79569a60f_0_416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79569a60f_0_14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g3f79569a60f_0_14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79569a60f_0_14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79569a60f_0_19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g3f79569a60f_0_19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79569a60f_0_19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9569a60f_0_8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f79569a60f_0_8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79569a60f_0_8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79569a60f_0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3f79569a60f_0_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79569a60f_0_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79569a60f_0_5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f79569a60f_0_5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Tri Peaks Air - Media Plan worksheet. In-market line: 800,000 impressions / $9,000. Remarketing line: 50,000 impressions / $1,000. Line items total $10,000 NET; the workbook TOTAL cell M18 reads $9,000 because its formula =SUM(M6:M8) covers only the in-market row. Implied CPMs derived, not quoted in the workbook.</a:t>
            </a:r>
            <a:endParaRPr/>
          </a:p>
        </p:txBody>
      </p:sp>
      <p:sp>
        <p:nvSpPr>
          <p:cNvPr id="249" name="Google Shape;249;g3f79569a60f_0_5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79569a60f_0_11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f79569a60f_0_11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79569a60f_0_11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7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9" y="0"/>
            <a:ext cx="342891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496119" y="403027"/>
            <a:ext cx="4722900" cy="11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500"/>
              <a:buFont typeface="Inter"/>
              <a:buNone/>
            </a:pPr>
            <a:r>
              <a:rPr b="1" i="0" lang="en" sz="25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The Same Big-Screen Placements as National Brands. Zero Middlemen.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96119" y="1771352"/>
            <a:ext cx="2303700" cy="1914600"/>
          </a:xfrm>
          <a:prstGeom prst="roundRect">
            <a:avLst>
              <a:gd fmla="val 2799" name="adj"/>
            </a:avLst>
          </a:prstGeom>
          <a:solidFill>
            <a:srgbClr val="FFFFFF"/>
          </a:solidFill>
          <a:ln cap="flat" cmpd="sng" w="14300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37953" y="1913186"/>
            <a:ext cx="20202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nter"/>
              <a:buNone/>
            </a:pPr>
            <a:r>
              <a:rPr b="1" i="0" lang="en" sz="1200" u="none" cap="none" strike="noStrike">
                <a:solidFill>
                  <a:srgbClr val="003726"/>
                </a:solidFill>
                <a:latin typeface="Inter"/>
                <a:ea typeface="Inter"/>
                <a:cs typeface="Inter"/>
                <a:sym typeface="Inter"/>
              </a:rPr>
              <a:t>Premium Publisher Access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37953" y="2380580"/>
            <a:ext cx="20202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Full-screen, non-skippable living-room TV ads across Max, Hulu, Disney+, Roku, Paramount+, YouTube TV, Peacock, Samsung TV+, Sling, and Tubi.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2914878" y="1771352"/>
            <a:ext cx="2304000" cy="1914600"/>
          </a:xfrm>
          <a:prstGeom prst="roundRect">
            <a:avLst>
              <a:gd fmla="val 2799" name="adj"/>
            </a:avLst>
          </a:prstGeom>
          <a:solidFill>
            <a:srgbClr val="FFFFFF"/>
          </a:solidFill>
          <a:ln cap="flat" cmpd="sng" w="14300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3056712" y="1913186"/>
            <a:ext cx="20202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nter"/>
              <a:buNone/>
            </a:pPr>
            <a:r>
              <a:rPr b="1" i="0" lang="en" sz="1200" u="none" cap="none" strike="noStrike">
                <a:solidFill>
                  <a:srgbClr val="003726"/>
                </a:solidFill>
                <a:latin typeface="Inter"/>
                <a:ea typeface="Inter"/>
                <a:cs typeface="Inter"/>
                <a:sym typeface="Inter"/>
              </a:rPr>
              <a:t>Zip-Code &amp; DMA Precision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3056712" y="2380580"/>
            <a:ext cx="20202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Hyper-local targeting ensures your ads only air inside your active plumbing, HVAC, or electrical service footprint.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496119" y="3800773"/>
            <a:ext cx="4722900" cy="939600"/>
          </a:xfrm>
          <a:prstGeom prst="roundRect">
            <a:avLst>
              <a:gd fmla="val 5703" name="adj"/>
            </a:avLst>
          </a:prstGeom>
          <a:solidFill>
            <a:srgbClr val="FFFFFF"/>
          </a:solidFill>
          <a:ln cap="flat" cmpd="sng" w="14300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37953" y="3942606"/>
            <a:ext cx="4439100" cy="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Inter"/>
              <a:buNone/>
            </a:pPr>
            <a:r>
              <a:rPr b="1" i="0" lang="en" sz="1200" u="none" cap="none" strike="noStrike">
                <a:solidFill>
                  <a:srgbClr val="003726"/>
                </a:solidFill>
                <a:latin typeface="Inter"/>
                <a:ea typeface="Inter"/>
                <a:cs typeface="Inter"/>
                <a:sym typeface="Inter"/>
              </a:rPr>
              <a:t>Unbiased Platform Access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637953" y="4210720"/>
            <a:ext cx="44391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Agnostic placement across both Microsoft Advertising and Google Ads networks — we optimize for your results, not platform commissions.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429768" y="274320"/>
            <a:ext cx="828446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Building Brand Demand to Lower Your PPC Cost-Per-Lead.</a:t>
            </a:r>
            <a:endParaRPr sz="2000"/>
          </a:p>
        </p:txBody>
      </p:sp>
      <p:sp>
        <p:nvSpPr>
          <p:cNvPr id="82" name="Google Shape;82;p16"/>
          <p:cNvSpPr/>
          <p:nvPr/>
        </p:nvSpPr>
        <p:spPr>
          <a:xfrm>
            <a:off x="429768" y="932688"/>
            <a:ext cx="2578608" cy="1389888"/>
          </a:xfrm>
          <a:prstGeom prst="roundRect">
            <a:avLst>
              <a:gd fmla="val 279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/>
          </a:p>
        </p:txBody>
      </p:sp>
      <p:sp>
        <p:nvSpPr>
          <p:cNvPr id="83" name="Google Shape;83;p16"/>
          <p:cNvSpPr/>
          <p:nvPr/>
        </p:nvSpPr>
        <p:spPr>
          <a:xfrm>
            <a:off x="1636776" y="1170432"/>
            <a:ext cx="164592" cy="164592"/>
          </a:xfrm>
          <a:prstGeom prst="ellipse">
            <a:avLst/>
          </a:prstGeom>
          <a:solidFill>
            <a:srgbClr val="A7C14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/>
          </a:p>
        </p:txBody>
      </p:sp>
      <p:sp>
        <p:nvSpPr>
          <p:cNvPr id="84" name="Google Shape;84;p16"/>
          <p:cNvSpPr/>
          <p:nvPr/>
        </p:nvSpPr>
        <p:spPr>
          <a:xfrm>
            <a:off x="576072" y="1389888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CTV Awareness</a:t>
            </a:r>
            <a:endParaRPr sz="1100"/>
          </a:p>
        </p:txBody>
      </p:sp>
      <p:sp>
        <p:nvSpPr>
          <p:cNvPr id="85" name="Google Shape;85;p16"/>
          <p:cNvSpPr/>
          <p:nvPr/>
        </p:nvSpPr>
        <p:spPr>
          <a:xfrm>
            <a:off x="576072" y="181965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(top-of-mind brand trust on living room screens)</a:t>
            </a:r>
            <a:endParaRPr sz="800"/>
          </a:p>
        </p:txBody>
      </p:sp>
      <p:sp>
        <p:nvSpPr>
          <p:cNvPr id="86" name="Google Shape;86;p16"/>
          <p:cNvSpPr/>
          <p:nvPr/>
        </p:nvSpPr>
        <p:spPr>
          <a:xfrm rot="5400000">
            <a:off x="3063240" y="1536192"/>
            <a:ext cx="164592" cy="182880"/>
          </a:xfrm>
          <a:prstGeom prst="triangle">
            <a:avLst/>
          </a:prstGeom>
          <a:solidFill>
            <a:srgbClr val="A7C14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/>
          </a:p>
        </p:txBody>
      </p:sp>
      <p:sp>
        <p:nvSpPr>
          <p:cNvPr id="87" name="Google Shape;87;p16"/>
          <p:cNvSpPr/>
          <p:nvPr/>
        </p:nvSpPr>
        <p:spPr>
          <a:xfrm>
            <a:off x="3282696" y="932688"/>
            <a:ext cx="2578608" cy="1389888"/>
          </a:xfrm>
          <a:prstGeom prst="roundRect">
            <a:avLst>
              <a:gd fmla="val 279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/>
          </a:p>
        </p:txBody>
      </p:sp>
      <p:sp>
        <p:nvSpPr>
          <p:cNvPr id="88" name="Google Shape;88;p16"/>
          <p:cNvSpPr/>
          <p:nvPr/>
        </p:nvSpPr>
        <p:spPr>
          <a:xfrm>
            <a:off x="4489704" y="1170432"/>
            <a:ext cx="164592" cy="164592"/>
          </a:xfrm>
          <a:prstGeom prst="ellipse">
            <a:avLst/>
          </a:prstGeom>
          <a:solidFill>
            <a:srgbClr val="A7C14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/>
          </a:p>
        </p:txBody>
      </p:sp>
      <p:sp>
        <p:nvSpPr>
          <p:cNvPr id="89" name="Google Shape;89;p16"/>
          <p:cNvSpPr/>
          <p:nvPr/>
        </p:nvSpPr>
        <p:spPr>
          <a:xfrm>
            <a:off x="3429000" y="1389888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Branded Searches</a:t>
            </a:r>
            <a:endParaRPr sz="1100"/>
          </a:p>
        </p:txBody>
      </p:sp>
      <p:sp>
        <p:nvSpPr>
          <p:cNvPr id="90" name="Google Shape;90;p16"/>
          <p:cNvSpPr/>
          <p:nvPr/>
        </p:nvSpPr>
        <p:spPr>
          <a:xfrm>
            <a:off x="3429000" y="181965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(homeowners search your name directly)</a:t>
            </a:r>
            <a:endParaRPr sz="800"/>
          </a:p>
        </p:txBody>
      </p:sp>
      <p:sp>
        <p:nvSpPr>
          <p:cNvPr id="91" name="Google Shape;91;p16"/>
          <p:cNvSpPr/>
          <p:nvPr/>
        </p:nvSpPr>
        <p:spPr>
          <a:xfrm rot="5400000">
            <a:off x="5916168" y="1536192"/>
            <a:ext cx="164592" cy="182880"/>
          </a:xfrm>
          <a:prstGeom prst="triangle">
            <a:avLst/>
          </a:prstGeom>
          <a:solidFill>
            <a:srgbClr val="A7C14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/>
          </a:p>
        </p:txBody>
      </p:sp>
      <p:sp>
        <p:nvSpPr>
          <p:cNvPr id="92" name="Google Shape;92;p16"/>
          <p:cNvSpPr/>
          <p:nvPr/>
        </p:nvSpPr>
        <p:spPr>
          <a:xfrm>
            <a:off x="6135624" y="932688"/>
            <a:ext cx="2578608" cy="1389888"/>
          </a:xfrm>
          <a:prstGeom prst="roundRect">
            <a:avLst>
              <a:gd fmla="val 279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/>
          </a:p>
        </p:txBody>
      </p:sp>
      <p:sp>
        <p:nvSpPr>
          <p:cNvPr id="93" name="Google Shape;93;p16"/>
          <p:cNvSpPr/>
          <p:nvPr/>
        </p:nvSpPr>
        <p:spPr>
          <a:xfrm>
            <a:off x="7342632" y="1170432"/>
            <a:ext cx="164592" cy="164592"/>
          </a:xfrm>
          <a:prstGeom prst="ellipse">
            <a:avLst/>
          </a:prstGeom>
          <a:solidFill>
            <a:srgbClr val="A7C14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/>
          </a:p>
        </p:txBody>
      </p:sp>
      <p:sp>
        <p:nvSpPr>
          <p:cNvPr id="94" name="Google Shape;94;p16"/>
          <p:cNvSpPr/>
          <p:nvPr/>
        </p:nvSpPr>
        <p:spPr>
          <a:xfrm>
            <a:off x="6281928" y="1389888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Lower CPL and Higher PPC Conversion Rates</a:t>
            </a:r>
            <a:endParaRPr sz="1100"/>
          </a:p>
        </p:txBody>
      </p:sp>
      <p:sp>
        <p:nvSpPr>
          <p:cNvPr id="95" name="Google Shape;95;p16"/>
          <p:cNvSpPr/>
          <p:nvPr/>
        </p:nvSpPr>
        <p:spPr>
          <a:xfrm>
            <a:off x="6281928" y="181965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(higher CTR, lower acquisition cost)</a:t>
            </a:r>
            <a:endParaRPr sz="800"/>
          </a:p>
        </p:txBody>
      </p:sp>
      <p:sp>
        <p:nvSpPr>
          <p:cNvPr id="96" name="Google Shape;96;p16"/>
          <p:cNvSpPr/>
          <p:nvPr/>
        </p:nvSpPr>
        <p:spPr>
          <a:xfrm>
            <a:off x="1719072" y="2487168"/>
            <a:ext cx="5705856" cy="118872"/>
          </a:xfrm>
          <a:prstGeom prst="leftArrow">
            <a:avLst/>
          </a:prstGeom>
          <a:solidFill>
            <a:srgbClr val="A7C14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/>
          </a:p>
        </p:txBody>
      </p:sp>
      <p:sp>
        <p:nvSpPr>
          <p:cNvPr id="97" name="Google Shape;97;p16"/>
          <p:cNvSpPr/>
          <p:nvPr/>
        </p:nvSpPr>
        <p:spPr>
          <a:xfrm>
            <a:off x="429768" y="2816352"/>
            <a:ext cx="8284464" cy="640080"/>
          </a:xfrm>
          <a:prstGeom prst="roundRect">
            <a:avLst>
              <a:gd fmla="val 2799" name="adj"/>
            </a:avLst>
          </a:prstGeom>
          <a:solidFill>
            <a:srgbClr val="A7C14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/>
          </a:p>
        </p:txBody>
      </p:sp>
      <p:sp>
        <p:nvSpPr>
          <p:cNvPr id="98" name="Google Shape;98;p16"/>
          <p:cNvSpPr/>
          <p:nvPr/>
        </p:nvSpPr>
        <p:spPr>
          <a:xfrm>
            <a:off x="658368" y="2926080"/>
            <a:ext cx="7827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Search &amp; TV Working Together</a:t>
            </a:r>
            <a:endParaRPr sz="900"/>
          </a:p>
        </p:txBody>
      </p:sp>
      <p:sp>
        <p:nvSpPr>
          <p:cNvPr id="99" name="Google Shape;99;p16"/>
          <p:cNvSpPr/>
          <p:nvPr/>
        </p:nvSpPr>
        <p:spPr>
          <a:xfrm>
            <a:off x="658368" y="3118104"/>
            <a:ext cx="7827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CTV creates top-of-mind trust. Search PPC captures the appointment when the repair is needed. Together, they compound your results.</a:t>
            </a:r>
            <a:endParaRPr sz="800"/>
          </a:p>
        </p:txBody>
      </p:sp>
      <p:sp>
        <p:nvSpPr>
          <p:cNvPr id="100" name="Google Shape;100;p16"/>
          <p:cNvSpPr/>
          <p:nvPr/>
        </p:nvSpPr>
        <p:spPr>
          <a:xfrm>
            <a:off x="429768" y="3621024"/>
            <a:ext cx="8284464" cy="914400"/>
          </a:xfrm>
          <a:prstGeom prst="roundRect">
            <a:avLst>
              <a:gd fmla="val 279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/>
          </a:p>
        </p:txBody>
      </p:sp>
      <p:sp>
        <p:nvSpPr>
          <p:cNvPr id="101" name="Google Shape;101;p16"/>
          <p:cNvSpPr/>
          <p:nvPr/>
        </p:nvSpPr>
        <p:spPr>
          <a:xfrm>
            <a:off x="658368" y="3749040"/>
            <a:ext cx="7827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Cross-Channel Retargeting</a:t>
            </a:r>
            <a:endParaRPr sz="900"/>
          </a:p>
        </p:txBody>
      </p:sp>
      <p:sp>
        <p:nvSpPr>
          <p:cNvPr id="102" name="Google Shape;102;p16"/>
          <p:cNvSpPr/>
          <p:nvPr/>
        </p:nvSpPr>
        <p:spPr>
          <a:xfrm>
            <a:off x="658368" y="3986784"/>
            <a:ext cx="782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400"/>
              </a:spcAft>
              <a:buClr>
                <a:srgbClr val="00823D"/>
              </a:buClr>
              <a:buSzPts val="700"/>
              <a:buFont typeface="Arial"/>
              <a:buChar char="●"/>
            </a:pPr>
            <a:r>
              <a:rPr b="1" i="0" lang="en" sz="8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Microsoft IMBR:</a:t>
            </a:r>
            <a:r>
              <a:rPr b="0" i="0" lang="en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Retarget TV viewers with follow-up Search, Native, or Display ads</a:t>
            </a:r>
            <a:endParaRPr sz="800"/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00823D"/>
              </a:buClr>
              <a:buSzPts val="700"/>
              <a:buFont typeface="Arial"/>
              <a:buChar char="●"/>
            </a:pPr>
            <a:r>
              <a:rPr b="1" i="0" lang="en" sz="8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Google Demand Gen:</a:t>
            </a:r>
            <a:r>
              <a:rPr b="0" i="0" lang="en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Re-engage warm streaming audiences across YouTube Shorts, Gmail, and Discover</a:t>
            </a:r>
            <a:endParaRPr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ill"/>
          <p:cNvGrpSpPr/>
          <p:nvPr/>
        </p:nvGrpSpPr>
        <p:grpSpPr>
          <a:xfrm>
            <a:off x="425196" y="265230"/>
            <a:ext cx="1214936" cy="182925"/>
            <a:chOff x="0" y="0"/>
            <a:chExt cx="1214936" cy="182925"/>
          </a:xfrm>
        </p:grpSpPr>
        <p:sp>
          <p:nvSpPr>
            <p:cNvPr id="129" name="Google Shape;129;pill"/>
            <p:cNvSpPr/>
            <p:nvPr/>
          </p:nvSpPr>
          <p:spPr>
            <a:xfrm>
              <a:off x="0" y="0"/>
              <a:ext cx="1214936" cy="182925"/>
            </a:xfrm>
            <a:prstGeom prst="roundRect">
              <a:avLst>
                <a:gd fmla="val 2264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ill"/>
            <p:cNvSpPr txBox="1"/>
            <p:nvPr/>
          </p:nvSpPr>
          <p:spPr>
            <a:xfrm>
              <a:off x="0" y="0"/>
              <a:ext cx="1214936" cy="18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INVENTORY ACCESS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87" name="Google Shape;87;p17"/>
          <p:cNvSpPr/>
          <p:nvPr/>
        </p:nvSpPr>
        <p:spPr>
          <a:xfrm>
            <a:off x="425196" y="452628"/>
            <a:ext cx="801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Same Big-Screen Placements as National Brands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25196" y="822960"/>
            <a:ext cx="7406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Direct access to premium streaming inventory — full-screen, non-skippable, sound-on advertising delivered on television screens inside premium content environments.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25196" y="1207008"/>
            <a:ext cx="5212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PREMIUM STREAMING ENVIRONMENTS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25196" y="1453896"/>
            <a:ext cx="1220700" cy="7956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425196" y="1453896"/>
            <a:ext cx="1220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YouTube Select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1755648" y="1453896"/>
            <a:ext cx="1220700" cy="7956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1755648" y="1453896"/>
            <a:ext cx="1220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Hulu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3086100" y="1453896"/>
            <a:ext cx="1220700" cy="7956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3086100" y="1453896"/>
            <a:ext cx="1220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Disney+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4416552" y="1453896"/>
            <a:ext cx="1220700" cy="7956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4416552" y="1453896"/>
            <a:ext cx="1220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25196" y="2359152"/>
            <a:ext cx="1220700" cy="7956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425196" y="2359152"/>
            <a:ext cx="1220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Paramount+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1755648" y="2359152"/>
            <a:ext cx="1220700" cy="7956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1755648" y="2359152"/>
            <a:ext cx="1220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Peacock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086100" y="2359152"/>
            <a:ext cx="1220700" cy="7956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086100" y="2359152"/>
            <a:ext cx="1220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Roku Channel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416552" y="2359152"/>
            <a:ext cx="1220700" cy="7956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4416552" y="2359152"/>
            <a:ext cx="1220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Samsung TV Plus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25196" y="3264408"/>
            <a:ext cx="1220700" cy="7956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425196" y="3264408"/>
            <a:ext cx="1220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Pluto TV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1755648" y="3264408"/>
            <a:ext cx="1220700" cy="7956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1755648" y="3264408"/>
            <a:ext cx="1220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Tubi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086100" y="3264408"/>
            <a:ext cx="1220700" cy="7956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3086100" y="3264408"/>
            <a:ext cx="1220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ESPN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416552" y="3264408"/>
            <a:ext cx="1220700" cy="7956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4416552" y="3264408"/>
            <a:ext cx="1220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Prime Video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5856732" y="1207008"/>
            <a:ext cx="2861700" cy="877800"/>
          </a:xfrm>
          <a:prstGeom prst="roundRect">
            <a:avLst>
              <a:gd fmla="val 3906" name="adj"/>
            </a:avLst>
          </a:prstGeom>
          <a:solidFill>
            <a:srgbClr val="E5F7F2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6048756" y="1344168"/>
            <a:ext cx="247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Hyper-local by design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6048756" y="1577340"/>
            <a:ext cx="24777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Delivery is confined to your active service footprint — down to specific cities and ZIP codes, not the whole DMA.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5856732" y="2187702"/>
            <a:ext cx="2861700" cy="877800"/>
          </a:xfrm>
          <a:prstGeom prst="roundRect">
            <a:avLst>
              <a:gd fmla="val 3906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6048756" y="2324862"/>
            <a:ext cx="247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Unbiased placement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048756" y="2558034"/>
            <a:ext cx="24777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Options across both the Microsoft and Google networks, chosen on performance rather than on which inventory we happen to resell.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856732" y="3168396"/>
            <a:ext cx="2861700" cy="877800"/>
          </a:xfrm>
          <a:prstGeom prst="roundRect">
            <a:avLst>
              <a:gd fmla="val 3906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6048756" y="3305556"/>
            <a:ext cx="247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Television-grade recall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6048756" y="3538728"/>
            <a:ext cx="24777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Arial"/>
              <a:buNone/>
            </a:pPr>
            <a:r>
              <a:rPr lang="en" sz="8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Full-screen, sound-on exposure on the household TV builds significantly stronger recall than mobile advertising alone.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25196" y="4155948"/>
            <a:ext cx="8293200" cy="534900"/>
          </a:xfrm>
          <a:prstGeom prst="roundRect">
            <a:avLst>
              <a:gd fmla="val 5769" name="adj"/>
            </a:avLst>
          </a:prstGeom>
          <a:solidFill>
            <a:srgbClr val="A7C142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630936" y="4245102"/>
            <a:ext cx="788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BOUGHT DIRECT, NOT RESOLD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630936" y="4395978"/>
            <a:ext cx="7881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Every environment above is purchased through the Microsoft or Google engines at publisher cost — the same inventory national advertisers buy, without a reseller standing between Tri Peaks and the impression.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425196" y="4821174"/>
            <a:ext cx="5898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CAMP Digital  ·  Premium Streaming Media Plan  ·  Tri Peaks Air  ·  July 2026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7895615" y="4821174"/>
            <a:ext cx="8232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ill"/>
          <p:cNvGrpSpPr/>
          <p:nvPr/>
        </p:nvGrpSpPr>
        <p:grpSpPr>
          <a:xfrm>
            <a:off x="425196" y="265230"/>
            <a:ext cx="1027062" cy="182925"/>
            <a:chOff x="0" y="0"/>
            <a:chExt cx="1027062" cy="182925"/>
          </a:xfrm>
        </p:grpSpPr>
        <p:sp>
          <p:nvSpPr>
            <p:cNvPr id="167" name="Google Shape;167;pill"/>
            <p:cNvSpPr/>
            <p:nvPr/>
          </p:nvSpPr>
          <p:spPr>
            <a:xfrm>
              <a:off x="0" y="0"/>
              <a:ext cx="1027062" cy="182925"/>
            </a:xfrm>
            <a:prstGeom prst="roundRect">
              <a:avLst>
                <a:gd fmla="val 2264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ill"/>
            <p:cNvSpPr txBox="1"/>
            <p:nvPr/>
          </p:nvSpPr>
          <p:spPr>
            <a:xfrm>
              <a:off x="0" y="0"/>
              <a:ext cx="1027062" cy="18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PRICING MODEL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134" name="Google Shape;134;p18"/>
          <p:cNvSpPr/>
          <p:nvPr/>
        </p:nvSpPr>
        <p:spPr>
          <a:xfrm>
            <a:off x="425196" y="452628"/>
            <a:ext cx="801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100% Working Media. Zero Hidden Tech Taxes.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425196" y="822960"/>
            <a:ext cx="7406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Media is purchased directly through the ad engines at transparent CPM-based pricing, with a flat monthly management fee that keeps our incentives aligned with campaign outcomes.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25196" y="1207008"/>
            <a:ext cx="4037100" cy="17145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644652" y="1399032"/>
            <a:ext cx="3597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TRADITIONAL CTV MODELS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644652" y="1659636"/>
            <a:ext cx="2058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877824" y="1659636"/>
            <a:ext cx="3351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Hidden platform markups and unknown inventory fees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644652" y="2057400"/>
            <a:ext cx="2058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877824" y="2057400"/>
            <a:ext cx="3351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Layered reseller margins that shrink working media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644652" y="2455164"/>
            <a:ext cx="2058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877824" y="2455164"/>
            <a:ext cx="3351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Obscured placement and performance reporting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4681614" y="1207008"/>
            <a:ext cx="4037100" cy="1714500"/>
          </a:xfrm>
          <a:prstGeom prst="roundRect">
            <a:avLst>
              <a:gd fmla="val 2000" name="adj"/>
            </a:avLst>
          </a:prstGeom>
          <a:solidFill>
            <a:srgbClr val="003726"/>
          </a:solidFill>
          <a:ln cap="flat" cmpd="sng" w="9525">
            <a:solidFill>
              <a:srgbClr val="003726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4901070" y="1399032"/>
            <a:ext cx="3597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THE CAMP DIGITAL MODEL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4901070" y="1659636"/>
            <a:ext cx="2058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5134242" y="1659636"/>
            <a:ext cx="3351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B2E5D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B2E5D5"/>
                </a:solidFill>
                <a:latin typeface="Arial"/>
                <a:ea typeface="Arial"/>
                <a:cs typeface="Arial"/>
                <a:sym typeface="Arial"/>
              </a:rPr>
              <a:t>100% of media budget goes to buying impressions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901070" y="2057400"/>
            <a:ext cx="2058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5134242" y="2057400"/>
            <a:ext cx="3351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B2E5D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B2E5D5"/>
                </a:solidFill>
                <a:latin typeface="Arial"/>
                <a:ea typeface="Arial"/>
                <a:cs typeface="Arial"/>
                <a:sym typeface="Arial"/>
              </a:rPr>
              <a:t>Flat monthly management fee, disclosed up front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901070" y="2455164"/>
            <a:ext cx="2058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134242" y="2455164"/>
            <a:ext cx="3351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B2E5D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B2E5D5"/>
                </a:solidFill>
                <a:latin typeface="Arial"/>
                <a:ea typeface="Arial"/>
                <a:cs typeface="Arial"/>
                <a:sym typeface="Arial"/>
              </a:rPr>
              <a:t>Direct access to placement, CPM and delivery reporting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25196" y="3140964"/>
            <a:ext cx="2645700" cy="1138500"/>
          </a:xfrm>
          <a:prstGeom prst="roundRect">
            <a:avLst>
              <a:gd fmla="val 301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630936" y="3319272"/>
            <a:ext cx="2234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TRI PEAKS' MONTHLY MEDIA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10362" y="3483864"/>
            <a:ext cx="2275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$10,000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30936" y="3922776"/>
            <a:ext cx="223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NET USD, working media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249092" y="3140964"/>
            <a:ext cx="2645700" cy="1138500"/>
          </a:xfrm>
          <a:prstGeom prst="roundRect">
            <a:avLst>
              <a:gd fmla="val 3012" name="adj"/>
            </a:avLst>
          </a:prstGeom>
          <a:solidFill>
            <a:srgbClr val="E5F7F2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3454832" y="3319272"/>
            <a:ext cx="2234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THIRD-PARTY MARKUPS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434257" y="3483864"/>
            <a:ext cx="2275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3D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rPr>
              <a:t>$0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3454832" y="3922776"/>
            <a:ext cx="223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 reseller margin in the buy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6072988" y="3140964"/>
            <a:ext cx="2645700" cy="1138500"/>
          </a:xfrm>
          <a:prstGeom prst="roundRect">
            <a:avLst>
              <a:gd fmla="val 3012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6278728" y="3319272"/>
            <a:ext cx="2234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ESTIMATED IMPRESSIONS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6258154" y="3483864"/>
            <a:ext cx="2275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850,000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278728" y="3922776"/>
            <a:ext cx="223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Across two targeted ad groups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25196" y="4821174"/>
            <a:ext cx="5898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CAMP Digital  ·  Premium Streaming Media Plan  ·  Tri Peaks Air  ·  July 2026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7895615" y="4821174"/>
            <a:ext cx="8232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ill"/>
          <p:cNvGrpSpPr/>
          <p:nvPr/>
        </p:nvGrpSpPr>
        <p:grpSpPr>
          <a:xfrm>
            <a:off x="425196" y="265230"/>
            <a:ext cx="1901206" cy="182925"/>
            <a:chOff x="0" y="0"/>
            <a:chExt cx="1901206" cy="182925"/>
          </a:xfrm>
        </p:grpSpPr>
        <p:sp>
          <p:nvSpPr>
            <p:cNvPr id="197" name="Google Shape;197;pill"/>
            <p:cNvSpPr/>
            <p:nvPr/>
          </p:nvSpPr>
          <p:spPr>
            <a:xfrm>
              <a:off x="0" y="0"/>
              <a:ext cx="1901206" cy="182925"/>
            </a:xfrm>
            <a:prstGeom prst="roundRect">
              <a:avLst>
                <a:gd fmla="val 2264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ill"/>
            <p:cNvSpPr txBox="1"/>
            <p:nvPr/>
          </p:nvSpPr>
          <p:spPr>
            <a:xfrm>
              <a:off x="0" y="0"/>
              <a:ext cx="1901206" cy="18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INCLUDED AT NO ADDITIONAL COST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172" name="Google Shape;172;p19"/>
          <p:cNvSpPr/>
          <p:nvPr/>
        </p:nvSpPr>
        <p:spPr>
          <a:xfrm>
            <a:off x="425196" y="452628"/>
            <a:ext cx="801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Two Assets Tri Peaks Keeps Beyond the Impressions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25196" y="822960"/>
            <a:ext cx="7406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plan includes added-value components that most CTV vendors either charge for or simply do not offer.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25196" y="1207008"/>
            <a:ext cx="4037100" cy="1920300"/>
          </a:xfrm>
          <a:prstGeom prst="roundRect">
            <a:avLst>
              <a:gd fmla="val 1786" name="adj"/>
            </a:avLst>
          </a:prstGeom>
          <a:solidFill>
            <a:srgbClr val="E5F7F2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644652" y="1399032"/>
            <a:ext cx="3597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3D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rPr>
              <a:t>ADDED VALUE 01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644652" y="1591056"/>
            <a:ext cx="3597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Impression-Based Remarketing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44652" y="1933956"/>
            <a:ext cx="35979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Every household exposed to Tri Peaks' streaming ad is assembled into a remarketing list — usable across Search, Performance Max, Display, Native and Online Video.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30936" y="2537460"/>
            <a:ext cx="3625500" cy="438900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740664" y="2578608"/>
            <a:ext cx="34062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The audience built by the TV campaign becomes a targeting asset for every other channel Tri Peaks runs.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681614" y="1207008"/>
            <a:ext cx="4037100" cy="1920300"/>
          </a:xfrm>
          <a:prstGeom prst="roundRect">
            <a:avLst>
              <a:gd fmla="val 1786" name="adj"/>
            </a:avLst>
          </a:prstGeom>
          <a:solidFill>
            <a:srgbClr val="E5F7F2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4901070" y="1399032"/>
            <a:ext cx="3597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23D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00823D"/>
                </a:solidFill>
                <a:latin typeface="Arial"/>
                <a:ea typeface="Arial"/>
                <a:cs typeface="Arial"/>
                <a:sym typeface="Arial"/>
              </a:rPr>
              <a:t>ADDED VALUE 02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901070" y="1591056"/>
            <a:ext cx="3597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 Effectiveness Study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4901070" y="1933956"/>
            <a:ext cx="35979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Formal measurement of search lift, impact on the consumer decision journey and multi-touch attribution, correlated to Microsoft Audience Network ad exposure.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887354" y="2537460"/>
            <a:ext cx="3625500" cy="438900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4997082" y="2578608"/>
            <a:ext cx="34062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Requires approximately 1.5M impressions within a 30-day period to run.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25196" y="3360420"/>
            <a:ext cx="8293200" cy="1275600"/>
          </a:xfrm>
          <a:prstGeom prst="roundRect">
            <a:avLst>
              <a:gd fmla="val 2688" name="adj"/>
            </a:avLst>
          </a:prstGeom>
          <a:solidFill>
            <a:srgbClr val="003726"/>
          </a:solidFill>
          <a:ln cap="flat" cmpd="sng" w="9525">
            <a:solidFill>
              <a:srgbClr val="003726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658368" y="3497580"/>
            <a:ext cx="27432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THE SCALE PATH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58368" y="3675888"/>
            <a:ext cx="3703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Unlocking the brand lift study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58368" y="3977640"/>
            <a:ext cx="50748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2E5D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B2E5D5"/>
                </a:solidFill>
                <a:latin typeface="Arial"/>
                <a:ea typeface="Arial"/>
                <a:cs typeface="Arial"/>
                <a:sym typeface="Arial"/>
              </a:rPr>
              <a:t>The July plan delivers an estimated 850,000 impressions. The study requires roughly 1.5M in a 30-day window, so it becomes available as the program scales — worth revisiting once the first flight establishes a delivery and completion baseline.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043955" y="3662172"/>
            <a:ext cx="12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JULY PLAN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6043955" y="3826764"/>
            <a:ext cx="12003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850K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7381265" y="3662172"/>
            <a:ext cx="12003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STUDY THRESHOLD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7381265" y="3826764"/>
            <a:ext cx="12003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1.5M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425196" y="4821174"/>
            <a:ext cx="5898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CAMP Digital  ·  Premium Streaming Media Plan  ·  Tri Peaks Air  ·  July 2026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7895615" y="4821174"/>
            <a:ext cx="8232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ill"/>
          <p:cNvGrpSpPr/>
          <p:nvPr/>
        </p:nvGrpSpPr>
        <p:grpSpPr>
          <a:xfrm>
            <a:off x="425196" y="265230"/>
            <a:ext cx="1460071" cy="182925"/>
            <a:chOff x="0" y="0"/>
            <a:chExt cx="1460071" cy="182925"/>
          </a:xfrm>
        </p:grpSpPr>
        <p:sp>
          <p:nvSpPr>
            <p:cNvPr id="247" name="Google Shape;247;pill"/>
            <p:cNvSpPr/>
            <p:nvPr/>
          </p:nvSpPr>
          <p:spPr>
            <a:xfrm>
              <a:off x="0" y="0"/>
              <a:ext cx="1460071" cy="182925"/>
            </a:xfrm>
            <a:prstGeom prst="roundRect">
              <a:avLst>
                <a:gd fmla="val 2264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ill"/>
            <p:cNvSpPr txBox="1"/>
            <p:nvPr/>
          </p:nvSpPr>
          <p:spPr>
            <a:xfrm>
              <a:off x="0" y="0"/>
              <a:ext cx="1460071" cy="18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GEOGRAPHIC TARGETING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202" name="Google Shape;202;p20"/>
          <p:cNvSpPr/>
          <p:nvPr/>
        </p:nvSpPr>
        <p:spPr>
          <a:xfrm>
            <a:off x="425196" y="452628"/>
            <a:ext cx="801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12 Communities. Zero Wasted Impressions.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25196" y="822960"/>
            <a:ext cx="7406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Delivery is confined to the Front Range communities Tri Peaks actively services — bought by name, one city at a time, rather than as a Denver DMA broadcast buy.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25196" y="1207008"/>
            <a:ext cx="5074800" cy="2757000"/>
          </a:xfrm>
          <a:prstGeom prst="roundRect">
            <a:avLst>
              <a:gd fmla="val 1244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603504" y="1385316"/>
            <a:ext cx="1499700" cy="507600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603504" y="1385316"/>
            <a:ext cx="149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Arvada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212848" y="1385316"/>
            <a:ext cx="1499700" cy="507600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2212848" y="1385316"/>
            <a:ext cx="149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822192" y="1385316"/>
            <a:ext cx="1499700" cy="507600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3822192" y="1385316"/>
            <a:ext cx="149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Bailey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03504" y="2016252"/>
            <a:ext cx="1499700" cy="507600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603504" y="2016252"/>
            <a:ext cx="149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Broomfield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2212848" y="2016252"/>
            <a:ext cx="1499700" cy="507600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2212848" y="2016252"/>
            <a:ext cx="149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Golden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822192" y="2016252"/>
            <a:ext cx="1499700" cy="507600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3822192" y="2016252"/>
            <a:ext cx="149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Littleton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603504" y="2647188"/>
            <a:ext cx="1499700" cy="507600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603504" y="2647188"/>
            <a:ext cx="149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Lone Tree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212848" y="2647188"/>
            <a:ext cx="1499700" cy="507600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2212848" y="2647188"/>
            <a:ext cx="149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Longmont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822192" y="2647188"/>
            <a:ext cx="1499700" cy="507600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3822192" y="2647188"/>
            <a:ext cx="149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Louisville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603504" y="3278124"/>
            <a:ext cx="1499700" cy="507600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603504" y="3278124"/>
            <a:ext cx="149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Thornton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212848" y="3278124"/>
            <a:ext cx="1499700" cy="507600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2212848" y="3278124"/>
            <a:ext cx="149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Westminster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3822192" y="3278124"/>
            <a:ext cx="1499700" cy="507600"/>
          </a:xfrm>
          <a:prstGeom prst="roundRect">
            <a:avLst>
              <a:gd fmla="val 9459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3822192" y="3278124"/>
            <a:ext cx="1499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Wheat Ridge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705856" y="1207008"/>
            <a:ext cx="3012600" cy="857400"/>
          </a:xfrm>
          <a:prstGeom prst="roundRect">
            <a:avLst>
              <a:gd fmla="val 4000" name="adj"/>
            </a:avLst>
          </a:prstGeom>
          <a:solidFill>
            <a:srgbClr val="003726"/>
          </a:solidFill>
          <a:ln cap="flat" cmpd="sng" w="9525">
            <a:solidFill>
              <a:srgbClr val="003726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897880" y="1344168"/>
            <a:ext cx="2628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COMMUNITIES TARGETED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5877306" y="1508760"/>
            <a:ext cx="267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lang="en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5897880" y="1837944"/>
            <a:ext cx="2628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B2E5D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B2E5D5"/>
                </a:solidFill>
                <a:latin typeface="Arial"/>
                <a:ea typeface="Arial"/>
                <a:cs typeface="Arial"/>
                <a:sym typeface="Arial"/>
              </a:rPr>
              <a:t>Named city-level geo targets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5705856" y="2156841"/>
            <a:ext cx="3012600" cy="8574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5897880" y="2294001"/>
            <a:ext cx="2628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DEVICE SCOPE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5877306" y="2458593"/>
            <a:ext cx="267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42+ inch TV Screens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5897880" y="2787777"/>
            <a:ext cx="2628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CTV-led, cross-screen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5705856" y="3106674"/>
            <a:ext cx="3012600" cy="8574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5897880" y="3243834"/>
            <a:ext cx="2628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FLIGHT LENGTH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5877306" y="3408426"/>
            <a:ext cx="267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2100"/>
              <a:buFont typeface="Arial"/>
              <a:buNone/>
            </a:pPr>
            <a:r>
              <a:rPr b="1" lang="en" sz="21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30 Days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897880" y="3737610"/>
            <a:ext cx="2628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July 2026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25196" y="4073652"/>
            <a:ext cx="8293200" cy="548400"/>
          </a:xfrm>
          <a:prstGeom prst="roundRect">
            <a:avLst>
              <a:gd fmla="val 5625" name="adj"/>
            </a:avLst>
          </a:prstGeom>
          <a:solidFill>
            <a:srgbClr val="A7C142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630936" y="4162806"/>
            <a:ext cx="788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30936" y="4313682"/>
            <a:ext cx="7881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A Denver DMA broadcast buy scatters impressions across the whole metro, most of them in front of households Tri Peaks cannot profitably serve. City-level CTV targeting spends the same dollars only where the trucks already run.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425196" y="4821174"/>
            <a:ext cx="5898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CAMP Digital  ·  Premium Streaming Media Plan  ·  Tri Peaks Air  ·  July 2026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7895615" y="4821174"/>
            <a:ext cx="8232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ill"/>
          <p:cNvGrpSpPr/>
          <p:nvPr/>
        </p:nvGrpSpPr>
        <p:grpSpPr>
          <a:xfrm>
            <a:off x="425196" y="265230"/>
            <a:ext cx="1012300" cy="182925"/>
            <a:chOff x="0" y="0"/>
            <a:chExt cx="1012300" cy="182925"/>
          </a:xfrm>
        </p:grpSpPr>
        <p:sp>
          <p:nvSpPr>
            <p:cNvPr id="275" name="Google Shape;275;pill"/>
            <p:cNvSpPr/>
            <p:nvPr/>
          </p:nvSpPr>
          <p:spPr>
            <a:xfrm>
              <a:off x="0" y="0"/>
              <a:ext cx="1012300" cy="182925"/>
            </a:xfrm>
            <a:prstGeom prst="roundRect">
              <a:avLst>
                <a:gd fmla="val 2264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ill"/>
            <p:cNvSpPr txBox="1"/>
            <p:nvPr/>
          </p:nvSpPr>
          <p:spPr>
            <a:xfrm>
              <a:off x="0" y="0"/>
              <a:ext cx="1012300" cy="18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THE PROPOSAL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252" name="Google Shape;252;p21"/>
          <p:cNvSpPr/>
          <p:nvPr/>
        </p:nvSpPr>
        <p:spPr>
          <a:xfrm>
            <a:off x="425196" y="452628"/>
            <a:ext cx="801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Tri Peaks Air Premium Streaming Plan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425196" y="822960"/>
            <a:ext cx="74064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One campaign, two ad groups, each with individual targeting — built to create demand at the top of the funnel and recapture it at the bottom.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425196" y="1207008"/>
            <a:ext cx="8293200" cy="589800"/>
          </a:xfrm>
          <a:prstGeom prst="roundRect">
            <a:avLst>
              <a:gd fmla="val 5814" name="adj"/>
            </a:avLst>
          </a:prstGeom>
          <a:solidFill>
            <a:srgbClr val="003726"/>
          </a:solidFill>
          <a:ln cap="flat" cmpd="sng" w="9525">
            <a:solidFill>
              <a:srgbClr val="003726"/>
            </a:solidFill>
            <a:prstDash val="solid"/>
            <a:round/>
            <a:headEnd len="sm" w="sm" type="none"/>
            <a:tailEnd len="sm" w="sm" type="none"/>
          </a:ln>
          <a:effectLst>
            <a:outerShdw blurRad="95250" rotWithShape="0" algn="bl" dir="5400000" dist="13335">
              <a:srgbClr val="000000">
                <a:alpha val="70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617220" y="1303020"/>
            <a:ext cx="1135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17220" y="1453896"/>
            <a:ext cx="11355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 Audience Network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1999450" y="1303020"/>
            <a:ext cx="1135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PLACEMENT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1999450" y="1453896"/>
            <a:ext cx="11355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CTV / OTT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3381680" y="1303020"/>
            <a:ext cx="1135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AD UNITS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3381680" y="1453896"/>
            <a:ext cx="11355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:05 – :90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763910" y="1303020"/>
            <a:ext cx="1135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FLIGHT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4763910" y="1453896"/>
            <a:ext cx="11355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days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6146140" y="1303020"/>
            <a:ext cx="1135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DEVICE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6146140" y="1453896"/>
            <a:ext cx="11355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Cross Device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7528370" y="1303020"/>
            <a:ext cx="1135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PRICING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7528370" y="1453896"/>
            <a:ext cx="11355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CPCV · $0.03 est. bid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7" name="Google Shape;267;p21"/>
          <p:cNvGraphicFramePr/>
          <p:nvPr/>
        </p:nvGraphicFramePr>
        <p:xfrm>
          <a:off x="425196" y="19751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{FAEAA2BA-DEC5-4F7B-9BCD-5BED20CD59F3}</a:tableStyleId>
              </a:tblPr>
              <a:tblGrid>
                <a:gridCol w="2400300"/>
                <a:gridCol w="2606050"/>
                <a:gridCol w="1200150"/>
                <a:gridCol w="1268750"/>
                <a:gridCol w="8181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 group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Targeting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Est. impressions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Monthly investment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Implied CPM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72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26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0037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In-Market — Relevant Audiences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26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Home &amp; Garden + Building Construction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26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800,000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26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$9,000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26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$11.25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26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0037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Remarketing — Site Visitors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26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Remarketing list — prior site visitors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26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50,000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26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$1,000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26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$20.00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26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0037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26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0037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campaign / 2 ad groups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23D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0082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850,000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23D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0082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$10,000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23D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rgbClr val="0082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$11.76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150" marB="41150" marR="96025" marL="96025" anchor="ctr">
                    <a:lnL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A7C14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7F2"/>
                    </a:solidFill>
                  </a:tcPr>
                </a:tc>
              </a:tr>
            </a:tbl>
          </a:graphicData>
        </a:graphic>
      </p:graphicFrame>
      <p:sp>
        <p:nvSpPr>
          <p:cNvPr id="268" name="Google Shape;268;p21"/>
          <p:cNvSpPr/>
          <p:nvPr/>
        </p:nvSpPr>
        <p:spPr>
          <a:xfrm>
            <a:off x="425196" y="3579876"/>
            <a:ext cx="8293200" cy="548400"/>
          </a:xfrm>
          <a:prstGeom prst="roundRect">
            <a:avLst>
              <a:gd fmla="val 5625" name="adj"/>
            </a:avLst>
          </a:prstGeom>
          <a:solidFill>
            <a:srgbClr val="A7C142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630936" y="3669030"/>
            <a:ext cx="788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READ THIS ALONGSIDE THE GEOGRAPHY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630936" y="3819906"/>
            <a:ext cx="7881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800,000 in-market impressions build the brand across 12 Front Range communities; 50,000 remarketing impressions keep Tri Peaks in front of households that have already visited the site. Every dollar of the $10,000 is working media.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425196" y="4210812"/>
            <a:ext cx="829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i="1"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All impressions are estimates and are not guaranteed; pricing is dynamic based on market demand. All dollars are NET USD. Implied CPM is derived from monthly investment ÷ estimated impressions.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425196" y="4821174"/>
            <a:ext cx="58980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CAMP Digital  ·  Premium Streaming Media Plan  ·  Tri Peaks Air  ·  July 2026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7895615" y="4821174"/>
            <a:ext cx="8232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726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ill"/>
          <p:cNvGrpSpPr/>
          <p:nvPr/>
        </p:nvGrpSpPr>
        <p:grpSpPr>
          <a:xfrm>
            <a:off x="425196" y="340560"/>
            <a:ext cx="1376026" cy="182925"/>
            <a:chOff x="0" y="0"/>
            <a:chExt cx="1376026" cy="182925"/>
          </a:xfrm>
        </p:grpSpPr>
        <p:sp>
          <p:nvSpPr>
            <p:cNvPr id="308" name="Google Shape;308;pill"/>
            <p:cNvSpPr/>
            <p:nvPr/>
          </p:nvSpPr>
          <p:spPr>
            <a:xfrm>
              <a:off x="0" y="0"/>
              <a:ext cx="1376026" cy="182925"/>
            </a:xfrm>
            <a:prstGeom prst="roundRect">
              <a:avLst>
                <a:gd fmla="val 22640" name="adj"/>
              </a:avLst>
            </a:prstGeom>
            <a:solidFill>
              <a:srgbClr val="A7C1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ill"/>
            <p:cNvSpPr txBox="1"/>
            <p:nvPr/>
          </p:nvSpPr>
          <p:spPr>
            <a:xfrm>
              <a:off x="0" y="0"/>
              <a:ext cx="1376026" cy="18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chemeClr val="lt1"/>
                  </a:solidFill>
                </a:rPr>
                <a:t>THE RECOMMENDATION</a:t>
              </a:r>
              <a:endParaRPr b="1" sz="700">
                <a:solidFill>
                  <a:schemeClr val="lt1"/>
                </a:solidFill>
              </a:endParaRPr>
            </a:p>
          </p:txBody>
        </p:sp>
      </p:grpSp>
      <p:sp>
        <p:nvSpPr>
          <p:cNvPr id="280" name="Google Shape;280;p22"/>
          <p:cNvSpPr/>
          <p:nvPr/>
        </p:nvSpPr>
        <p:spPr>
          <a:xfrm>
            <a:off x="425196" y="548640"/>
            <a:ext cx="829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Tri Peaks Air Receives for $10,000 a Month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25196" y="1110996"/>
            <a:ext cx="5143500" cy="2510100"/>
          </a:xfrm>
          <a:prstGeom prst="roundRect">
            <a:avLst>
              <a:gd fmla="val 1366" name="adj"/>
            </a:avLst>
          </a:prstGeom>
          <a:solidFill>
            <a:srgbClr val="006A49"/>
          </a:solidFill>
          <a:ln cap="flat" cmpd="sng" w="9525">
            <a:solidFill>
              <a:srgbClr val="006A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658368" y="1357884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932688" y="1357884"/>
            <a:ext cx="438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850,000 estimated premium CTV/OTT impressions over a 30-day flight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658368" y="1721358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932688" y="1721358"/>
            <a:ext cx="438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Delivery confined to 12 named Front Range communities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658368" y="2084832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932688" y="2084832"/>
            <a:ext cx="438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Two in-market audience pools plus prior-site-visitor retargeting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658368" y="2448306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932688" y="2448306"/>
            <a:ext cx="438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Direct-to-engine buying — no reseller markup on any impression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658368" y="2811780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932688" y="2811780"/>
            <a:ext cx="438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Impression-Based Remarketing audience, included at no extra cost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658368" y="3175254"/>
            <a:ext cx="219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932688" y="3175254"/>
            <a:ext cx="438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App-level placement, CPM and completion reporting every month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5788152" y="1110996"/>
            <a:ext cx="2930400" cy="1179600"/>
          </a:xfrm>
          <a:prstGeom prst="roundRect">
            <a:avLst>
              <a:gd fmla="val 2907" name="adj"/>
            </a:avLst>
          </a:prstGeom>
          <a:solidFill>
            <a:srgbClr val="A7C142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6007608" y="1289304"/>
            <a:ext cx="2491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MONTHLY INVESTMENT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5987034" y="1453896"/>
            <a:ext cx="25326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3200"/>
              <a:buFont typeface="Arial"/>
              <a:buNone/>
            </a:pPr>
            <a:r>
              <a:rPr b="1" lang="en" sz="32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$10,000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6007608" y="1961388"/>
            <a:ext cx="2491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800"/>
              <a:buFont typeface="Arial"/>
              <a:buNone/>
            </a:pPr>
            <a:r>
              <a:rPr lang="en" sz="8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NET USD  ·  100% working media  ·  fully scalable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5788152" y="2414016"/>
            <a:ext cx="2930400" cy="1206900"/>
          </a:xfrm>
          <a:prstGeom prst="roundRect">
            <a:avLst>
              <a:gd fmla="val 2841" name="adj"/>
            </a:avLst>
          </a:prstGeom>
          <a:solidFill>
            <a:srgbClr val="006A49"/>
          </a:solidFill>
          <a:ln cap="flat" cmpd="sng" w="9525">
            <a:solidFill>
              <a:srgbClr val="006A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6007608" y="2564892"/>
            <a:ext cx="2491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C142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A7C142"/>
                </a:solidFill>
                <a:latin typeface="Arial"/>
                <a:ea typeface="Arial"/>
                <a:cs typeface="Arial"/>
                <a:sym typeface="Arial"/>
              </a:rPr>
              <a:t>NEXT STEP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6007608" y="2729484"/>
            <a:ext cx="2491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Complimentary local CTV audit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6007608" y="3072384"/>
            <a:ext cx="2491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2E5D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B2E5D5"/>
                </a:solidFill>
                <a:latin typeface="Arial"/>
                <a:ea typeface="Arial"/>
                <a:cs typeface="Arial"/>
                <a:sym typeface="Arial"/>
              </a:rPr>
              <a:t>A real-time inventory forecast across Tri Peaks' 12 communities, confirming the streaming audience supports a sustained television presence — before a dollar is committed.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packed/ppt/media/image12.png" id="302" name="Google Shape;3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96" y="3922776"/>
            <a:ext cx="1179576" cy="47320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2"/>
          <p:cNvSpPr/>
          <p:nvPr/>
        </p:nvSpPr>
        <p:spPr>
          <a:xfrm>
            <a:off x="1865376" y="3991356"/>
            <a:ext cx="438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to own the big screen in your service territory?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6318275" y="3991356"/>
            <a:ext cx="2400300" cy="425100"/>
          </a:xfrm>
          <a:prstGeom prst="roundRect">
            <a:avLst>
              <a:gd fmla="val 14516" name="adj"/>
            </a:avLst>
          </a:prstGeom>
          <a:solidFill>
            <a:srgbClr val="A7C142"/>
          </a:solidFill>
          <a:ln cap="flat" cmpd="sng" w="9525">
            <a:solidFill>
              <a:srgbClr val="A7C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6318275" y="3991356"/>
            <a:ext cx="2400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726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003726"/>
                </a:solidFill>
                <a:latin typeface="Arial"/>
                <a:ea typeface="Arial"/>
                <a:cs typeface="Arial"/>
                <a:sym typeface="Arial"/>
              </a:rPr>
              <a:t>Request Your Free CTV Audit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425196" y="4649724"/>
            <a:ext cx="829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E5D5"/>
              </a:buClr>
              <a:buSzPts val="600"/>
              <a:buFont typeface="Arial"/>
              <a:buNone/>
            </a:pPr>
            <a:r>
              <a:rPr i="1" lang="en" sz="600">
                <a:solidFill>
                  <a:srgbClr val="B2E5D5"/>
                </a:solidFill>
                <a:latin typeface="Arial"/>
                <a:ea typeface="Arial"/>
                <a:cs typeface="Arial"/>
                <a:sym typeface="Arial"/>
              </a:rPr>
              <a:t>All impressions are estimates and are not guaranteed. Pricing is dynamic based on market demand. All dollars are NET USD.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