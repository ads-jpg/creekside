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Int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BB34D20-858C-4693-A51C-D96050AB26CA}">
  <a:tblStyle styleId="{4BB34D20-858C-4693-A51C-D96050AB26C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Inter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7" Type="http://schemas.openxmlformats.org/officeDocument/2006/relationships/font" Target="fonts/Int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00"/>
              <a:t>Source: Monarch Home - Media Plan worksheet. In-market line: 1,800,000 impressions / $18,000 (row 6). Remarketing line: 100,000 impressions / $2,000 (row 9). Workbook TOTAL cell M18 reads $20,000, which agrees with the sum of both line items. Implied CPMs are derived, not quoted in the workbook.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" name="Google Shape;60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00"/>
              <a:t>Key change vs. a smaller plan: at an estimated 1.9M impressions in a 30-day window the campaign clears the ~1.5M threshold the Ad Effectiveness Study requires, so both added-value components are available from the first flight rather than at a later scale step.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3" name="Google Shape;63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65d10e23a_7_0)">
  <p:cSld name="Generated (g3f65d10e23a_7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4">
            <a:alphaModFix/>
          </a:blip>
          <a:srcRect b="12932" l="5389" r="5094" t="44"/>
          <a:stretch/>
        </p:blipFill>
        <p:spPr>
          <a:xfrm>
            <a:off x="0" y="0"/>
            <a:ext cx="3440400" cy="4479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4"/>
          <p:cNvGrpSpPr/>
          <p:nvPr/>
        </p:nvGrpSpPr>
        <p:grpSpPr>
          <a:xfrm>
            <a:off x="3857625" y="642938"/>
            <a:ext cx="4786425" cy="3929175"/>
            <a:chOff x="5143500" y="857250"/>
            <a:chExt cx="6381900" cy="5238900"/>
          </a:xfrm>
        </p:grpSpPr>
        <p:grpSp>
          <p:nvGrpSpPr>
            <p:cNvPr id="57" name="Google Shape;57;p14"/>
            <p:cNvGrpSpPr/>
            <p:nvPr/>
          </p:nvGrpSpPr>
          <p:grpSpPr>
            <a:xfrm>
              <a:off x="8953500" y="857250"/>
              <a:ext cx="2571900" cy="285900"/>
              <a:chOff x="0" y="0"/>
              <a:chExt cx="2571900" cy="285900"/>
            </a:xfrm>
          </p:grpSpPr>
          <p:sp>
            <p:nvSpPr>
              <p:cNvPr id="58" name="Google Shape;58;p14"/>
              <p:cNvSpPr/>
              <p:nvPr/>
            </p:nvSpPr>
            <p:spPr>
              <a:xfrm>
                <a:off x="0" y="0"/>
                <a:ext cx="2571900" cy="285900"/>
              </a:xfrm>
              <a:prstGeom prst="roundRect">
                <a:avLst>
                  <a:gd fmla="val 50000" name="adj"/>
                </a:avLst>
              </a:prstGeom>
              <a:solidFill>
                <a:srgbClr val="CCFFE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14"/>
              <p:cNvSpPr txBox="1"/>
              <p:nvPr/>
            </p:nvSpPr>
            <p:spPr>
              <a:xfrm>
                <a:off x="0" y="0"/>
                <a:ext cx="2571900" cy="2859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1" i="0" lang="en" sz="700" u="none" cap="none" strike="noStrike">
                    <a:solidFill>
                      <a:schemeClr val="lt1"/>
                    </a:solidFill>
                    <a:highlight>
                      <a:srgbClr val="A7C142"/>
                    </a:highlight>
                    <a:latin typeface="Arial"/>
                    <a:ea typeface="Arial"/>
                    <a:cs typeface="Arial"/>
                    <a:sym typeface="Arial"/>
                  </a:rPr>
                  <a:t>CAMPAIGN PERFORMANCE REVIEW</a:t>
                </a:r>
                <a:endParaRPr b="1" i="0" sz="700" u="none" cap="none" strike="noStrike">
                  <a:solidFill>
                    <a:schemeClr val="lt1"/>
                  </a:solidFill>
                  <a:highlight>
                    <a:srgbClr val="A7C142"/>
                  </a:highlight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0" name="Google Shape;60;p14"/>
            <p:cNvSpPr txBox="1"/>
            <p:nvPr/>
          </p:nvSpPr>
          <p:spPr>
            <a:xfrm>
              <a:off x="5143500" y="1809750"/>
              <a:ext cx="6381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CAMP DIGITAL PREMIUM STREAMING OPTIMIZATION</a:t>
              </a:r>
              <a:endParaRPr b="1" i="0" sz="700" u="none" cap="none" strike="noStrike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4"/>
            <p:cNvSpPr txBox="1"/>
            <p:nvPr/>
          </p:nvSpPr>
          <p:spPr>
            <a:xfrm>
              <a:off x="5143500" y="2190750"/>
              <a:ext cx="63819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" sz="2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Happy Camper Home Services</a:t>
              </a:r>
              <a:endParaRPr b="1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4"/>
            <p:cNvSpPr txBox="1"/>
            <p:nvPr/>
          </p:nvSpPr>
          <p:spPr>
            <a:xfrm>
              <a:off x="5143500" y="2857500"/>
              <a:ext cx="6381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Premium Streaming (OTT / CTV) Campaign Review</a:t>
              </a:r>
              <a:endParaRPr b="1" i="0" sz="1800" u="none" cap="none" strike="noStrike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4"/>
            <p:cNvSpPr txBox="1"/>
            <p:nvPr/>
          </p:nvSpPr>
          <p:spPr>
            <a:xfrm>
              <a:off x="5143500" y="4000500"/>
              <a:ext cx="638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Full Month Performance Report (July 1 – July 31)</a:t>
              </a:r>
              <a:endParaRPr b="1" i="0" sz="900" u="none" cap="none" strike="noStrike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5143500" y="4476750"/>
              <a:ext cx="6381900" cy="14400"/>
            </a:xfrm>
            <a:prstGeom prst="rect">
              <a:avLst/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4"/>
            <p:cNvSpPr txBox="1"/>
            <p:nvPr/>
          </p:nvSpPr>
          <p:spPr>
            <a:xfrm>
              <a:off x="5143500" y="4667250"/>
              <a:ext cx="6381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800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Prepared by:</a:t>
              </a:r>
              <a:r>
                <a:rPr b="0" i="0" lang="en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CAMP Digital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800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Platform:</a:t>
              </a:r>
              <a:r>
                <a:rPr b="0" i="0" lang="en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Microsoft Advertising Network — Connected TV &amp; Premium OTT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800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Core Market:</a:t>
              </a:r>
              <a:r>
                <a:rPr b="0" i="0" lang="en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Harrisburg-Lancaster-Lebanon-York, PA DMA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 rotWithShape="1">
          <a:blip r:embed="rId4">
            <a:alphaModFix/>
          </a:blip>
          <a:srcRect b="0" l="2874" r="2884" t="0"/>
          <a:stretch/>
        </p:blipFill>
        <p:spPr>
          <a:xfrm>
            <a:off x="5524500" y="0"/>
            <a:ext cx="36195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15"/>
          <p:cNvGrpSpPr/>
          <p:nvPr/>
        </p:nvGrpSpPr>
        <p:grpSpPr>
          <a:xfrm>
            <a:off x="476250" y="428625"/>
            <a:ext cx="4762500" cy="1143000"/>
            <a:chOff x="0" y="0"/>
            <a:chExt cx="4762500" cy="1143000"/>
          </a:xfrm>
        </p:grpSpPr>
        <p:sp>
          <p:nvSpPr>
            <p:cNvPr id="72" name="Google Shape;72;p15"/>
            <p:cNvSpPr/>
            <p:nvPr/>
          </p:nvSpPr>
          <p:spPr>
            <a:xfrm>
              <a:off x="0" y="0"/>
              <a:ext cx="47625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5"/>
            <p:cNvSpPr txBox="1"/>
            <p:nvPr/>
          </p:nvSpPr>
          <p:spPr>
            <a:xfrm>
              <a:off x="0" y="0"/>
              <a:ext cx="4762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5"/>
                <a:buFont typeface="Arial"/>
                <a:buNone/>
              </a:pPr>
              <a:r>
                <a:rPr b="1" i="0" lang="en" sz="2405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The Same Big-Screen Placements as National Brands. Zero Middlemen.</a:t>
              </a:r>
              <a:endParaRPr b="1" i="0" sz="2405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" name="Google Shape;74;p15"/>
          <p:cNvGrpSpPr/>
          <p:nvPr/>
        </p:nvGrpSpPr>
        <p:grpSpPr>
          <a:xfrm>
            <a:off x="476250" y="1714500"/>
            <a:ext cx="2286000" cy="1762200"/>
            <a:chOff x="0" y="0"/>
            <a:chExt cx="2286000" cy="1762200"/>
          </a:xfrm>
        </p:grpSpPr>
        <p:sp>
          <p:nvSpPr>
            <p:cNvPr id="75" name="Google Shape;75;p15"/>
            <p:cNvSpPr/>
            <p:nvPr/>
          </p:nvSpPr>
          <p:spPr>
            <a:xfrm>
              <a:off x="0" y="0"/>
              <a:ext cx="2286000" cy="1762200"/>
            </a:xfrm>
            <a:prstGeom prst="roundRect">
              <a:avLst>
                <a:gd fmla="val 4324" name="adj"/>
              </a:avLst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5"/>
            <p:cNvSpPr txBox="1"/>
            <p:nvPr/>
          </p:nvSpPr>
          <p:spPr>
            <a:xfrm>
              <a:off x="0" y="0"/>
              <a:ext cx="2286000" cy="17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0"/>
                <a:buFont typeface="Arial"/>
                <a:buNone/>
              </a:pPr>
              <a:r>
                <a:rPr b="1" i="0" lang="en" sz="125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Premium Publisher Access</a:t>
              </a:r>
              <a:endParaRPr b="1" i="0" sz="1250" u="none" cap="none" strike="noStrike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" sz="950" u="none" cap="none" strike="noStrike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Full-screen, non-skippable living-room TV ads across Max, Hulu, Disney+, Roku, Paramount+, YouTube TV, Peacock, Samsung TV+, Sling, and Tubi.</a:t>
              </a:r>
              <a:endParaRPr b="0" i="0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" name="Google Shape;77;p15"/>
          <p:cNvGrpSpPr/>
          <p:nvPr/>
        </p:nvGrpSpPr>
        <p:grpSpPr>
          <a:xfrm>
            <a:off x="2952750" y="1714500"/>
            <a:ext cx="2286000" cy="1762200"/>
            <a:chOff x="0" y="0"/>
            <a:chExt cx="2286000" cy="1762200"/>
          </a:xfrm>
        </p:grpSpPr>
        <p:sp>
          <p:nvSpPr>
            <p:cNvPr id="78" name="Google Shape;78;p15"/>
            <p:cNvSpPr/>
            <p:nvPr/>
          </p:nvSpPr>
          <p:spPr>
            <a:xfrm>
              <a:off x="0" y="0"/>
              <a:ext cx="2286000" cy="1762200"/>
            </a:xfrm>
            <a:prstGeom prst="roundRect">
              <a:avLst>
                <a:gd fmla="val 4324" name="adj"/>
              </a:avLst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5"/>
            <p:cNvSpPr txBox="1"/>
            <p:nvPr/>
          </p:nvSpPr>
          <p:spPr>
            <a:xfrm>
              <a:off x="0" y="0"/>
              <a:ext cx="2286000" cy="17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0"/>
                <a:buFont typeface="Arial"/>
                <a:buNone/>
              </a:pPr>
              <a:r>
                <a:rPr b="1" i="0" lang="en" sz="125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Zip-Code &amp; DMA Precision</a:t>
              </a:r>
              <a:endParaRPr b="1" i="0" sz="1250" u="none" cap="none" strike="noStrike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" sz="950" u="none" cap="none" strike="noStrike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Hyper-local targeting ensures your ads only air inside your active plumbing, HVAC, or electrical service footprint.</a:t>
              </a:r>
              <a:endParaRPr b="0" i="0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" name="Google Shape;80;p15"/>
          <p:cNvGrpSpPr/>
          <p:nvPr/>
        </p:nvGrpSpPr>
        <p:grpSpPr>
          <a:xfrm>
            <a:off x="476250" y="3667125"/>
            <a:ext cx="4762500" cy="1047900"/>
            <a:chOff x="0" y="0"/>
            <a:chExt cx="4762500" cy="1047900"/>
          </a:xfrm>
        </p:grpSpPr>
        <p:sp>
          <p:nvSpPr>
            <p:cNvPr id="81" name="Google Shape;81;p15"/>
            <p:cNvSpPr/>
            <p:nvPr/>
          </p:nvSpPr>
          <p:spPr>
            <a:xfrm>
              <a:off x="0" y="0"/>
              <a:ext cx="4762500" cy="1047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5"/>
            <p:cNvSpPr txBox="1"/>
            <p:nvPr/>
          </p:nvSpPr>
          <p:spPr>
            <a:xfrm>
              <a:off x="0" y="0"/>
              <a:ext cx="4762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0"/>
                <a:buFont typeface="Arial"/>
                <a:buNone/>
              </a:pPr>
              <a:r>
                <a:rPr b="1" i="0" lang="en" sz="125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Unbiased Platform Access</a:t>
              </a:r>
              <a:endParaRPr b="1" i="0" sz="1250" u="none" cap="none" strike="noStrike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" sz="950" u="none" cap="none" strike="noStrike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Agnostic placement across both Microsoft Advertising and Google Ads networks — we optimize for your results, not platform commissions.</a:t>
              </a:r>
              <a:endParaRPr b="0" i="0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6"/>
          <p:cNvGrpSpPr/>
          <p:nvPr/>
        </p:nvGrpSpPr>
        <p:grpSpPr>
          <a:xfrm>
            <a:off x="476250" y="285750"/>
            <a:ext cx="1238400" cy="209700"/>
            <a:chOff x="0" y="0"/>
            <a:chExt cx="1238400" cy="209700"/>
          </a:xfrm>
        </p:grpSpPr>
        <p:sp>
          <p:nvSpPr>
            <p:cNvPr id="88" name="Google Shape;88;p16"/>
            <p:cNvSpPr/>
            <p:nvPr/>
          </p:nvSpPr>
          <p:spPr>
            <a:xfrm>
              <a:off x="0" y="0"/>
              <a:ext cx="1238400" cy="209700"/>
            </a:xfrm>
            <a:prstGeom prst="roundRect">
              <a:avLst>
                <a:gd fmla="val 18181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6"/>
            <p:cNvSpPr txBox="1"/>
            <p:nvPr/>
          </p:nvSpPr>
          <p:spPr>
            <a:xfrm>
              <a:off x="0" y="0"/>
              <a:ext cx="12384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INVENTORY ACCESS</a:t>
              </a:r>
              <a:endParaRPr b="1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" name="Google Shape;90;p16"/>
          <p:cNvGrpSpPr/>
          <p:nvPr/>
        </p:nvGrpSpPr>
        <p:grpSpPr>
          <a:xfrm>
            <a:off x="476250" y="571500"/>
            <a:ext cx="8191500" cy="762150"/>
            <a:chOff x="0" y="0"/>
            <a:chExt cx="8191500" cy="762150"/>
          </a:xfrm>
        </p:grpSpPr>
        <p:sp>
          <p:nvSpPr>
            <p:cNvPr id="91" name="Google Shape;91;p16"/>
            <p:cNvSpPr txBox="1"/>
            <p:nvPr/>
          </p:nvSpPr>
          <p:spPr>
            <a:xfrm>
              <a:off x="0" y="0"/>
              <a:ext cx="819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" sz="2000" u="none" cap="none" strike="noStrike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The Same Big-Screen Placements as National Brands</a:t>
              </a:r>
              <a:endParaRPr b="1" i="0" sz="20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6"/>
            <p:cNvSpPr txBox="1"/>
            <p:nvPr/>
          </p:nvSpPr>
          <p:spPr>
            <a:xfrm>
              <a:off x="0" y="400050"/>
              <a:ext cx="8191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" sz="950" u="none" cap="none" strike="noStrike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Direct access to premium streaming inventory — full-screen, non-skippable, sound-on advertising delivered on television screens inside premium content environments.</a:t>
              </a:r>
              <a:endParaRPr b="0" i="0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" name="Google Shape;93;p16"/>
          <p:cNvGrpSpPr/>
          <p:nvPr/>
        </p:nvGrpSpPr>
        <p:grpSpPr>
          <a:xfrm>
            <a:off x="476250" y="1476375"/>
            <a:ext cx="1162200" cy="695400"/>
            <a:chOff x="0" y="0"/>
            <a:chExt cx="1162200" cy="695400"/>
          </a:xfrm>
        </p:grpSpPr>
        <p:sp>
          <p:nvSpPr>
            <p:cNvPr id="94" name="Google Shape;94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YouTube Select</a:t>
              </a:r>
              <a:endParaRPr b="1" i="0" sz="1100" u="none" cap="none" strike="noStrike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" name="Google Shape;96;p16"/>
          <p:cNvGrpSpPr/>
          <p:nvPr/>
        </p:nvGrpSpPr>
        <p:grpSpPr>
          <a:xfrm>
            <a:off x="1733550" y="1476375"/>
            <a:ext cx="1162200" cy="695400"/>
            <a:chOff x="0" y="0"/>
            <a:chExt cx="1162200" cy="695400"/>
          </a:xfrm>
        </p:grpSpPr>
        <p:sp>
          <p:nvSpPr>
            <p:cNvPr id="97" name="Google Shape;97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Hulu</a:t>
              </a:r>
              <a:endParaRPr b="1" i="0" sz="1100" u="none" cap="none" strike="noStrike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" name="Google Shape;99;p16"/>
          <p:cNvGrpSpPr/>
          <p:nvPr/>
        </p:nvGrpSpPr>
        <p:grpSpPr>
          <a:xfrm>
            <a:off x="2990850" y="1476375"/>
            <a:ext cx="1162200" cy="695400"/>
            <a:chOff x="0" y="0"/>
            <a:chExt cx="1162200" cy="695400"/>
          </a:xfrm>
        </p:grpSpPr>
        <p:sp>
          <p:nvSpPr>
            <p:cNvPr id="100" name="Google Shape;100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Disney+</a:t>
              </a:r>
              <a:endParaRPr b="1" i="0" sz="1100" u="none" cap="none" strike="noStrike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" name="Google Shape;102;p16"/>
          <p:cNvGrpSpPr/>
          <p:nvPr/>
        </p:nvGrpSpPr>
        <p:grpSpPr>
          <a:xfrm>
            <a:off x="4248150" y="1476375"/>
            <a:ext cx="1162200" cy="695400"/>
            <a:chOff x="0" y="0"/>
            <a:chExt cx="1162200" cy="695400"/>
          </a:xfrm>
        </p:grpSpPr>
        <p:sp>
          <p:nvSpPr>
            <p:cNvPr id="103" name="Google Shape;103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1" i="0" sz="1100" u="none" cap="none" strike="noStrike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" name="Google Shape;105;p16"/>
          <p:cNvGrpSpPr/>
          <p:nvPr/>
        </p:nvGrpSpPr>
        <p:grpSpPr>
          <a:xfrm>
            <a:off x="476250" y="2266950"/>
            <a:ext cx="1162200" cy="695400"/>
            <a:chOff x="0" y="0"/>
            <a:chExt cx="1162200" cy="695400"/>
          </a:xfrm>
        </p:grpSpPr>
        <p:sp>
          <p:nvSpPr>
            <p:cNvPr id="106" name="Google Shape;106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Paramount+</a:t>
              </a:r>
              <a:endParaRPr b="1" i="0" sz="1100" u="none" cap="none" strike="noStrike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" name="Google Shape;108;p16"/>
          <p:cNvGrpSpPr/>
          <p:nvPr/>
        </p:nvGrpSpPr>
        <p:grpSpPr>
          <a:xfrm>
            <a:off x="1733550" y="2266950"/>
            <a:ext cx="1162200" cy="695400"/>
            <a:chOff x="0" y="0"/>
            <a:chExt cx="1162200" cy="695400"/>
          </a:xfrm>
        </p:grpSpPr>
        <p:sp>
          <p:nvSpPr>
            <p:cNvPr id="109" name="Google Shape;109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Peacock</a:t>
              </a:r>
              <a:endParaRPr b="1" i="0" sz="1100" u="none" cap="none" strike="noStrike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" name="Google Shape;111;p16"/>
          <p:cNvGrpSpPr/>
          <p:nvPr/>
        </p:nvGrpSpPr>
        <p:grpSpPr>
          <a:xfrm>
            <a:off x="2990850" y="2266950"/>
            <a:ext cx="1162200" cy="695400"/>
            <a:chOff x="0" y="0"/>
            <a:chExt cx="1162200" cy="695400"/>
          </a:xfrm>
        </p:grpSpPr>
        <p:sp>
          <p:nvSpPr>
            <p:cNvPr id="112" name="Google Shape;112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Roku Channel</a:t>
              </a:r>
              <a:endParaRPr b="1" i="0" sz="1100" u="none" cap="none" strike="noStrike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" name="Google Shape;114;p16"/>
          <p:cNvGrpSpPr/>
          <p:nvPr/>
        </p:nvGrpSpPr>
        <p:grpSpPr>
          <a:xfrm>
            <a:off x="4248150" y="2266950"/>
            <a:ext cx="1162200" cy="695400"/>
            <a:chOff x="0" y="0"/>
            <a:chExt cx="1162200" cy="695400"/>
          </a:xfrm>
        </p:grpSpPr>
        <p:sp>
          <p:nvSpPr>
            <p:cNvPr id="115" name="Google Shape;115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Samsung TV Plus</a:t>
              </a:r>
              <a:endParaRPr b="1" i="0" sz="1100" u="none" cap="none" strike="noStrike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" name="Google Shape;117;p16"/>
          <p:cNvGrpSpPr/>
          <p:nvPr/>
        </p:nvGrpSpPr>
        <p:grpSpPr>
          <a:xfrm>
            <a:off x="476250" y="3057525"/>
            <a:ext cx="1162200" cy="695400"/>
            <a:chOff x="0" y="0"/>
            <a:chExt cx="1162200" cy="695400"/>
          </a:xfrm>
        </p:grpSpPr>
        <p:sp>
          <p:nvSpPr>
            <p:cNvPr id="118" name="Google Shape;118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Pluto TV</a:t>
              </a:r>
              <a:endParaRPr b="1" i="0" sz="1100" u="none" cap="none" strike="noStrike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" name="Google Shape;120;p16"/>
          <p:cNvGrpSpPr/>
          <p:nvPr/>
        </p:nvGrpSpPr>
        <p:grpSpPr>
          <a:xfrm>
            <a:off x="1733550" y="3057525"/>
            <a:ext cx="1162200" cy="695400"/>
            <a:chOff x="0" y="0"/>
            <a:chExt cx="1162200" cy="695400"/>
          </a:xfrm>
        </p:grpSpPr>
        <p:sp>
          <p:nvSpPr>
            <p:cNvPr id="121" name="Google Shape;121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Tubi</a:t>
              </a:r>
              <a:endParaRPr b="1" i="0" sz="1100" u="none" cap="none" strike="noStrike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Google Shape;123;p16"/>
          <p:cNvGrpSpPr/>
          <p:nvPr/>
        </p:nvGrpSpPr>
        <p:grpSpPr>
          <a:xfrm>
            <a:off x="2990850" y="3057525"/>
            <a:ext cx="1162200" cy="695400"/>
            <a:chOff x="0" y="0"/>
            <a:chExt cx="1162200" cy="695400"/>
          </a:xfrm>
        </p:grpSpPr>
        <p:sp>
          <p:nvSpPr>
            <p:cNvPr id="124" name="Google Shape;124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ESPN</a:t>
              </a:r>
              <a:endParaRPr b="1" i="0" sz="1100" u="none" cap="none" strike="noStrike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16"/>
          <p:cNvGrpSpPr/>
          <p:nvPr/>
        </p:nvGrpSpPr>
        <p:grpSpPr>
          <a:xfrm>
            <a:off x="4248150" y="3057525"/>
            <a:ext cx="1162200" cy="695400"/>
            <a:chOff x="0" y="0"/>
            <a:chExt cx="1162200" cy="695400"/>
          </a:xfrm>
        </p:grpSpPr>
        <p:sp>
          <p:nvSpPr>
            <p:cNvPr id="127" name="Google Shape;127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Prime Video</a:t>
              </a:r>
              <a:endParaRPr b="1" i="0" sz="1100" u="none" cap="none" strike="noStrike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" name="Google Shape;129;p16"/>
          <p:cNvGrpSpPr/>
          <p:nvPr/>
        </p:nvGrpSpPr>
        <p:grpSpPr>
          <a:xfrm>
            <a:off x="5619750" y="1476375"/>
            <a:ext cx="3048000" cy="695400"/>
            <a:chOff x="0" y="0"/>
            <a:chExt cx="3048000" cy="695400"/>
          </a:xfrm>
        </p:grpSpPr>
        <p:sp>
          <p:nvSpPr>
            <p:cNvPr id="130" name="Google Shape;130;p16"/>
            <p:cNvSpPr/>
            <p:nvPr/>
          </p:nvSpPr>
          <p:spPr>
            <a:xfrm>
              <a:off x="0" y="0"/>
              <a:ext cx="3048000" cy="695400"/>
            </a:xfrm>
            <a:prstGeom prst="roundRect">
              <a:avLst>
                <a:gd fmla="val 8219" name="adj"/>
              </a:avLst>
            </a:prstGeom>
            <a:solidFill>
              <a:srgbClr val="F1F6E9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6"/>
            <p:cNvSpPr txBox="1"/>
            <p:nvPr/>
          </p:nvSpPr>
          <p:spPr>
            <a:xfrm>
              <a:off x="0" y="0"/>
              <a:ext cx="30480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Hyper-local by design</a:t>
              </a:r>
              <a:endParaRPr b="1" i="0" sz="1000" u="none" cap="none" strike="noStrike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Delivery is confined to your active service footprint — down to specific cities and ZIP codes, not the whole DMA.</a:t>
              </a:r>
              <a:endParaRPr b="0" i="0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" name="Google Shape;132;p16"/>
          <p:cNvGrpSpPr/>
          <p:nvPr/>
        </p:nvGrpSpPr>
        <p:grpSpPr>
          <a:xfrm>
            <a:off x="5619750" y="2266950"/>
            <a:ext cx="3048000" cy="695400"/>
            <a:chOff x="0" y="0"/>
            <a:chExt cx="3048000" cy="695400"/>
          </a:xfrm>
        </p:grpSpPr>
        <p:sp>
          <p:nvSpPr>
            <p:cNvPr id="133" name="Google Shape;133;p16"/>
            <p:cNvSpPr/>
            <p:nvPr/>
          </p:nvSpPr>
          <p:spPr>
            <a:xfrm>
              <a:off x="0" y="0"/>
              <a:ext cx="30480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6"/>
            <p:cNvSpPr txBox="1"/>
            <p:nvPr/>
          </p:nvSpPr>
          <p:spPr>
            <a:xfrm>
              <a:off x="0" y="0"/>
              <a:ext cx="30480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5"/>
                <a:buFont typeface="Arial"/>
                <a:buNone/>
              </a:pPr>
              <a:r>
                <a:rPr b="1" i="0" lang="en" sz="925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Unbiased placement</a:t>
              </a:r>
              <a:endParaRPr b="1" i="0" sz="925" u="none" cap="none" strike="noStrike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740"/>
                <a:buFont typeface="Arial"/>
                <a:buNone/>
              </a:pPr>
              <a:r>
                <a:rPr b="0" i="0" lang="en" sz="740" u="none" cap="none" strike="noStrike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Options across both the Microsoft and Google networks, chosen on performance rather than on which inventory we happen to resell.</a:t>
              </a:r>
              <a:endParaRPr b="0" i="0" sz="74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" name="Google Shape;135;p16"/>
          <p:cNvGrpSpPr/>
          <p:nvPr/>
        </p:nvGrpSpPr>
        <p:grpSpPr>
          <a:xfrm>
            <a:off x="5619750" y="3057525"/>
            <a:ext cx="3048000" cy="695400"/>
            <a:chOff x="0" y="0"/>
            <a:chExt cx="3048000" cy="695400"/>
          </a:xfrm>
        </p:grpSpPr>
        <p:sp>
          <p:nvSpPr>
            <p:cNvPr id="136" name="Google Shape;136;p16"/>
            <p:cNvSpPr/>
            <p:nvPr/>
          </p:nvSpPr>
          <p:spPr>
            <a:xfrm>
              <a:off x="0" y="0"/>
              <a:ext cx="30480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6"/>
            <p:cNvSpPr txBox="1"/>
            <p:nvPr/>
          </p:nvSpPr>
          <p:spPr>
            <a:xfrm>
              <a:off x="0" y="0"/>
              <a:ext cx="30480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Television-grade recall</a:t>
              </a:r>
              <a:endParaRPr b="1" i="0" sz="1000" u="none" cap="none" strike="noStrike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Full-screen, sound-on exposure on the household TV builds significantly stronger recall than mobile advertising alone.</a:t>
              </a:r>
              <a:endParaRPr b="0" i="0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" name="Google Shape;138;p16"/>
          <p:cNvGrpSpPr/>
          <p:nvPr/>
        </p:nvGrpSpPr>
        <p:grpSpPr>
          <a:xfrm>
            <a:off x="476250" y="3905250"/>
            <a:ext cx="8191500" cy="571500"/>
            <a:chOff x="0" y="0"/>
            <a:chExt cx="8191500" cy="571500"/>
          </a:xfrm>
        </p:grpSpPr>
        <p:sp>
          <p:nvSpPr>
            <p:cNvPr id="139" name="Google Shape;139;p16"/>
            <p:cNvSpPr/>
            <p:nvPr/>
          </p:nvSpPr>
          <p:spPr>
            <a:xfrm>
              <a:off x="0" y="0"/>
              <a:ext cx="8191500" cy="571500"/>
            </a:xfrm>
            <a:prstGeom prst="roundRect">
              <a:avLst>
                <a:gd fmla="val 6666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6"/>
            <p:cNvSpPr txBox="1"/>
            <p:nvPr/>
          </p:nvSpPr>
          <p:spPr>
            <a:xfrm>
              <a:off x="0" y="0"/>
              <a:ext cx="819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142875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1" i="0" lang="en" sz="9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BOUGHT DIRECT, NOT RESOLD</a:t>
              </a:r>
              <a:endParaRPr b="1" i="0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0" i="0" lang="en" sz="8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Every environment above is purchased through the Microsoft or Google engines at publisher cost — the same inventory national advertisers buy, without a reseller standing between Tri Peaks and the impression.</a:t>
              </a:r>
              <a:endParaRPr b="0" i="0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" name="Google Shape;141;p16"/>
          <p:cNvGrpSpPr/>
          <p:nvPr/>
        </p:nvGrpSpPr>
        <p:grpSpPr>
          <a:xfrm>
            <a:off x="476250" y="4667250"/>
            <a:ext cx="8191650" cy="190500"/>
            <a:chOff x="0" y="0"/>
            <a:chExt cx="8191650" cy="190500"/>
          </a:xfrm>
        </p:grpSpPr>
        <p:sp>
          <p:nvSpPr>
            <p:cNvPr id="142" name="Google Shape;142;p16"/>
            <p:cNvSpPr txBox="1"/>
            <p:nvPr/>
          </p:nvSpPr>
          <p:spPr>
            <a:xfrm>
              <a:off x="0" y="0"/>
              <a:ext cx="571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CAMP Digital · Premium Streaming Media Plan · Tri Peaks Air · September 2026</a:t>
              </a:r>
              <a:endParaRPr b="0" i="0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6"/>
            <p:cNvSpPr txBox="1"/>
            <p:nvPr/>
          </p:nvSpPr>
          <p:spPr>
            <a:xfrm>
              <a:off x="7905750" y="0"/>
              <a:ext cx="285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/>
          <p:nvPr/>
        </p:nvSpPr>
        <p:spPr>
          <a:xfrm>
            <a:off x="476250" y="428625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/>
              <a:buNone/>
            </a:pPr>
            <a:r>
              <a:rPr b="1" i="0" lang="en" sz="22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Building Brand Demand to Lower Your PPC Cost-Per-Lead.</a:t>
            </a:r>
            <a:endParaRPr b="1" i="0" sz="222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9" name="Google Shape;149;p17"/>
          <p:cNvGrpSpPr/>
          <p:nvPr/>
        </p:nvGrpSpPr>
        <p:grpSpPr>
          <a:xfrm>
            <a:off x="790575" y="1076325"/>
            <a:ext cx="3752850" cy="3371850"/>
            <a:chOff x="790575" y="1076325"/>
            <a:chExt cx="3752850" cy="3371850"/>
          </a:xfrm>
        </p:grpSpPr>
        <p:sp>
          <p:nvSpPr>
            <p:cNvPr id="150" name="Google Shape;150;p17"/>
            <p:cNvSpPr/>
            <p:nvPr/>
          </p:nvSpPr>
          <p:spPr>
            <a:xfrm>
              <a:off x="1885950" y="1076325"/>
              <a:ext cx="1562100" cy="15621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1943100" y="1133475"/>
              <a:ext cx="1447800" cy="1447800"/>
            </a:xfrm>
            <a:prstGeom prst="ellipse">
              <a:avLst/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7"/>
            <p:cNvSpPr/>
            <p:nvPr/>
          </p:nvSpPr>
          <p:spPr>
            <a:xfrm>
              <a:off x="2552700" y="1285875"/>
              <a:ext cx="228600" cy="228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60000"/>
                  </a:lnTo>
                  <a:lnTo>
                    <a:pt x="60000" y="120000"/>
                  </a:lnTo>
                  <a:lnTo>
                    <a:pt x="0" y="6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0037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7"/>
            <p:cNvSpPr txBox="1"/>
            <p:nvPr/>
          </p:nvSpPr>
          <p:spPr>
            <a:xfrm>
              <a:off x="2000250" y="1571625"/>
              <a:ext cx="1333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CTV Awareness</a:t>
              </a:r>
              <a:endParaRPr b="1" i="0" sz="1100" u="none" cap="none" strike="noStrike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0" i="0" lang="en" sz="850" u="none" cap="none" strike="noStrike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(top-of-mind brand trust on living room screens)</a:t>
              </a:r>
              <a:endParaRPr b="0" i="0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790575" y="2886075"/>
              <a:ext cx="1562100" cy="15621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847725" y="2943225"/>
              <a:ext cx="1447800" cy="1447800"/>
            </a:xfrm>
            <a:prstGeom prst="ellipse">
              <a:avLst/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7"/>
            <p:cNvSpPr/>
            <p:nvPr/>
          </p:nvSpPr>
          <p:spPr>
            <a:xfrm>
              <a:off x="1476375" y="3095625"/>
              <a:ext cx="190500" cy="1620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0037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7"/>
            <p:cNvSpPr txBox="1"/>
            <p:nvPr/>
          </p:nvSpPr>
          <p:spPr>
            <a:xfrm>
              <a:off x="904875" y="3333750"/>
              <a:ext cx="1333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Lower CPL and Higher PPC Conversion Rates</a:t>
              </a:r>
              <a:endParaRPr b="1" i="0" sz="1000" u="none" cap="none" strike="noStrike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(higher CTR, lower acquisition cost)</a:t>
              </a:r>
              <a:endParaRPr b="0" i="0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2981325" y="2886075"/>
              <a:ext cx="1562100" cy="15621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3038475" y="2943225"/>
              <a:ext cx="1447800" cy="1447800"/>
            </a:xfrm>
            <a:prstGeom prst="ellipse">
              <a:avLst/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7"/>
            <p:cNvSpPr/>
            <p:nvPr/>
          </p:nvSpPr>
          <p:spPr>
            <a:xfrm>
              <a:off x="3667125" y="3095625"/>
              <a:ext cx="190500" cy="2097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32727"/>
                  </a:lnTo>
                  <a:lnTo>
                    <a:pt x="120000" y="87273"/>
                  </a:lnTo>
                  <a:lnTo>
                    <a:pt x="60000" y="120000"/>
                  </a:lnTo>
                  <a:lnTo>
                    <a:pt x="0" y="87273"/>
                  </a:lnTo>
                  <a:lnTo>
                    <a:pt x="0" y="327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0037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7"/>
            <p:cNvSpPr txBox="1"/>
            <p:nvPr/>
          </p:nvSpPr>
          <p:spPr>
            <a:xfrm>
              <a:off x="3095625" y="3381375"/>
              <a:ext cx="1333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Branded Searches</a:t>
              </a:r>
              <a:endParaRPr b="1" i="0" sz="1100" u="none" cap="none" strike="noStrike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0" i="0" lang="en" sz="850" u="none" cap="none" strike="noStrike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(homeowners search your name directly)</a:t>
              </a:r>
              <a:endParaRPr b="0" i="0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7"/>
            <p:cNvSpPr/>
            <p:nvPr/>
          </p:nvSpPr>
          <p:spPr>
            <a:xfrm>
              <a:off x="1666875" y="2047875"/>
              <a:ext cx="619200" cy="7620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cubicBezTo>
                    <a:pt x="27692" y="60000"/>
                    <a:pt x="73846" y="15000"/>
                    <a:pt x="120000" y="0"/>
                  </a:cubicBez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0037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1809750" y="2352675"/>
              <a:ext cx="95400" cy="95400"/>
            </a:xfrm>
            <a:prstGeom prst="ellipse">
              <a:avLst/>
            </a:prstGeom>
            <a:solidFill>
              <a:srgbClr val="0037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7"/>
            <p:cNvSpPr/>
            <p:nvPr/>
          </p:nvSpPr>
          <p:spPr>
            <a:xfrm>
              <a:off x="3048000" y="2047875"/>
              <a:ext cx="619200" cy="7620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cubicBezTo>
                    <a:pt x="46154" y="15000"/>
                    <a:pt x="92308" y="60000"/>
                    <a:pt x="120000" y="120000"/>
                  </a:cubicBez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0037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7"/>
            <p:cNvSpPr/>
            <p:nvPr/>
          </p:nvSpPr>
          <p:spPr>
            <a:xfrm>
              <a:off x="3429000" y="2352675"/>
              <a:ext cx="95400" cy="95400"/>
            </a:xfrm>
            <a:prstGeom prst="ellipse">
              <a:avLst/>
            </a:prstGeom>
            <a:solidFill>
              <a:srgbClr val="0037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2190750" y="3952875"/>
              <a:ext cx="952500" cy="954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cubicBezTo>
                    <a:pt x="84000" y="120000"/>
                    <a:pt x="36000" y="120000"/>
                    <a:pt x="0" y="0"/>
                  </a:cubicBez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0037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2619375" y="3971925"/>
              <a:ext cx="95400" cy="95400"/>
            </a:xfrm>
            <a:prstGeom prst="ellipse">
              <a:avLst/>
            </a:prstGeom>
            <a:solidFill>
              <a:srgbClr val="0037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8" name="Google Shape;168;p17"/>
          <p:cNvGrpSpPr/>
          <p:nvPr/>
        </p:nvGrpSpPr>
        <p:grpSpPr>
          <a:xfrm>
            <a:off x="4953000" y="1381125"/>
            <a:ext cx="3714900" cy="3095475"/>
            <a:chOff x="4953000" y="1381125"/>
            <a:chExt cx="3714900" cy="3095475"/>
          </a:xfrm>
        </p:grpSpPr>
        <p:sp>
          <p:nvSpPr>
            <p:cNvPr id="169" name="Google Shape;169;p17"/>
            <p:cNvSpPr/>
            <p:nvPr/>
          </p:nvSpPr>
          <p:spPr>
            <a:xfrm>
              <a:off x="4953000" y="1381125"/>
              <a:ext cx="3714900" cy="1285800"/>
            </a:xfrm>
            <a:prstGeom prst="roundRect">
              <a:avLst>
                <a:gd fmla="val 5925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7"/>
            <p:cNvSpPr txBox="1"/>
            <p:nvPr/>
          </p:nvSpPr>
          <p:spPr>
            <a:xfrm>
              <a:off x="5143500" y="1524000"/>
              <a:ext cx="33339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" sz="130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Search &amp; TV Working Together</a:t>
              </a:r>
              <a:endParaRPr b="1" i="0" sz="1300" u="none" cap="none" strike="noStrike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" sz="9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CTV creates top-of-mind trust. Search PPC captures the appointment when the repair is needed. Together, they compound your results.</a:t>
              </a:r>
              <a:endParaRPr b="0" i="0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7"/>
            <p:cNvSpPr/>
            <p:nvPr/>
          </p:nvSpPr>
          <p:spPr>
            <a:xfrm>
              <a:off x="4953000" y="2857500"/>
              <a:ext cx="3714900" cy="1619100"/>
            </a:xfrm>
            <a:prstGeom prst="roundRect">
              <a:avLst>
                <a:gd fmla="val 4705" name="adj"/>
              </a:avLst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7"/>
            <p:cNvSpPr txBox="1"/>
            <p:nvPr/>
          </p:nvSpPr>
          <p:spPr>
            <a:xfrm>
              <a:off x="5143500" y="3000375"/>
              <a:ext cx="33339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" sz="130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Cross-Channel Retargeting</a:t>
              </a:r>
              <a:endParaRPr b="1" i="0" sz="1300" u="none" cap="none" strike="noStrike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" sz="950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r>
                <a:rPr b="0" i="0" lang="en" sz="950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n" sz="95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Microsoft IMBR:</a:t>
              </a:r>
              <a:r>
                <a:rPr b="0" i="0" lang="en" sz="950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" sz="950" u="none" cap="none" strike="noStrike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Retarget TV viewers with follow-up Search, Native, or Display ads</a:t>
              </a:r>
              <a:endParaRPr b="0" i="0" sz="9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" sz="950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r>
                <a:rPr b="0" i="0" lang="en" sz="950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n" sz="95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Google Demand Gen:</a:t>
              </a:r>
              <a:r>
                <a:rPr b="0" i="0" lang="en" sz="950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" sz="950" u="none" cap="none" strike="noStrike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Re-engage warm streaming audiences across YouTube Shorts, Gmail, and Discover</a:t>
              </a:r>
              <a:endParaRPr b="0" i="0" sz="9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18"/>
          <p:cNvGrpSpPr/>
          <p:nvPr/>
        </p:nvGrpSpPr>
        <p:grpSpPr>
          <a:xfrm>
            <a:off x="500063" y="400050"/>
            <a:ext cx="1386000" cy="178650"/>
            <a:chOff x="0" y="0"/>
            <a:chExt cx="1848000" cy="238200"/>
          </a:xfrm>
        </p:grpSpPr>
        <p:sp>
          <p:nvSpPr>
            <p:cNvPr id="178" name="Google Shape;178;p18"/>
            <p:cNvSpPr/>
            <p:nvPr/>
          </p:nvSpPr>
          <p:spPr>
            <a:xfrm>
              <a:off x="0" y="0"/>
              <a:ext cx="1848000" cy="238200"/>
            </a:xfrm>
            <a:prstGeom prst="roundRect">
              <a:avLst>
                <a:gd fmla="val 22640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8"/>
            <p:cNvSpPr txBox="1"/>
            <p:nvPr/>
          </p:nvSpPr>
          <p:spPr>
            <a:xfrm>
              <a:off x="0" y="0"/>
              <a:ext cx="1848000" cy="238200"/>
            </a:xfrm>
            <a:prstGeom prst="rect">
              <a:avLst/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CAMPAIGN STATUS</a:t>
              </a:r>
              <a:endParaRPr b="1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" name="Google Shape;180;p18"/>
          <p:cNvSpPr txBox="1"/>
          <p:nvPr/>
        </p:nvSpPr>
        <p:spPr>
          <a:xfrm>
            <a:off x="500063" y="671513"/>
            <a:ext cx="8143800" cy="67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Premium Streaming Pilot: Establishing the Local Baseline</a:t>
            </a:r>
            <a:endParaRPr b="1" i="0" sz="22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Our July campaign successfully positioned Happy Camper Home Services as the dominant local plumbing brand on big-screen TVs across the Harrisburg-Lancaster-Lebanon-York DMA.</a:t>
            </a:r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1" name="Google Shape;181;p18"/>
          <p:cNvGrpSpPr/>
          <p:nvPr/>
        </p:nvGrpSpPr>
        <p:grpSpPr>
          <a:xfrm>
            <a:off x="500063" y="1464469"/>
            <a:ext cx="4029075" cy="1014525"/>
            <a:chOff x="0" y="0"/>
            <a:chExt cx="5372100" cy="1352700"/>
          </a:xfrm>
        </p:grpSpPr>
        <p:sp>
          <p:nvSpPr>
            <p:cNvPr id="182" name="Google Shape;182;p18"/>
            <p:cNvSpPr/>
            <p:nvPr/>
          </p:nvSpPr>
          <p:spPr>
            <a:xfrm>
              <a:off x="0" y="0"/>
              <a:ext cx="5372100" cy="1352700"/>
            </a:xfrm>
            <a:prstGeom prst="roundRect">
              <a:avLst>
                <a:gd fmla="val 4696" name="adj"/>
              </a:avLst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8"/>
            <p:cNvSpPr txBox="1"/>
            <p:nvPr/>
          </p:nvSpPr>
          <p:spPr>
            <a:xfrm>
              <a:off x="171450" y="133350"/>
              <a:ext cx="5029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TOTAL BUDGET INVESTED</a:t>
              </a:r>
              <a:endParaRPr b="1" i="0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8"/>
            <p:cNvSpPr txBox="1"/>
            <p:nvPr/>
          </p:nvSpPr>
          <p:spPr>
            <a:xfrm>
              <a:off x="171450" y="342900"/>
              <a:ext cx="5029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" sz="26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$10,000.00</a:t>
              </a:r>
              <a:endParaRPr b="1" i="0" sz="2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8"/>
            <p:cNvSpPr txBox="1"/>
            <p:nvPr/>
          </p:nvSpPr>
          <p:spPr>
            <a:xfrm>
              <a:off x="171450" y="990600"/>
              <a:ext cx="5029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100% budget utilization; $19.26 overspend credited back</a:t>
              </a:r>
              <a:endParaRPr b="0" i="0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6" name="Google Shape;186;p18"/>
          <p:cNvGrpSpPr/>
          <p:nvPr/>
        </p:nvGrpSpPr>
        <p:grpSpPr>
          <a:xfrm>
            <a:off x="4614863" y="1464469"/>
            <a:ext cx="4029075" cy="1014525"/>
            <a:chOff x="0" y="0"/>
            <a:chExt cx="5372100" cy="1352700"/>
          </a:xfrm>
        </p:grpSpPr>
        <p:sp>
          <p:nvSpPr>
            <p:cNvPr id="187" name="Google Shape;187;p18"/>
            <p:cNvSpPr/>
            <p:nvPr/>
          </p:nvSpPr>
          <p:spPr>
            <a:xfrm>
              <a:off x="0" y="0"/>
              <a:ext cx="5372100" cy="1352700"/>
            </a:xfrm>
            <a:prstGeom prst="roundRect">
              <a:avLst>
                <a:gd fmla="val 4696" name="adj"/>
              </a:avLst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8"/>
            <p:cNvSpPr txBox="1"/>
            <p:nvPr/>
          </p:nvSpPr>
          <p:spPr>
            <a:xfrm>
              <a:off x="171450" y="133350"/>
              <a:ext cx="5029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TOTAL AD IMPRESSIONS</a:t>
              </a:r>
              <a:endParaRPr b="1" i="0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8"/>
            <p:cNvSpPr txBox="1"/>
            <p:nvPr/>
          </p:nvSpPr>
          <p:spPr>
            <a:xfrm>
              <a:off x="171450" y="342900"/>
              <a:ext cx="5029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" sz="26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1,127,322</a:t>
              </a:r>
              <a:endParaRPr b="1" i="0" sz="2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8"/>
            <p:cNvSpPr txBox="1"/>
            <p:nvPr/>
          </p:nvSpPr>
          <p:spPr>
            <a:xfrm>
              <a:off x="171450" y="990600"/>
              <a:ext cx="5029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Exceeded 1.1M video views</a:t>
              </a:r>
              <a:endParaRPr b="0" i="0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" name="Google Shape;191;p18"/>
          <p:cNvGrpSpPr/>
          <p:nvPr/>
        </p:nvGrpSpPr>
        <p:grpSpPr>
          <a:xfrm>
            <a:off x="500063" y="2578894"/>
            <a:ext cx="4029075" cy="1014525"/>
            <a:chOff x="0" y="0"/>
            <a:chExt cx="5372100" cy="1352700"/>
          </a:xfrm>
        </p:grpSpPr>
        <p:sp>
          <p:nvSpPr>
            <p:cNvPr id="192" name="Google Shape;192;p18"/>
            <p:cNvSpPr/>
            <p:nvPr/>
          </p:nvSpPr>
          <p:spPr>
            <a:xfrm>
              <a:off x="0" y="0"/>
              <a:ext cx="5372100" cy="1352700"/>
            </a:xfrm>
            <a:prstGeom prst="roundRect">
              <a:avLst>
                <a:gd fmla="val 4696" name="adj"/>
              </a:avLst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8"/>
            <p:cNvSpPr txBox="1"/>
            <p:nvPr/>
          </p:nvSpPr>
          <p:spPr>
            <a:xfrm>
              <a:off x="171450" y="133350"/>
              <a:ext cx="5029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BLENDED CAMPAIGN CPM</a:t>
              </a:r>
              <a:endParaRPr b="1" i="0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8"/>
            <p:cNvSpPr txBox="1"/>
            <p:nvPr/>
          </p:nvSpPr>
          <p:spPr>
            <a:xfrm>
              <a:off x="171450" y="342900"/>
              <a:ext cx="5029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" sz="260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$8.89</a:t>
              </a:r>
              <a:endParaRPr b="1" i="0" sz="2600" u="none" cap="none" strike="noStrike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8"/>
            <p:cNvSpPr txBox="1"/>
            <p:nvPr/>
          </p:nvSpPr>
          <p:spPr>
            <a:xfrm>
              <a:off x="171450" y="990600"/>
              <a:ext cx="5029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vs. $20.00–$40.00 industry average</a:t>
              </a:r>
              <a:endParaRPr b="0" i="0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6" name="Google Shape;196;p18"/>
          <p:cNvGrpSpPr/>
          <p:nvPr/>
        </p:nvGrpSpPr>
        <p:grpSpPr>
          <a:xfrm>
            <a:off x="4614863" y="2578894"/>
            <a:ext cx="4029075" cy="1014525"/>
            <a:chOff x="0" y="0"/>
            <a:chExt cx="5372100" cy="1352700"/>
          </a:xfrm>
        </p:grpSpPr>
        <p:sp>
          <p:nvSpPr>
            <p:cNvPr id="197" name="Google Shape;197;p18"/>
            <p:cNvSpPr/>
            <p:nvPr/>
          </p:nvSpPr>
          <p:spPr>
            <a:xfrm>
              <a:off x="0" y="0"/>
              <a:ext cx="5372100" cy="1352700"/>
            </a:xfrm>
            <a:prstGeom prst="roundRect">
              <a:avLst>
                <a:gd fmla="val 4696" name="adj"/>
              </a:avLst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8"/>
            <p:cNvSpPr txBox="1"/>
            <p:nvPr/>
          </p:nvSpPr>
          <p:spPr>
            <a:xfrm>
              <a:off x="171450" y="133350"/>
              <a:ext cx="5029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CORE DMA DELIVERY</a:t>
              </a:r>
              <a:endParaRPr b="1" i="0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8"/>
            <p:cNvSpPr txBox="1"/>
            <p:nvPr/>
          </p:nvSpPr>
          <p:spPr>
            <a:xfrm>
              <a:off x="171450" y="342900"/>
              <a:ext cx="5029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" sz="26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98.6%</a:t>
              </a:r>
              <a:endParaRPr b="1" i="0" sz="2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8"/>
            <p:cNvSpPr txBox="1"/>
            <p:nvPr/>
          </p:nvSpPr>
          <p:spPr>
            <a:xfrm>
              <a:off x="171450" y="990600"/>
              <a:ext cx="5029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Harrisburg-Lancaster-Lebanon-York DMA</a:t>
              </a:r>
              <a:endParaRPr b="0" i="0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1" name="Google Shape;201;p18"/>
          <p:cNvGrpSpPr/>
          <p:nvPr/>
        </p:nvGrpSpPr>
        <p:grpSpPr>
          <a:xfrm>
            <a:off x="500075" y="3693323"/>
            <a:ext cx="8143875" cy="678584"/>
            <a:chOff x="0" y="0"/>
            <a:chExt cx="10858500" cy="1381200"/>
          </a:xfrm>
        </p:grpSpPr>
        <p:sp>
          <p:nvSpPr>
            <p:cNvPr id="202" name="Google Shape;202;p18"/>
            <p:cNvSpPr/>
            <p:nvPr/>
          </p:nvSpPr>
          <p:spPr>
            <a:xfrm>
              <a:off x="0" y="0"/>
              <a:ext cx="10858500" cy="1381200"/>
            </a:xfrm>
            <a:prstGeom prst="roundRect">
              <a:avLst>
                <a:gd fmla="val 4599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3" name="Google Shape;203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2400" y="190500"/>
              <a:ext cx="190500" cy="152400"/>
            </a:xfrm>
            <a:prstGeom prst="rect">
              <a:avLst/>
            </a:prstGeom>
            <a:noFill/>
            <a:ln cap="flat" cmpd="sng" w="9525">
              <a:solidFill>
                <a:srgbClr val="006A49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04" name="Google Shape;204;p18"/>
            <p:cNvSpPr txBox="1"/>
            <p:nvPr/>
          </p:nvSpPr>
          <p:spPr>
            <a:xfrm>
              <a:off x="485775" y="152400"/>
              <a:ext cx="10220400" cy="10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KEY STRATEGIC TAKEAWAY</a:t>
              </a:r>
              <a:endParaRPr b="1" i="0" sz="900" u="none" cap="none" strike="noStrike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1" lang="en" sz="90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July achieved our primary objective of establishing a high-volume, cost-efficient local streaming baseline, securing over 1.1 million views at an efficient $8.89 CPM, demonstrating local saturation while preserving budget room to bid up for higher-tier premium placements in August.</a:t>
              </a:r>
              <a:endParaRPr b="0" i="1" sz="900" u="none" cap="none" strike="noStrike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19"/>
          <p:cNvGrpSpPr/>
          <p:nvPr/>
        </p:nvGrpSpPr>
        <p:grpSpPr>
          <a:xfrm>
            <a:off x="500063" y="321469"/>
            <a:ext cx="1500075" cy="185850"/>
            <a:chOff x="0" y="0"/>
            <a:chExt cx="2000100" cy="247800"/>
          </a:xfrm>
        </p:grpSpPr>
        <p:sp>
          <p:nvSpPr>
            <p:cNvPr id="210" name="Google Shape;210;p19"/>
            <p:cNvSpPr/>
            <p:nvPr/>
          </p:nvSpPr>
          <p:spPr>
            <a:xfrm>
              <a:off x="0" y="0"/>
              <a:ext cx="2000100" cy="247800"/>
            </a:xfrm>
            <a:prstGeom prst="roundRect">
              <a:avLst>
                <a:gd fmla="val 21769" name="adj"/>
              </a:avLst>
            </a:prstGeom>
            <a:solidFill>
              <a:srgbClr val="CCFF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9"/>
            <p:cNvSpPr txBox="1"/>
            <p:nvPr/>
          </p:nvSpPr>
          <p:spPr>
            <a:xfrm>
              <a:off x="0" y="0"/>
              <a:ext cx="2000100" cy="247800"/>
            </a:xfrm>
            <a:prstGeom prst="rect">
              <a:avLst/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MARKETPLACE STANDARDS</a:t>
              </a:r>
              <a:endParaRPr b="1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2" name="Google Shape;212;p19"/>
          <p:cNvSpPr txBox="1"/>
          <p:nvPr/>
        </p:nvSpPr>
        <p:spPr>
          <a:xfrm>
            <a:off x="500063" y="642938"/>
            <a:ext cx="8143800" cy="78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Beating Industry &amp; Marketplace Standards</a:t>
            </a:r>
            <a:endParaRPr b="1" i="0" sz="24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By leveraging CAMP Digital’s premium programmatic bidding strategies, Happy Camper Home Services achieved a significantly lower CPM than national and network benchmarks.</a:t>
            </a:r>
            <a:endParaRPr b="1" i="0" sz="9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3" name="Google Shape;213;p19"/>
          <p:cNvGrpSpPr/>
          <p:nvPr/>
        </p:nvGrpSpPr>
        <p:grpSpPr>
          <a:xfrm>
            <a:off x="500063" y="1643063"/>
            <a:ext cx="3729038" cy="1678781"/>
            <a:chOff x="0" y="0"/>
            <a:chExt cx="4972050" cy="2238375"/>
          </a:xfrm>
        </p:grpSpPr>
        <p:grpSp>
          <p:nvGrpSpPr>
            <p:cNvPr id="214" name="Google Shape;214;p19"/>
            <p:cNvGrpSpPr/>
            <p:nvPr/>
          </p:nvGrpSpPr>
          <p:grpSpPr>
            <a:xfrm>
              <a:off x="0" y="0"/>
              <a:ext cx="4972050" cy="809700"/>
              <a:chOff x="0" y="0"/>
              <a:chExt cx="4972050" cy="809700"/>
            </a:xfrm>
          </p:grpSpPr>
          <p:sp>
            <p:nvSpPr>
              <p:cNvPr id="215" name="Google Shape;215;p19"/>
              <p:cNvSpPr/>
              <p:nvPr/>
            </p:nvSpPr>
            <p:spPr>
              <a:xfrm>
                <a:off x="0" y="0"/>
                <a:ext cx="57300" cy="809700"/>
              </a:xfrm>
              <a:prstGeom prst="roundRect">
                <a:avLst>
                  <a:gd fmla="val 50000" name="adj"/>
                </a:avLst>
              </a:prstGeom>
              <a:solidFill>
                <a:srgbClr val="006A4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19"/>
              <p:cNvSpPr txBox="1"/>
              <p:nvPr/>
            </p:nvSpPr>
            <p:spPr>
              <a:xfrm>
                <a:off x="209550" y="0"/>
                <a:ext cx="4762500" cy="809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n" sz="800" u="none" cap="none" strike="noStrike">
                    <a:solidFill>
                      <a:srgbClr val="003726"/>
                    </a:solidFill>
                    <a:latin typeface="Arial"/>
                    <a:ea typeface="Arial"/>
                    <a:cs typeface="Arial"/>
                    <a:sym typeface="Arial"/>
                  </a:rPr>
                  <a:t>COST EFFICIENCY</a:t>
                </a:r>
                <a:endParaRPr b="1" i="0" sz="80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Delivered </a:t>
                </a:r>
                <a:r>
                  <a:rPr b="1" i="0" lang="en" sz="900" u="none" cap="none" strike="noStrike">
                    <a:solidFill>
                      <a:srgbClr val="003726"/>
                    </a:solidFill>
                    <a:latin typeface="Arial"/>
                    <a:ea typeface="Arial"/>
                    <a:cs typeface="Arial"/>
                    <a:sym typeface="Arial"/>
                  </a:rPr>
                  <a:t>56%–78% more impressions</a:t>
                </a:r>
                <a:r>
                  <a:rPr b="0" i="0" lang="en" sz="900" u="none" cap="none" strike="noStrik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 per dollar than standard marketplace resellers.</a:t>
                </a:r>
                <a:endParaRPr b="1" i="0" sz="800" u="none" cap="none" strike="noStrike">
                  <a:solidFill>
                    <a:srgbClr val="006A4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7" name="Google Shape;217;p19"/>
            <p:cNvGrpSpPr/>
            <p:nvPr/>
          </p:nvGrpSpPr>
          <p:grpSpPr>
            <a:xfrm>
              <a:off x="0" y="1095375"/>
              <a:ext cx="4972050" cy="1143000"/>
              <a:chOff x="0" y="0"/>
              <a:chExt cx="4972050" cy="1143000"/>
            </a:xfrm>
          </p:grpSpPr>
          <p:sp>
            <p:nvSpPr>
              <p:cNvPr id="218" name="Google Shape;218;p19"/>
              <p:cNvSpPr/>
              <p:nvPr/>
            </p:nvSpPr>
            <p:spPr>
              <a:xfrm>
                <a:off x="0" y="0"/>
                <a:ext cx="57300" cy="1143000"/>
              </a:xfrm>
              <a:prstGeom prst="roundRect">
                <a:avLst>
                  <a:gd fmla="val 50000" name="adj"/>
                </a:avLst>
              </a:prstGeom>
              <a:solidFill>
                <a:srgbClr val="006A4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19"/>
              <p:cNvSpPr txBox="1"/>
              <p:nvPr/>
            </p:nvSpPr>
            <p:spPr>
              <a:xfrm>
                <a:off x="209550" y="0"/>
                <a:ext cx="47625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n" sz="800" u="none" cap="none" strike="noStrike">
                    <a:solidFill>
                      <a:srgbClr val="003726"/>
                    </a:solidFill>
                    <a:latin typeface="Arial"/>
                    <a:ea typeface="Arial"/>
                    <a:cs typeface="Arial"/>
                    <a:sym typeface="Arial"/>
                  </a:rPr>
                  <a:t>STRATEGIC IMPLICATION</a:t>
                </a:r>
                <a:endParaRPr b="1" i="0" sz="80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Operating below benchmark proves our targeting is clean and gives us the exact leverage needed to increase bids in August for premium Tier-1 inventory </a:t>
                </a:r>
                <a:r>
                  <a:rPr b="1" i="0" lang="en" sz="900" u="none" cap="none" strike="noStrike">
                    <a:solidFill>
                      <a:srgbClr val="003726"/>
                    </a:solidFill>
                    <a:latin typeface="Arial"/>
                    <a:ea typeface="Arial"/>
                    <a:cs typeface="Arial"/>
                    <a:sym typeface="Arial"/>
                  </a:rPr>
                  <a:t>without blowing out the budget</a:t>
                </a:r>
                <a:r>
                  <a:rPr b="0" i="0" lang="en" sz="900" u="none" cap="none" strike="noStrike">
                    <a:solidFill>
                      <a:srgbClr val="003726"/>
                    </a:solidFill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b="0" i="0" sz="90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20" name="Google Shape;220;p19"/>
          <p:cNvSpPr/>
          <p:nvPr/>
        </p:nvSpPr>
        <p:spPr>
          <a:xfrm>
            <a:off x="4643438" y="1643063"/>
            <a:ext cx="4000500" cy="1750200"/>
          </a:xfrm>
          <a:prstGeom prst="roundRect">
            <a:avLst>
              <a:gd fmla="val 2718" name="adj"/>
            </a:avLst>
          </a:prstGeom>
          <a:solidFill>
            <a:srgbClr val="FFFFFF"/>
          </a:solidFill>
          <a:ln cap="flat" cmpd="sng" w="10725">
            <a:solidFill>
              <a:srgbClr val="B2E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1" name="Google Shape;221;p19"/>
          <p:cNvGrpSpPr/>
          <p:nvPr/>
        </p:nvGrpSpPr>
        <p:grpSpPr>
          <a:xfrm>
            <a:off x="500025" y="3535976"/>
            <a:ext cx="8143875" cy="786010"/>
            <a:chOff x="0" y="0"/>
            <a:chExt cx="10858500" cy="1285800"/>
          </a:xfrm>
        </p:grpSpPr>
        <p:sp>
          <p:nvSpPr>
            <p:cNvPr id="222" name="Google Shape;222;p19"/>
            <p:cNvSpPr/>
            <p:nvPr/>
          </p:nvSpPr>
          <p:spPr>
            <a:xfrm>
              <a:off x="0" y="0"/>
              <a:ext cx="10858500" cy="1285800"/>
            </a:xfrm>
            <a:prstGeom prst="roundRect">
              <a:avLst>
                <a:gd fmla="val 4933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9"/>
            <p:cNvSpPr/>
            <p:nvPr/>
          </p:nvSpPr>
          <p:spPr>
            <a:xfrm>
              <a:off x="0" y="0"/>
              <a:ext cx="76200" cy="1285800"/>
            </a:xfrm>
            <a:prstGeom prst="roundRect">
              <a:avLst>
                <a:gd fmla="val 50000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9"/>
            <p:cNvSpPr txBox="1"/>
            <p:nvPr/>
          </p:nvSpPr>
          <p:spPr>
            <a:xfrm>
              <a:off x="285750" y="190500"/>
              <a:ext cx="10287000" cy="904800"/>
            </a:xfrm>
            <a:prstGeom prst="rect">
              <a:avLst/>
            </a:prstGeom>
            <a:solidFill>
              <a:srgbClr val="A7C14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KEY PERFORMANCE TAKEAWAY</a:t>
              </a:r>
              <a:endParaRPr b="1" i="0" sz="900" u="none" cap="none" strike="noStrike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Operating significantly below marketplace benchmarks validates CAMP Digital's premium CTV approach. This cost efficiency establishes a highly optimized baseline, securing the strategic budget flexibility required to aggressively capture premium Tier-1 inventory in August without risk of overspending.</a:t>
              </a:r>
              <a:endParaRPr b="0" i="0" sz="900" u="none" cap="none" strike="noStrike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225" name="Google Shape;225;p19"/>
          <p:cNvGraphicFramePr/>
          <p:nvPr/>
        </p:nvGraphicFramePr>
        <p:xfrm>
          <a:off x="4643438" y="1643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{4BB34D20-858C-4693-A51C-D96050AB26CA}</a:tableStyleId>
              </a:tblPr>
              <a:tblGrid>
                <a:gridCol w="1571625"/>
                <a:gridCol w="1071575"/>
                <a:gridCol w="1357325"/>
              </a:tblGrid>
              <a:tr h="39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highlight>
                            <a:srgbClr val="003726"/>
                          </a:highlight>
                        </a:rPr>
                        <a:t>Market Benchmark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highlight>
                          <a:srgbClr val="003726"/>
                        </a:highlight>
                      </a:endParaRPr>
                    </a:p>
                  </a:txBody>
                  <a:tcPr marT="85725" marB="85725" marR="85725" marL="85725">
                    <a:lnL cap="flat" cmpd="sng" w="9525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7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highlight>
                            <a:srgbClr val="003726"/>
                          </a:highlight>
                        </a:rPr>
                        <a:t>Avg CTV CPM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highlight>
                          <a:srgbClr val="003726"/>
                        </a:highlight>
                      </a:endParaRPr>
                    </a:p>
                  </a:txBody>
                  <a:tcPr marT="85725" marB="85725" marR="85725" marL="85725">
                    <a:lnL cap="flat" cmpd="sng" w="9525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7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highlight>
                            <a:srgbClr val="003726"/>
                          </a:highlight>
                        </a:rPr>
                        <a:t>Happy Camper Advantage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highlight>
                          <a:srgbClr val="003726"/>
                        </a:highlight>
                      </a:endParaRPr>
                    </a:p>
                  </a:txBody>
                  <a:tcPr marT="85725" marB="85725" marR="85725" marL="85725">
                    <a:lnL cap="flat" cmpd="sng" w="9525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726"/>
                    </a:solidFill>
                  </a:tcPr>
                </a:tc>
              </a:tr>
              <a:tr h="67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</a:rPr>
                        <a:t>Traditional Industry Avg</a:t>
                      </a:r>
                      <a:endParaRPr sz="900" u="none" cap="none" strike="noStrike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85725" marB="85725" marR="85725" marL="85725">
                    <a:lnL cap="flat" cmpd="sng" w="9525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</a:rPr>
                        <a:t>$20.00 to $40.00</a:t>
                      </a:r>
                      <a:endParaRPr sz="900" u="none" cap="none" strike="noStrike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85725" marB="85725" marR="85725" marL="85725">
                    <a:lnL cap="flat" cmpd="sng" w="9525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</a:rPr>
                        <a:t>56% to 78% Lower</a:t>
                      </a:r>
                      <a:endParaRPr sz="900" u="none" cap="none" strike="noStrike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85725" marB="85725" marR="85725" marL="85725">
                    <a:lnL cap="flat" cmpd="sng" w="9525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7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003726"/>
                          </a:solidFill>
                        </a:rPr>
                        <a:t>Happy Camper Home Services (July Final)</a:t>
                      </a:r>
                      <a:endParaRPr b="1" sz="900" u="none" cap="none" strike="noStrike">
                        <a:solidFill>
                          <a:srgbClr val="003726"/>
                        </a:solidFill>
                      </a:endParaRPr>
                    </a:p>
                  </a:txBody>
                  <a:tcPr marT="85725" marB="85725" marR="85725" marL="85725">
                    <a:lnL cap="flat" cmpd="sng" w="9525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1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003726"/>
                          </a:solidFill>
                        </a:rPr>
                        <a:t>$8.89</a:t>
                      </a:r>
                      <a:endParaRPr b="1" sz="900" u="none" cap="none" strike="noStrike">
                        <a:solidFill>
                          <a:srgbClr val="003726"/>
                        </a:solidFill>
                      </a:endParaRPr>
                    </a:p>
                  </a:txBody>
                  <a:tcPr marT="85725" marB="85725" marR="85725" marL="85725">
                    <a:lnL cap="flat" cmpd="sng" w="9525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1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003726"/>
                          </a:solidFill>
                        </a:rPr>
                        <a:t>Baseline Established ✓</a:t>
                      </a:r>
                      <a:endParaRPr b="1" sz="900" u="none" cap="none" strike="noStrike">
                        <a:solidFill>
                          <a:srgbClr val="003726"/>
                        </a:solidFill>
                      </a:endParaRPr>
                    </a:p>
                  </a:txBody>
                  <a:tcPr marT="85725" marB="85725" marR="85725" marL="85725">
                    <a:lnL cap="flat" cmpd="sng" w="9525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1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20"/>
          <p:cNvGrpSpPr/>
          <p:nvPr/>
        </p:nvGrpSpPr>
        <p:grpSpPr>
          <a:xfrm>
            <a:off x="500063" y="400050"/>
            <a:ext cx="1386000" cy="178650"/>
            <a:chOff x="0" y="0"/>
            <a:chExt cx="1848000" cy="238200"/>
          </a:xfrm>
        </p:grpSpPr>
        <p:sp>
          <p:nvSpPr>
            <p:cNvPr id="231" name="Google Shape;231;p20"/>
            <p:cNvSpPr/>
            <p:nvPr/>
          </p:nvSpPr>
          <p:spPr>
            <a:xfrm>
              <a:off x="0" y="0"/>
              <a:ext cx="1848000" cy="238200"/>
            </a:xfrm>
            <a:prstGeom prst="roundRect">
              <a:avLst>
                <a:gd fmla="val 22640" name="adj"/>
              </a:avLst>
            </a:prstGeom>
            <a:solidFill>
              <a:srgbClr val="CCFF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0"/>
            <p:cNvSpPr txBox="1"/>
            <p:nvPr/>
          </p:nvSpPr>
          <p:spPr>
            <a:xfrm>
              <a:off x="0" y="0"/>
              <a:ext cx="1848000" cy="238200"/>
            </a:xfrm>
            <a:prstGeom prst="rect">
              <a:avLst/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AUDIENCE TARGETING</a:t>
              </a:r>
              <a:endParaRPr b="1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3" name="Google Shape;233;p20"/>
          <p:cNvSpPr txBox="1"/>
          <p:nvPr/>
        </p:nvSpPr>
        <p:spPr>
          <a:xfrm>
            <a:off x="500063" y="671513"/>
            <a:ext cx="8143800" cy="6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Pinpoint Accuracy: Reaching Mature Local Homeowners</a:t>
            </a:r>
            <a:endParaRPr b="1" i="0" sz="22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Demographic targeting successfully locked in on active, mature homeowners who own property and require plumbing services.</a:t>
            </a:r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4" name="Google Shape;234;p20"/>
          <p:cNvGrpSpPr/>
          <p:nvPr/>
        </p:nvGrpSpPr>
        <p:grpSpPr>
          <a:xfrm>
            <a:off x="500045" y="2100229"/>
            <a:ext cx="3768341" cy="719444"/>
            <a:chOff x="666750" y="2952750"/>
            <a:chExt cx="5238900" cy="1000200"/>
          </a:xfrm>
        </p:grpSpPr>
        <p:sp>
          <p:nvSpPr>
            <p:cNvPr id="235" name="Google Shape;235;p20"/>
            <p:cNvSpPr/>
            <p:nvPr/>
          </p:nvSpPr>
          <p:spPr>
            <a:xfrm>
              <a:off x="666750" y="2952750"/>
              <a:ext cx="5238900" cy="1000200"/>
            </a:xfrm>
            <a:prstGeom prst="roundRect">
              <a:avLst>
                <a:gd fmla="val 6341" name="adj"/>
              </a:avLst>
            </a:prstGeom>
            <a:solidFill>
              <a:srgbClr val="FFFFFF"/>
            </a:solidFill>
            <a:ln cap="flat" cmpd="sng" w="1027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0"/>
            <p:cNvSpPr txBox="1"/>
            <p:nvPr/>
          </p:nvSpPr>
          <p:spPr>
            <a:xfrm>
              <a:off x="857250" y="3048000"/>
              <a:ext cx="12384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2"/>
                <a:buFont typeface="Arial"/>
                <a:buNone/>
              </a:pPr>
              <a:r>
                <a:rPr b="1" i="0" lang="en" sz="2302" u="none" cap="none" strike="noStrike">
                  <a:solidFill>
                    <a:srgbClr val="00823D"/>
                  </a:solidFill>
                  <a:latin typeface="Arial"/>
                  <a:ea typeface="Arial"/>
                  <a:cs typeface="Arial"/>
                  <a:sym typeface="Arial"/>
                </a:rPr>
                <a:t>92.1%</a:t>
              </a:r>
              <a:endParaRPr b="1" i="0" sz="2302" u="none" cap="none" strike="noStrike">
                <a:solidFill>
                  <a:srgbClr val="00823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0"/>
            <p:cNvSpPr txBox="1"/>
            <p:nvPr/>
          </p:nvSpPr>
          <p:spPr>
            <a:xfrm>
              <a:off x="2286000" y="3048000"/>
              <a:ext cx="34290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7"/>
                <a:buFont typeface="Arial"/>
                <a:buNone/>
              </a:pPr>
              <a:r>
                <a:rPr b="1" i="0" lang="en" sz="767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35+ Age Concentration</a:t>
              </a:r>
              <a:endParaRPr b="1" i="0" sz="767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92"/>
                </a:spcBef>
                <a:spcAft>
                  <a:spcPts val="192"/>
                </a:spcAft>
                <a:buClr>
                  <a:srgbClr val="000000"/>
                </a:buClr>
                <a:buSzPts val="767"/>
                <a:buFont typeface="Arial"/>
                <a:buNone/>
              </a:pPr>
              <a:r>
                <a:rPr b="1" i="0" lang="en" sz="7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863,615 impressions</a:t>
              </a:r>
              <a:r>
                <a:rPr b="0" i="0" lang="en" sz="767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 reached active, mature adults aged 35 and older.</a:t>
              </a:r>
              <a:endParaRPr b="1" i="0" sz="767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8" name="Google Shape;238;p20"/>
          <p:cNvGrpSpPr/>
          <p:nvPr/>
        </p:nvGrpSpPr>
        <p:grpSpPr>
          <a:xfrm>
            <a:off x="500045" y="1278069"/>
            <a:ext cx="3768341" cy="719444"/>
            <a:chOff x="666750" y="1809750"/>
            <a:chExt cx="5238900" cy="1000200"/>
          </a:xfrm>
        </p:grpSpPr>
        <p:sp>
          <p:nvSpPr>
            <p:cNvPr id="239" name="Google Shape;239;p20"/>
            <p:cNvSpPr/>
            <p:nvPr/>
          </p:nvSpPr>
          <p:spPr>
            <a:xfrm>
              <a:off x="666750" y="1809750"/>
              <a:ext cx="5238900" cy="1000200"/>
            </a:xfrm>
            <a:prstGeom prst="roundRect">
              <a:avLst>
                <a:gd fmla="val 6341" name="adj"/>
              </a:avLst>
            </a:prstGeom>
            <a:solidFill>
              <a:srgbClr val="FFFFFF"/>
            </a:solidFill>
            <a:ln cap="flat" cmpd="sng" w="1027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0"/>
            <p:cNvSpPr txBox="1"/>
            <p:nvPr/>
          </p:nvSpPr>
          <p:spPr>
            <a:xfrm>
              <a:off x="857250" y="1905000"/>
              <a:ext cx="12384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10"/>
                <a:buFont typeface="Arial"/>
                <a:buNone/>
              </a:pPr>
              <a:r>
                <a:rPr b="1" i="0" lang="en" sz="2110" u="none" cap="none" strike="noStrike">
                  <a:solidFill>
                    <a:srgbClr val="00823D"/>
                  </a:solidFill>
                  <a:latin typeface="Arial"/>
                  <a:ea typeface="Arial"/>
                  <a:cs typeface="Arial"/>
                  <a:sym typeface="Arial"/>
                </a:rPr>
                <a:t>99.9%</a:t>
              </a:r>
              <a:endParaRPr b="1" i="0" sz="2110" u="none" cap="none" strike="noStrike">
                <a:solidFill>
                  <a:srgbClr val="00823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0"/>
            <p:cNvSpPr txBox="1"/>
            <p:nvPr/>
          </p:nvSpPr>
          <p:spPr>
            <a:xfrm>
              <a:off x="2286000" y="1905000"/>
              <a:ext cx="34290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7"/>
                <a:buFont typeface="Arial"/>
                <a:buNone/>
              </a:pPr>
              <a:r>
                <a:rPr b="1" i="0" lang="en" sz="767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25+ Prime Homeowners</a:t>
              </a:r>
              <a:endParaRPr b="1" i="0" sz="767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92"/>
                </a:spcBef>
                <a:spcAft>
                  <a:spcPts val="192"/>
                </a:spcAft>
                <a:buClr>
                  <a:srgbClr val="000000"/>
                </a:buClr>
                <a:buSzPts val="767"/>
                <a:buFont typeface="Arial"/>
                <a:buNone/>
              </a:pPr>
              <a:r>
                <a:rPr b="0" i="0" lang="en" sz="767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Targeted impressions successfully reached adults 25+; the </a:t>
              </a:r>
              <a:r>
                <a:rPr b="1" i="0" lang="en" sz="7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18–24 demographic was explicitly excluded</a:t>
              </a:r>
              <a:r>
                <a:rPr b="0" i="0" lang="en" sz="767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1" i="0" sz="767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2" name="Google Shape;242;p20"/>
          <p:cNvGrpSpPr/>
          <p:nvPr/>
        </p:nvGrpSpPr>
        <p:grpSpPr>
          <a:xfrm>
            <a:off x="500045" y="2922389"/>
            <a:ext cx="3768341" cy="719444"/>
            <a:chOff x="666750" y="4095750"/>
            <a:chExt cx="5238900" cy="1000200"/>
          </a:xfrm>
        </p:grpSpPr>
        <p:sp>
          <p:nvSpPr>
            <p:cNvPr id="243" name="Google Shape;243;p20"/>
            <p:cNvSpPr/>
            <p:nvPr/>
          </p:nvSpPr>
          <p:spPr>
            <a:xfrm>
              <a:off x="666750" y="4095750"/>
              <a:ext cx="5238900" cy="1000200"/>
            </a:xfrm>
            <a:prstGeom prst="roundRect">
              <a:avLst>
                <a:gd fmla="val 6342" name="adj"/>
              </a:avLst>
            </a:prstGeom>
            <a:solidFill>
              <a:srgbClr val="FFFFFF"/>
            </a:solidFill>
            <a:ln cap="flat" cmpd="sng" w="1027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0"/>
            <p:cNvSpPr txBox="1"/>
            <p:nvPr/>
          </p:nvSpPr>
          <p:spPr>
            <a:xfrm>
              <a:off x="857250" y="4191000"/>
              <a:ext cx="1238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10"/>
                <a:buFont typeface="Arial"/>
                <a:buNone/>
              </a:pPr>
              <a:r>
                <a:rPr b="1" i="0" lang="en" sz="211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16.8%</a:t>
              </a:r>
              <a:endParaRPr b="1" i="0" sz="211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0"/>
            <p:cNvSpPr txBox="1"/>
            <p:nvPr/>
          </p:nvSpPr>
          <p:spPr>
            <a:xfrm>
              <a:off x="2286000" y="4191000"/>
              <a:ext cx="3429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7"/>
                <a:buFont typeface="Arial"/>
                <a:buNone/>
              </a:pPr>
              <a:r>
                <a:rPr b="1" i="0" lang="en" sz="767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Unknown Category (CTV Privacy)</a:t>
              </a:r>
              <a:endParaRPr b="1" i="0" sz="767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92"/>
                </a:spcBef>
                <a:spcAft>
                  <a:spcPts val="0"/>
                </a:spcAft>
                <a:buClr>
                  <a:srgbClr val="000000"/>
                </a:buClr>
                <a:buSzPts val="767"/>
                <a:buFont typeface="Arial"/>
                <a:buNone/>
              </a:pPr>
              <a:r>
                <a:rPr b="1" i="0" lang="en" sz="7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189,681 impressions</a:t>
              </a:r>
              <a:r>
                <a:rPr b="0" i="0" lang="en" sz="767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 fell into privacy-protected unknown buckets, typical for CTV household identity graphs.</a:t>
              </a:r>
              <a:endParaRPr b="0" i="0" sz="767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6" name="Google Shape;246;p20"/>
          <p:cNvGrpSpPr/>
          <p:nvPr/>
        </p:nvGrpSpPr>
        <p:grpSpPr>
          <a:xfrm>
            <a:off x="4473817" y="1278069"/>
            <a:ext cx="3836746" cy="2363764"/>
            <a:chOff x="6191250" y="1809750"/>
            <a:chExt cx="5334000" cy="3286200"/>
          </a:xfrm>
        </p:grpSpPr>
        <p:sp>
          <p:nvSpPr>
            <p:cNvPr id="247" name="Google Shape;247;p20"/>
            <p:cNvSpPr/>
            <p:nvPr/>
          </p:nvSpPr>
          <p:spPr>
            <a:xfrm>
              <a:off x="6191250" y="1809750"/>
              <a:ext cx="5334000" cy="3286200"/>
            </a:xfrm>
            <a:prstGeom prst="roundRect">
              <a:avLst>
                <a:gd fmla="val 1930" name="adj"/>
              </a:avLst>
            </a:prstGeom>
            <a:solidFill>
              <a:srgbClr val="FFFFFF"/>
            </a:solidFill>
            <a:ln cap="flat" cmpd="sng" w="1027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8" name="Google Shape;248;p20"/>
            <p:cNvGrpSpPr/>
            <p:nvPr/>
          </p:nvGrpSpPr>
          <p:grpSpPr>
            <a:xfrm>
              <a:off x="6429375" y="2000250"/>
              <a:ext cx="2857500" cy="238200"/>
              <a:chOff x="0" y="0"/>
              <a:chExt cx="2857500" cy="238200"/>
            </a:xfrm>
          </p:grpSpPr>
          <p:sp>
            <p:nvSpPr>
              <p:cNvPr id="249" name="Google Shape;249;p20"/>
              <p:cNvSpPr/>
              <p:nvPr/>
            </p:nvSpPr>
            <p:spPr>
              <a:xfrm>
                <a:off x="0" y="0"/>
                <a:ext cx="2857500" cy="238200"/>
              </a:xfrm>
              <a:prstGeom prst="roundRect">
                <a:avLst>
                  <a:gd fmla="val 22640" name="adj"/>
                </a:avLst>
              </a:prstGeom>
              <a:solidFill>
                <a:srgbClr val="CCFFEF"/>
              </a:solidFill>
              <a:ln cap="flat" cmpd="sng" w="9525">
                <a:solidFill>
                  <a:srgbClr val="A7C1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20"/>
              <p:cNvSpPr txBox="1"/>
              <p:nvPr/>
            </p:nvSpPr>
            <p:spPr>
              <a:xfrm>
                <a:off x="0" y="0"/>
                <a:ext cx="2857500" cy="238200"/>
              </a:xfrm>
              <a:prstGeom prst="rect">
                <a:avLst/>
              </a:prstGeom>
              <a:solidFill>
                <a:srgbClr val="A7C142"/>
              </a:solidFill>
              <a:ln cap="flat" cmpd="sng" w="9525">
                <a:solidFill>
                  <a:srgbClr val="A7C1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1"/>
                  <a:buFont typeface="Arial"/>
                  <a:buNone/>
                </a:pPr>
                <a:r>
                  <a:rPr b="1" i="0" lang="en" sz="671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REACH &amp; FREQUENCY MODEL</a:t>
                </a:r>
                <a:endParaRPr b="1" i="0" sz="671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1" name="Google Shape;251;p20"/>
            <p:cNvSpPr txBox="1"/>
            <p:nvPr/>
          </p:nvSpPr>
          <p:spPr>
            <a:xfrm>
              <a:off x="6429375" y="2428875"/>
              <a:ext cx="21909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1"/>
                <a:buFont typeface="Arial"/>
                <a:buNone/>
              </a:pPr>
              <a:r>
                <a:rPr b="1" i="0" lang="en" sz="671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EST. UNIQUE REACH</a:t>
              </a:r>
              <a:endParaRPr b="1" i="0" sz="671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71"/>
                </a:spcBef>
                <a:spcAft>
                  <a:spcPts val="0"/>
                </a:spcAft>
                <a:buClr>
                  <a:srgbClr val="000000"/>
                </a:buClr>
                <a:buSzPts val="2781"/>
                <a:buFont typeface="Arial"/>
                <a:buNone/>
              </a:pPr>
              <a:r>
                <a:rPr b="1" i="0" lang="en" sz="2781" u="none" cap="none" strike="noStrike">
                  <a:solidFill>
                    <a:srgbClr val="00823D"/>
                  </a:solidFill>
                  <a:latin typeface="Arial"/>
                  <a:ea typeface="Arial"/>
                  <a:cs typeface="Arial"/>
                  <a:sym typeface="Arial"/>
                </a:rPr>
                <a:t>~128K</a:t>
              </a:r>
              <a:endParaRPr b="1" i="0" sz="2781" u="none" cap="none" strike="noStrike">
                <a:solidFill>
                  <a:srgbClr val="00823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88"/>
                </a:spcBef>
                <a:spcAft>
                  <a:spcPts val="0"/>
                </a:spcAft>
                <a:buClr>
                  <a:srgbClr val="000000"/>
                </a:buClr>
                <a:buSzPts val="863"/>
                <a:buFont typeface="Arial"/>
                <a:buNone/>
              </a:pPr>
              <a:r>
                <a:rPr b="1" i="0" lang="en" sz="863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Unique Devices</a:t>
              </a:r>
              <a:endParaRPr b="1" i="0" sz="86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67"/>
                </a:spcBef>
                <a:spcAft>
                  <a:spcPts val="0"/>
                </a:spcAft>
                <a:buClr>
                  <a:srgbClr val="000000"/>
                </a:buClr>
                <a:buSzPts val="767"/>
                <a:buFont typeface="Arial"/>
                <a:buNone/>
              </a:pPr>
              <a:r>
                <a:rPr b="0" i="0" lang="en" sz="767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Represents approximately </a:t>
              </a:r>
              <a:r>
                <a:rPr b="1" i="0" lang="en" sz="7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80K Households </a:t>
              </a:r>
              <a:r>
                <a:rPr b="0" i="0" lang="en" sz="767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across target areas </a:t>
              </a:r>
              <a:endParaRPr b="0" i="0" sz="767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2" name="Google Shape;252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848725" y="2571750"/>
              <a:ext cx="19200" cy="2095500"/>
            </a:xfrm>
            <a:prstGeom prst="rect">
              <a:avLst/>
            </a:prstGeom>
            <a:noFill/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53" name="Google Shape;253;p20"/>
            <p:cNvSpPr txBox="1"/>
            <p:nvPr/>
          </p:nvSpPr>
          <p:spPr>
            <a:xfrm>
              <a:off x="9096375" y="2428875"/>
              <a:ext cx="21909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1"/>
                <a:buFont typeface="Arial"/>
                <a:buNone/>
              </a:pPr>
              <a:r>
                <a:rPr b="1" i="0" lang="en" sz="671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AVG. AD FREQUENCY</a:t>
              </a:r>
              <a:endParaRPr b="1" i="0" sz="671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71"/>
                </a:spcBef>
                <a:spcAft>
                  <a:spcPts val="0"/>
                </a:spcAft>
                <a:buClr>
                  <a:srgbClr val="000000"/>
                </a:buClr>
                <a:buSzPts val="2781"/>
                <a:buFont typeface="Arial"/>
                <a:buNone/>
              </a:pPr>
              <a:r>
                <a:rPr b="1" i="0" lang="en" sz="2781" u="none" cap="none" strike="noStrike">
                  <a:solidFill>
                    <a:srgbClr val="00823D"/>
                  </a:solidFill>
                  <a:latin typeface="Arial"/>
                  <a:ea typeface="Arial"/>
                  <a:cs typeface="Arial"/>
                  <a:sym typeface="Arial"/>
                </a:rPr>
                <a:t>8.8x</a:t>
              </a:r>
              <a:endParaRPr b="1" i="0" sz="2781" u="none" cap="none" strike="noStrike">
                <a:solidFill>
                  <a:srgbClr val="00823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88"/>
                </a:spcBef>
                <a:spcAft>
                  <a:spcPts val="0"/>
                </a:spcAft>
                <a:buClr>
                  <a:srgbClr val="000000"/>
                </a:buClr>
                <a:buSzPts val="863"/>
                <a:buFont typeface="Arial"/>
                <a:buNone/>
              </a:pPr>
              <a:r>
                <a:rPr b="1" i="0" lang="en" sz="863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Per Unique Device/Month</a:t>
              </a:r>
              <a:endParaRPr b="1" i="0" sz="86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67"/>
                </a:spcBef>
                <a:spcAft>
                  <a:spcPts val="0"/>
                </a:spcAft>
                <a:buClr>
                  <a:srgbClr val="000000"/>
                </a:buClr>
                <a:buSzPts val="767"/>
                <a:buFont typeface="Arial"/>
                <a:buNone/>
              </a:pPr>
              <a:r>
                <a:rPr b="0" i="0" lang="en" sz="767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The optimal frequency sweet spot to establish </a:t>
              </a:r>
              <a:r>
                <a:rPr b="1" i="0" lang="en" sz="7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maximum local brand recall</a:t>
              </a:r>
              <a:r>
                <a:rPr b="0" i="0" lang="en" sz="767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767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4" name="Google Shape;254;p20"/>
          <p:cNvGrpSpPr/>
          <p:nvPr/>
        </p:nvGrpSpPr>
        <p:grpSpPr>
          <a:xfrm>
            <a:off x="500057" y="3717231"/>
            <a:ext cx="7810519" cy="719503"/>
            <a:chOff x="666750" y="5238750"/>
            <a:chExt cx="10858500" cy="1095300"/>
          </a:xfrm>
        </p:grpSpPr>
        <p:sp>
          <p:nvSpPr>
            <p:cNvPr id="255" name="Google Shape;255;p20"/>
            <p:cNvSpPr/>
            <p:nvPr/>
          </p:nvSpPr>
          <p:spPr>
            <a:xfrm>
              <a:off x="666750" y="5238750"/>
              <a:ext cx="10858500" cy="1095300"/>
            </a:xfrm>
            <a:prstGeom prst="roundRect">
              <a:avLst>
                <a:gd fmla="val 5791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6" name="Google Shape;256;p20"/>
            <p:cNvGrpSpPr/>
            <p:nvPr/>
          </p:nvGrpSpPr>
          <p:grpSpPr>
            <a:xfrm>
              <a:off x="904875" y="5429250"/>
              <a:ext cx="285900" cy="285900"/>
              <a:chOff x="0" y="0"/>
              <a:chExt cx="285900" cy="285900"/>
            </a:xfrm>
          </p:grpSpPr>
          <p:sp>
            <p:nvSpPr>
              <p:cNvPr id="257" name="Google Shape;257;p20"/>
              <p:cNvSpPr/>
              <p:nvPr/>
            </p:nvSpPr>
            <p:spPr>
              <a:xfrm>
                <a:off x="0" y="0"/>
                <a:ext cx="285900" cy="285900"/>
              </a:xfrm>
              <a:prstGeom prst="ellipse">
                <a:avLst/>
              </a:prstGeom>
              <a:solidFill>
                <a:srgbClr val="006A4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20"/>
              <p:cNvSpPr/>
              <p:nvPr/>
            </p:nvSpPr>
            <p:spPr>
              <a:xfrm>
                <a:off x="85725" y="104775"/>
                <a:ext cx="114300" cy="762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40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71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9" name="Google Shape;259;p20"/>
            <p:cNvSpPr txBox="1"/>
            <p:nvPr/>
          </p:nvSpPr>
          <p:spPr>
            <a:xfrm>
              <a:off x="1333500" y="5381625"/>
              <a:ext cx="10001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3"/>
                <a:buFont typeface="Arial"/>
                <a:buNone/>
              </a:pPr>
              <a:r>
                <a:rPr b="1" i="0" lang="en" sz="863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STRATEGIC VALUE</a:t>
              </a:r>
              <a:endParaRPr b="1" i="0" sz="863" u="none" cap="none" strike="noStrike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92"/>
                </a:spcBef>
                <a:spcAft>
                  <a:spcPts val="0"/>
                </a:spcAft>
                <a:buClr>
                  <a:srgbClr val="000000"/>
                </a:buClr>
                <a:buSzPts val="863"/>
                <a:buFont typeface="Arial"/>
                <a:buNone/>
              </a:pPr>
              <a:r>
                <a:rPr b="0" i="1" lang="en" sz="863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A 8.8x frequency is a starting point for brand recall—ensuring when a pipe bursts or a water heater fails, </a:t>
              </a:r>
              <a:r>
                <a:rPr b="1" i="0" lang="en" sz="863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Happy Camper Home Services</a:t>
              </a:r>
              <a:r>
                <a:rPr b="0" i="1" lang="en" sz="863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 is top-of-mind. Projections modeled from identity-matched CTV sample data (38.3k impressions) across 1.12M total delivered campaign impressions.</a:t>
              </a:r>
              <a:endParaRPr b="0" i="1" sz="863" u="none" cap="none" strike="noStrike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1"/>
          <p:cNvSpPr/>
          <p:nvPr/>
        </p:nvSpPr>
        <p:spPr>
          <a:xfrm>
            <a:off x="0" y="0"/>
            <a:ext cx="9144000" cy="449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5" name="Google Shape;265;p21"/>
          <p:cNvGrpSpPr/>
          <p:nvPr/>
        </p:nvGrpSpPr>
        <p:grpSpPr>
          <a:xfrm>
            <a:off x="500063" y="285750"/>
            <a:ext cx="4714875" cy="1035900"/>
            <a:chOff x="0" y="0"/>
            <a:chExt cx="6286500" cy="1381200"/>
          </a:xfrm>
        </p:grpSpPr>
        <p:grpSp>
          <p:nvGrpSpPr>
            <p:cNvPr id="266" name="Google Shape;266;p21"/>
            <p:cNvGrpSpPr/>
            <p:nvPr/>
          </p:nvGrpSpPr>
          <p:grpSpPr>
            <a:xfrm>
              <a:off x="0" y="0"/>
              <a:ext cx="1467000" cy="238200"/>
              <a:chOff x="0" y="0"/>
              <a:chExt cx="1467000" cy="238200"/>
            </a:xfrm>
          </p:grpSpPr>
          <p:sp>
            <p:nvSpPr>
              <p:cNvPr id="267" name="Google Shape;267;p21"/>
              <p:cNvSpPr/>
              <p:nvPr/>
            </p:nvSpPr>
            <p:spPr>
              <a:xfrm>
                <a:off x="0" y="0"/>
                <a:ext cx="1467000" cy="238200"/>
              </a:xfrm>
              <a:prstGeom prst="roundRect">
                <a:avLst>
                  <a:gd fmla="val 22640" name="adj"/>
                </a:avLst>
              </a:prstGeom>
              <a:solidFill>
                <a:srgbClr val="CCFFE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21"/>
              <p:cNvSpPr txBox="1"/>
              <p:nvPr/>
            </p:nvSpPr>
            <p:spPr>
              <a:xfrm>
                <a:off x="0" y="0"/>
                <a:ext cx="1467000" cy="2382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1" i="0" lang="en" sz="7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DEVICE BREAKDOWN</a:t>
                </a:r>
                <a:endParaRPr b="1" i="0" sz="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9" name="Google Shape;269;p21"/>
            <p:cNvSpPr txBox="1"/>
            <p:nvPr/>
          </p:nvSpPr>
          <p:spPr>
            <a:xfrm>
              <a:off x="0" y="381000"/>
              <a:ext cx="62865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Prioritizing High-Impact Sight, Sound, and Motion</a:t>
              </a:r>
              <a:endParaRPr b="1" i="0" sz="15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Streaming ads delivered almost exclusively on Connected TVs in the living room, ensuring maximum brand recall and household engagement.</a:t>
              </a:r>
              <a:endParaRPr b="0" i="0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0" name="Google Shape;270;p21"/>
          <p:cNvGrpSpPr/>
          <p:nvPr/>
        </p:nvGrpSpPr>
        <p:grpSpPr>
          <a:xfrm>
            <a:off x="500075" y="1106875"/>
            <a:ext cx="4627493" cy="1086704"/>
            <a:chOff x="0" y="0"/>
            <a:chExt cx="6286500" cy="1476300"/>
          </a:xfrm>
        </p:grpSpPr>
        <p:sp>
          <p:nvSpPr>
            <p:cNvPr id="271" name="Google Shape;271;p21"/>
            <p:cNvSpPr/>
            <p:nvPr/>
          </p:nvSpPr>
          <p:spPr>
            <a:xfrm>
              <a:off x="0" y="0"/>
              <a:ext cx="6286500" cy="1476300"/>
            </a:xfrm>
            <a:prstGeom prst="roundRect">
              <a:avLst>
                <a:gd fmla="val 4303" name="adj"/>
              </a:avLst>
            </a:prstGeom>
            <a:solidFill>
              <a:srgbClr val="FFFFFF"/>
            </a:solidFill>
            <a:ln cap="flat" cmpd="sng" w="10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1"/>
            <p:cNvSpPr txBox="1"/>
            <p:nvPr/>
          </p:nvSpPr>
          <p:spPr>
            <a:xfrm>
              <a:off x="190500" y="142875"/>
              <a:ext cx="59055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80"/>
                <a:buFont typeface="Arial"/>
                <a:buNone/>
              </a:pPr>
              <a:r>
                <a:rPr b="1" i="0" lang="en" sz="108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📺 Connected TV (CTV)</a:t>
              </a:r>
              <a:endParaRPr b="1" i="0" sz="10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94"/>
                </a:spcBef>
                <a:spcAft>
                  <a:spcPts val="0"/>
                </a:spcAft>
                <a:buClr>
                  <a:srgbClr val="000000"/>
                </a:buClr>
                <a:buSzPts val="883"/>
                <a:buFont typeface="Arial"/>
                <a:buNone/>
              </a:pPr>
              <a:r>
                <a:rPr b="1" i="0" lang="en" sz="883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Spend: </a:t>
              </a:r>
              <a:r>
                <a:rPr b="0" i="0" lang="en" sz="883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$9,284.71</a:t>
              </a:r>
              <a:r>
                <a:rPr b="1" i="0" lang="en" sz="883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n" sz="883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| 92.7% share</a:t>
              </a:r>
              <a:endParaRPr b="1" i="0" sz="88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96"/>
                </a:spcBef>
                <a:spcAft>
                  <a:spcPts val="0"/>
                </a:spcAft>
                <a:buClr>
                  <a:srgbClr val="000000"/>
                </a:buClr>
                <a:buSzPts val="883"/>
                <a:buFont typeface="Arial"/>
                <a:buNone/>
              </a:pPr>
              <a:r>
                <a:rPr b="0" i="0" lang="en" sz="883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1,054,439 impressions (93.5% Share) at </a:t>
              </a:r>
              <a:r>
                <a:rPr b="1" i="0" lang="en" sz="883" u="none" cap="none" strike="noStrike">
                  <a:solidFill>
                    <a:srgbClr val="00823D"/>
                  </a:solidFill>
                  <a:latin typeface="Arial"/>
                  <a:ea typeface="Arial"/>
                  <a:cs typeface="Arial"/>
                  <a:sym typeface="Arial"/>
                </a:rPr>
                <a:t>$8.80 CTV CPM</a:t>
              </a:r>
              <a:endParaRPr b="1" i="0" sz="883" u="none" cap="none" strike="noStrike">
                <a:solidFill>
                  <a:srgbClr val="00823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94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b="0" i="1" lang="en" sz="785" u="none" cap="none" strike="noStrike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High-definition, unskippable ads delivered directly on home television screens.</a:t>
              </a:r>
              <a:endParaRPr b="0" i="1" sz="785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3" name="Google Shape;273;p21"/>
          <p:cNvGrpSpPr/>
          <p:nvPr/>
        </p:nvGrpSpPr>
        <p:grpSpPr>
          <a:xfrm>
            <a:off x="500075" y="2298770"/>
            <a:ext cx="4627493" cy="1016701"/>
            <a:chOff x="0" y="0"/>
            <a:chExt cx="6286500" cy="1381200"/>
          </a:xfrm>
        </p:grpSpPr>
        <p:sp>
          <p:nvSpPr>
            <p:cNvPr id="274" name="Google Shape;274;p21"/>
            <p:cNvSpPr/>
            <p:nvPr/>
          </p:nvSpPr>
          <p:spPr>
            <a:xfrm>
              <a:off x="0" y="0"/>
              <a:ext cx="6286500" cy="1381200"/>
            </a:xfrm>
            <a:prstGeom prst="roundRect">
              <a:avLst>
                <a:gd fmla="val 4599" name="adj"/>
              </a:avLst>
            </a:prstGeom>
            <a:solidFill>
              <a:srgbClr val="FFFFFF"/>
            </a:solidFill>
            <a:ln cap="flat" cmpd="sng" w="10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1"/>
            <p:cNvSpPr txBox="1"/>
            <p:nvPr/>
          </p:nvSpPr>
          <p:spPr>
            <a:xfrm>
              <a:off x="190500" y="142875"/>
              <a:ext cx="59055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80"/>
                <a:buFont typeface="Arial"/>
                <a:buNone/>
              </a:pPr>
              <a:r>
                <a:rPr b="1" i="0" lang="en" sz="108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🖥️ Desktop &amp; Computers</a:t>
              </a:r>
              <a:endParaRPr b="1" i="0" sz="10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94"/>
                </a:spcBef>
                <a:spcAft>
                  <a:spcPts val="0"/>
                </a:spcAft>
                <a:buClr>
                  <a:srgbClr val="000000"/>
                </a:buClr>
                <a:buSzPts val="883"/>
                <a:buFont typeface="Arial"/>
                <a:buNone/>
              </a:pPr>
              <a:r>
                <a:rPr b="1" i="0" lang="en" sz="883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Spend: </a:t>
              </a:r>
              <a:r>
                <a:rPr b="0" i="0" lang="en" sz="883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$473.29</a:t>
              </a:r>
              <a:r>
                <a:rPr b="1" i="0" lang="en" sz="883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n" sz="883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| 4.7% share</a:t>
              </a:r>
              <a:endParaRPr b="1" i="0" sz="88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96"/>
                </a:spcBef>
                <a:spcAft>
                  <a:spcPts val="0"/>
                </a:spcAft>
                <a:buClr>
                  <a:srgbClr val="000000"/>
                </a:buClr>
                <a:buSzPts val="883"/>
                <a:buFont typeface="Arial"/>
                <a:buNone/>
              </a:pPr>
              <a:r>
                <a:rPr b="0" i="0" lang="en" sz="883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72,380 impressions at </a:t>
              </a:r>
              <a:r>
                <a:rPr b="1" i="0" lang="en" sz="883" u="none" cap="none" strike="noStrike">
                  <a:solidFill>
                    <a:srgbClr val="00823D"/>
                  </a:solidFill>
                  <a:latin typeface="Arial"/>
                  <a:ea typeface="Arial"/>
                  <a:cs typeface="Arial"/>
                  <a:sym typeface="Arial"/>
                </a:rPr>
                <a:t>$6.54 CPM</a:t>
              </a:r>
              <a:endParaRPr b="1" i="0" sz="883" u="none" cap="none" strike="noStrike">
                <a:solidFill>
                  <a:srgbClr val="00823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94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b="0" i="1" lang="en" sz="785" u="none" cap="none" strike="noStrike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Secondary cross-device touchpoints across local computer screens.</a:t>
              </a:r>
              <a:endParaRPr b="0" i="1" sz="785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6" name="Google Shape;276;p21"/>
          <p:cNvGrpSpPr/>
          <p:nvPr/>
        </p:nvGrpSpPr>
        <p:grpSpPr>
          <a:xfrm>
            <a:off x="500075" y="3420553"/>
            <a:ext cx="4627493" cy="1016701"/>
            <a:chOff x="0" y="0"/>
            <a:chExt cx="6286500" cy="1381200"/>
          </a:xfrm>
        </p:grpSpPr>
        <p:sp>
          <p:nvSpPr>
            <p:cNvPr id="277" name="Google Shape;277;p21"/>
            <p:cNvSpPr/>
            <p:nvPr/>
          </p:nvSpPr>
          <p:spPr>
            <a:xfrm>
              <a:off x="0" y="0"/>
              <a:ext cx="6286500" cy="1381200"/>
            </a:xfrm>
            <a:prstGeom prst="roundRect">
              <a:avLst>
                <a:gd fmla="val 4599" name="adj"/>
              </a:avLst>
            </a:prstGeom>
            <a:solidFill>
              <a:srgbClr val="FFFFFF"/>
            </a:solidFill>
            <a:ln cap="flat" cmpd="sng" w="10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1"/>
            <p:cNvSpPr txBox="1"/>
            <p:nvPr/>
          </p:nvSpPr>
          <p:spPr>
            <a:xfrm>
              <a:off x="190500" y="142875"/>
              <a:ext cx="59055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80"/>
                <a:buFont typeface="Arial"/>
                <a:buNone/>
              </a:pPr>
              <a:r>
                <a:rPr b="1" i="0" lang="en" sz="108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📱 Smartphones &amp; Tablets</a:t>
              </a:r>
              <a:endParaRPr b="1" i="0" sz="10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94"/>
                </a:spcBef>
                <a:spcAft>
                  <a:spcPts val="0"/>
                </a:spcAft>
                <a:buClr>
                  <a:srgbClr val="000000"/>
                </a:buClr>
                <a:buSzPts val="883"/>
                <a:buFont typeface="Arial"/>
                <a:buNone/>
              </a:pPr>
              <a:r>
                <a:rPr b="1" i="0" lang="en" sz="883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Spend: </a:t>
              </a:r>
              <a:r>
                <a:rPr b="0" i="0" lang="en" sz="883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$261.26</a:t>
              </a:r>
              <a:r>
                <a:rPr b="1" i="0" lang="en" sz="883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n" sz="883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| 2.6% share</a:t>
              </a:r>
              <a:endParaRPr b="1" i="0" sz="88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96"/>
                </a:spcBef>
                <a:spcAft>
                  <a:spcPts val="0"/>
                </a:spcAft>
                <a:buClr>
                  <a:srgbClr val="000000"/>
                </a:buClr>
                <a:buSzPts val="883"/>
                <a:buFont typeface="Arial"/>
                <a:buNone/>
              </a:pPr>
              <a:r>
                <a:rPr b="0" i="0" lang="en" sz="883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503 impressions — CPM: </a:t>
              </a:r>
              <a:r>
                <a:rPr b="1" i="0" lang="en" sz="883" u="none" cap="none" strike="noStrike">
                  <a:solidFill>
                    <a:srgbClr val="00823D"/>
                  </a:solidFill>
                  <a:latin typeface="Arial"/>
                  <a:ea typeface="Arial"/>
                  <a:cs typeface="Arial"/>
                  <a:sym typeface="Arial"/>
                </a:rPr>
                <a:t>N/A</a:t>
              </a:r>
              <a:endParaRPr b="1" i="0" sz="883" u="none" cap="none" strike="noStrike">
                <a:solidFill>
                  <a:srgbClr val="00823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94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b="0" i="1" lang="en" sz="785" u="none" cap="none" strike="noStrike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Kept minimal by design to avoid small-screen ad fatigue and wasteful clicks.</a:t>
              </a:r>
              <a:endParaRPr b="0" i="1" sz="785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9" name="Google Shape;279;p21"/>
          <p:cNvPicPr preferRelativeResize="0"/>
          <p:nvPr/>
        </p:nvPicPr>
        <p:blipFill rotWithShape="1">
          <a:blip r:embed="rId3">
            <a:alphaModFix/>
          </a:blip>
          <a:srcRect b="9467" l="8427" r="2684" t="-9019"/>
          <a:stretch/>
        </p:blipFill>
        <p:spPr>
          <a:xfrm>
            <a:off x="5715000" y="-64710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22"/>
          <p:cNvGrpSpPr/>
          <p:nvPr/>
        </p:nvGrpSpPr>
        <p:grpSpPr>
          <a:xfrm>
            <a:off x="496106" y="487412"/>
            <a:ext cx="1388250" cy="182925"/>
            <a:chOff x="0" y="0"/>
            <a:chExt cx="1851000" cy="243900"/>
          </a:xfrm>
        </p:grpSpPr>
        <p:sp>
          <p:nvSpPr>
            <p:cNvPr id="285" name="Google Shape;285;p22"/>
            <p:cNvSpPr/>
            <p:nvPr/>
          </p:nvSpPr>
          <p:spPr>
            <a:xfrm>
              <a:off x="0" y="0"/>
              <a:ext cx="1851000" cy="243900"/>
            </a:xfrm>
            <a:prstGeom prst="roundRect">
              <a:avLst>
                <a:gd fmla="val 22126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2"/>
            <p:cNvSpPr txBox="1"/>
            <p:nvPr/>
          </p:nvSpPr>
          <p:spPr>
            <a:xfrm>
              <a:off x="95250" y="47625"/>
              <a:ext cx="1660500" cy="148800"/>
            </a:xfrm>
            <a:prstGeom prst="rect">
              <a:avLst/>
            </a:prstGeom>
            <a:solidFill>
              <a:srgbClr val="A7C14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NETWORK PERFORMANCE</a:t>
              </a:r>
              <a:endParaRPr b="1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7" name="Google Shape;287;p22"/>
          <p:cNvSpPr txBox="1"/>
          <p:nvPr/>
        </p:nvSpPr>
        <p:spPr>
          <a:xfrm>
            <a:off x="496106" y="711324"/>
            <a:ext cx="81516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High-Quality Local Broadcast Partnerships</a:t>
            </a:r>
            <a:endParaRPr b="1" i="0" sz="24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2"/>
          <p:cNvSpPr txBox="1"/>
          <p:nvPr/>
        </p:nvSpPr>
        <p:spPr>
          <a:xfrm>
            <a:off x="496106" y="1333574"/>
            <a:ext cx="3928800" cy="24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Ads aired across premium, family-friendly streaming platforms and living room apps.</a:t>
            </a:r>
            <a:endParaRPr b="0" i="0" sz="9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Volume Leader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Sling TV generated 345,912 impressions at an ultra-efficient $6.21 CPM.</a:t>
            </a:r>
            <a:endParaRPr b="0" i="0" sz="9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Big Screen Scale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Roku and Samsung TV Plus combined for $4,240.74 (42% of budget), driving massive living room penetration.</a:t>
            </a:r>
            <a:endParaRPr b="0" i="0" sz="9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9" name="Google Shape;289;p22"/>
          <p:cNvGrpSpPr/>
          <p:nvPr/>
        </p:nvGrpSpPr>
        <p:grpSpPr>
          <a:xfrm>
            <a:off x="4718447" y="1246584"/>
            <a:ext cx="3939750" cy="2407500"/>
            <a:chOff x="0" y="0"/>
            <a:chExt cx="5253000" cy="3210000"/>
          </a:xfrm>
        </p:grpSpPr>
        <p:sp>
          <p:nvSpPr>
            <p:cNvPr id="290" name="Google Shape;290;p22"/>
            <p:cNvSpPr/>
            <p:nvPr/>
          </p:nvSpPr>
          <p:spPr>
            <a:xfrm>
              <a:off x="0" y="0"/>
              <a:ext cx="5253000" cy="3210000"/>
            </a:xfrm>
            <a:prstGeom prst="roundRect">
              <a:avLst>
                <a:gd fmla="val 1976" name="adj"/>
              </a:avLst>
            </a:prstGeom>
            <a:solidFill>
              <a:srgbClr val="FFFFFF"/>
            </a:solidFill>
            <a:ln cap="flat" cmpd="sng" w="9525">
              <a:solidFill>
                <a:srgbClr val="B2E5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22"/>
            <p:cNvSpPr/>
            <p:nvPr/>
          </p:nvSpPr>
          <p:spPr>
            <a:xfrm>
              <a:off x="4763" y="404813"/>
              <a:ext cx="5243400" cy="9600"/>
            </a:xfrm>
            <a:prstGeom prst="rect">
              <a:avLst/>
            </a:prstGeom>
            <a:solidFill>
              <a:srgbClr val="000000">
                <a:alpha val="7843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22"/>
            <p:cNvSpPr/>
            <p:nvPr/>
          </p:nvSpPr>
          <p:spPr>
            <a:xfrm>
              <a:off x="4763" y="804863"/>
              <a:ext cx="5243400" cy="9600"/>
            </a:xfrm>
            <a:prstGeom prst="rect">
              <a:avLst/>
            </a:prstGeom>
            <a:solidFill>
              <a:srgbClr val="000000">
                <a:alpha val="7843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22"/>
            <p:cNvSpPr/>
            <p:nvPr/>
          </p:nvSpPr>
          <p:spPr>
            <a:xfrm>
              <a:off x="4763" y="1204913"/>
              <a:ext cx="5243400" cy="9600"/>
            </a:xfrm>
            <a:prstGeom prst="rect">
              <a:avLst/>
            </a:prstGeom>
            <a:solidFill>
              <a:srgbClr val="000000">
                <a:alpha val="7843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22"/>
            <p:cNvSpPr/>
            <p:nvPr/>
          </p:nvSpPr>
          <p:spPr>
            <a:xfrm>
              <a:off x="4763" y="1604963"/>
              <a:ext cx="5243400" cy="9600"/>
            </a:xfrm>
            <a:prstGeom prst="rect">
              <a:avLst/>
            </a:prstGeom>
            <a:solidFill>
              <a:srgbClr val="000000">
                <a:alpha val="7843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22"/>
            <p:cNvSpPr/>
            <p:nvPr/>
          </p:nvSpPr>
          <p:spPr>
            <a:xfrm>
              <a:off x="4763" y="2005013"/>
              <a:ext cx="5243400" cy="9600"/>
            </a:xfrm>
            <a:prstGeom prst="rect">
              <a:avLst/>
            </a:prstGeom>
            <a:solidFill>
              <a:srgbClr val="000000">
                <a:alpha val="7843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22"/>
            <p:cNvSpPr/>
            <p:nvPr/>
          </p:nvSpPr>
          <p:spPr>
            <a:xfrm>
              <a:off x="4763" y="2405063"/>
              <a:ext cx="5243400" cy="9600"/>
            </a:xfrm>
            <a:prstGeom prst="rect">
              <a:avLst/>
            </a:prstGeom>
            <a:solidFill>
              <a:srgbClr val="000000">
                <a:alpha val="7843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22"/>
            <p:cNvSpPr/>
            <p:nvPr/>
          </p:nvSpPr>
          <p:spPr>
            <a:xfrm>
              <a:off x="4763" y="2805113"/>
              <a:ext cx="5243400" cy="9600"/>
            </a:xfrm>
            <a:prstGeom prst="rect">
              <a:avLst/>
            </a:prstGeom>
            <a:solidFill>
              <a:srgbClr val="000000">
                <a:alpha val="7843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8" name="Google Shape;298;p22"/>
          <p:cNvGrpSpPr/>
          <p:nvPr/>
        </p:nvGrpSpPr>
        <p:grpSpPr>
          <a:xfrm>
            <a:off x="4847034" y="1318022"/>
            <a:ext cx="3679144" cy="178650"/>
            <a:chOff x="171450" y="95250"/>
            <a:chExt cx="4905525" cy="238200"/>
          </a:xfrm>
        </p:grpSpPr>
        <p:sp>
          <p:nvSpPr>
            <p:cNvPr id="299" name="Google Shape;299;p22"/>
            <p:cNvSpPr txBox="1"/>
            <p:nvPr/>
          </p:nvSpPr>
          <p:spPr>
            <a:xfrm>
              <a:off x="171450" y="95250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Platform</a:t>
              </a:r>
              <a:endParaRPr b="1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22"/>
            <p:cNvSpPr txBox="1"/>
            <p:nvPr/>
          </p:nvSpPr>
          <p:spPr>
            <a:xfrm>
              <a:off x="1790700" y="95250"/>
              <a:ext cx="76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Spend</a:t>
              </a:r>
              <a:endParaRPr b="1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22"/>
            <p:cNvSpPr txBox="1"/>
            <p:nvPr/>
          </p:nvSpPr>
          <p:spPr>
            <a:xfrm>
              <a:off x="2647950" y="95250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Impressions</a:t>
              </a:r>
              <a:endParaRPr b="1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2"/>
            <p:cNvSpPr txBox="1"/>
            <p:nvPr/>
          </p:nvSpPr>
          <p:spPr>
            <a:xfrm>
              <a:off x="3695700" y="95250"/>
              <a:ext cx="809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Avg CPM</a:t>
              </a:r>
              <a:endParaRPr b="1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22"/>
            <p:cNvSpPr txBox="1"/>
            <p:nvPr/>
          </p:nvSpPr>
          <p:spPr>
            <a:xfrm>
              <a:off x="4600575" y="95250"/>
              <a:ext cx="476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VCR</a:t>
              </a:r>
              <a:endParaRPr b="1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4" name="Google Shape;304;p22"/>
          <p:cNvGrpSpPr/>
          <p:nvPr/>
        </p:nvGrpSpPr>
        <p:grpSpPr>
          <a:xfrm>
            <a:off x="4847034" y="1614488"/>
            <a:ext cx="3679144" cy="178650"/>
            <a:chOff x="171450" y="85725"/>
            <a:chExt cx="4905525" cy="238200"/>
          </a:xfrm>
        </p:grpSpPr>
        <p:sp>
          <p:nvSpPr>
            <p:cNvPr id="305" name="Google Shape;305;p22"/>
            <p:cNvSpPr txBox="1"/>
            <p:nvPr/>
          </p:nvSpPr>
          <p:spPr>
            <a:xfrm>
              <a:off x="171450" y="85725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Roku Ecosystem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22"/>
            <p:cNvSpPr txBox="1"/>
            <p:nvPr/>
          </p:nvSpPr>
          <p:spPr>
            <a:xfrm>
              <a:off x="1790700" y="85725"/>
              <a:ext cx="76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$2,239.83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22"/>
            <p:cNvSpPr txBox="1"/>
            <p:nvPr/>
          </p:nvSpPr>
          <p:spPr>
            <a:xfrm>
              <a:off x="2647950" y="85725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233,700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22"/>
            <p:cNvSpPr txBox="1"/>
            <p:nvPr/>
          </p:nvSpPr>
          <p:spPr>
            <a:xfrm>
              <a:off x="3695700" y="85725"/>
              <a:ext cx="809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$9.58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2"/>
            <p:cNvSpPr txBox="1"/>
            <p:nvPr/>
          </p:nvSpPr>
          <p:spPr>
            <a:xfrm>
              <a:off x="4600575" y="85725"/>
              <a:ext cx="476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99.0%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0" name="Google Shape;310;p22"/>
          <p:cNvGrpSpPr/>
          <p:nvPr/>
        </p:nvGrpSpPr>
        <p:grpSpPr>
          <a:xfrm>
            <a:off x="4847034" y="1914525"/>
            <a:ext cx="3679144" cy="178650"/>
            <a:chOff x="171450" y="85725"/>
            <a:chExt cx="4905525" cy="238200"/>
          </a:xfrm>
        </p:grpSpPr>
        <p:sp>
          <p:nvSpPr>
            <p:cNvPr id="311" name="Google Shape;311;p22"/>
            <p:cNvSpPr txBox="1"/>
            <p:nvPr/>
          </p:nvSpPr>
          <p:spPr>
            <a:xfrm>
              <a:off x="171450" y="85725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Sling TV Ecosystem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22"/>
            <p:cNvSpPr txBox="1"/>
            <p:nvPr/>
          </p:nvSpPr>
          <p:spPr>
            <a:xfrm>
              <a:off x="1790700" y="85725"/>
              <a:ext cx="76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$2,148.02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2"/>
            <p:cNvSpPr txBox="1"/>
            <p:nvPr/>
          </p:nvSpPr>
          <p:spPr>
            <a:xfrm>
              <a:off x="2647950" y="85725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345,912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22"/>
            <p:cNvSpPr txBox="1"/>
            <p:nvPr/>
          </p:nvSpPr>
          <p:spPr>
            <a:xfrm>
              <a:off x="3695700" y="85725"/>
              <a:ext cx="809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800" u="none" cap="none" strike="noStrike">
                  <a:solidFill>
                    <a:srgbClr val="00823D"/>
                  </a:solidFill>
                  <a:latin typeface="Arial"/>
                  <a:ea typeface="Arial"/>
                  <a:cs typeface="Arial"/>
                  <a:sym typeface="Arial"/>
                </a:rPr>
                <a:t>$6.21</a:t>
              </a:r>
              <a:endParaRPr b="1" i="0" sz="800" u="none" cap="none" strike="noStrike">
                <a:solidFill>
                  <a:srgbClr val="00823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22"/>
            <p:cNvSpPr txBox="1"/>
            <p:nvPr/>
          </p:nvSpPr>
          <p:spPr>
            <a:xfrm>
              <a:off x="4600575" y="85725"/>
              <a:ext cx="476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98.4%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6" name="Google Shape;316;p22"/>
          <p:cNvGrpSpPr/>
          <p:nvPr/>
        </p:nvGrpSpPr>
        <p:grpSpPr>
          <a:xfrm>
            <a:off x="4847034" y="2214563"/>
            <a:ext cx="3679144" cy="178650"/>
            <a:chOff x="171450" y="85725"/>
            <a:chExt cx="4905525" cy="238200"/>
          </a:xfrm>
        </p:grpSpPr>
        <p:sp>
          <p:nvSpPr>
            <p:cNvPr id="317" name="Google Shape;317;p22"/>
            <p:cNvSpPr txBox="1"/>
            <p:nvPr/>
          </p:nvSpPr>
          <p:spPr>
            <a:xfrm>
              <a:off x="171450" y="85725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Samsung TV Plus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22"/>
            <p:cNvSpPr txBox="1"/>
            <p:nvPr/>
          </p:nvSpPr>
          <p:spPr>
            <a:xfrm>
              <a:off x="1790700" y="85725"/>
              <a:ext cx="76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$2,000.91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22"/>
            <p:cNvSpPr txBox="1"/>
            <p:nvPr/>
          </p:nvSpPr>
          <p:spPr>
            <a:xfrm>
              <a:off x="2647950" y="85725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200,731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22"/>
            <p:cNvSpPr txBox="1"/>
            <p:nvPr/>
          </p:nvSpPr>
          <p:spPr>
            <a:xfrm>
              <a:off x="3695700" y="85725"/>
              <a:ext cx="809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$9.97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22"/>
            <p:cNvSpPr txBox="1"/>
            <p:nvPr/>
          </p:nvSpPr>
          <p:spPr>
            <a:xfrm>
              <a:off x="4600575" y="85725"/>
              <a:ext cx="476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98.3%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2" name="Google Shape;322;p22"/>
          <p:cNvGrpSpPr/>
          <p:nvPr/>
        </p:nvGrpSpPr>
        <p:grpSpPr>
          <a:xfrm>
            <a:off x="4847034" y="2514600"/>
            <a:ext cx="3679144" cy="178650"/>
            <a:chOff x="171450" y="85725"/>
            <a:chExt cx="4905525" cy="238200"/>
          </a:xfrm>
        </p:grpSpPr>
        <p:sp>
          <p:nvSpPr>
            <p:cNvPr id="323" name="Google Shape;323;p22"/>
            <p:cNvSpPr txBox="1"/>
            <p:nvPr/>
          </p:nvSpPr>
          <p:spPr>
            <a:xfrm>
              <a:off x="171450" y="85725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Paramount+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2"/>
            <p:cNvSpPr txBox="1"/>
            <p:nvPr/>
          </p:nvSpPr>
          <p:spPr>
            <a:xfrm>
              <a:off x="1790700" y="85725"/>
              <a:ext cx="76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$679.66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2"/>
            <p:cNvSpPr txBox="1"/>
            <p:nvPr/>
          </p:nvSpPr>
          <p:spPr>
            <a:xfrm>
              <a:off x="2647950" y="85725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50,523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2"/>
            <p:cNvSpPr txBox="1"/>
            <p:nvPr/>
          </p:nvSpPr>
          <p:spPr>
            <a:xfrm>
              <a:off x="3695700" y="85725"/>
              <a:ext cx="809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$13.45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22"/>
            <p:cNvSpPr txBox="1"/>
            <p:nvPr/>
          </p:nvSpPr>
          <p:spPr>
            <a:xfrm>
              <a:off x="4600575" y="85725"/>
              <a:ext cx="476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98.6%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8" name="Google Shape;328;p22"/>
          <p:cNvGrpSpPr/>
          <p:nvPr/>
        </p:nvGrpSpPr>
        <p:grpSpPr>
          <a:xfrm>
            <a:off x="4847034" y="2814638"/>
            <a:ext cx="3679144" cy="178650"/>
            <a:chOff x="171450" y="85725"/>
            <a:chExt cx="4905525" cy="238200"/>
          </a:xfrm>
        </p:grpSpPr>
        <p:sp>
          <p:nvSpPr>
            <p:cNvPr id="329" name="Google Shape;329;p22"/>
            <p:cNvSpPr txBox="1"/>
            <p:nvPr/>
          </p:nvSpPr>
          <p:spPr>
            <a:xfrm>
              <a:off x="171450" y="85725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Vizio WatchFree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22"/>
            <p:cNvSpPr txBox="1"/>
            <p:nvPr/>
          </p:nvSpPr>
          <p:spPr>
            <a:xfrm>
              <a:off x="1790700" y="85725"/>
              <a:ext cx="76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$660.55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2"/>
            <p:cNvSpPr txBox="1"/>
            <p:nvPr/>
          </p:nvSpPr>
          <p:spPr>
            <a:xfrm>
              <a:off x="2647950" y="85725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47,622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2"/>
            <p:cNvSpPr txBox="1"/>
            <p:nvPr/>
          </p:nvSpPr>
          <p:spPr>
            <a:xfrm>
              <a:off x="3695700" y="85725"/>
              <a:ext cx="809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$13.87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22"/>
            <p:cNvSpPr txBox="1"/>
            <p:nvPr/>
          </p:nvSpPr>
          <p:spPr>
            <a:xfrm>
              <a:off x="4600575" y="85725"/>
              <a:ext cx="476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99.3%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4" name="Google Shape;334;p22"/>
          <p:cNvGrpSpPr/>
          <p:nvPr/>
        </p:nvGrpSpPr>
        <p:grpSpPr>
          <a:xfrm>
            <a:off x="4847034" y="3114675"/>
            <a:ext cx="3679144" cy="178650"/>
            <a:chOff x="171450" y="85725"/>
            <a:chExt cx="4905525" cy="238200"/>
          </a:xfrm>
        </p:grpSpPr>
        <p:sp>
          <p:nvSpPr>
            <p:cNvPr id="335" name="Google Shape;335;p22"/>
            <p:cNvSpPr txBox="1"/>
            <p:nvPr/>
          </p:nvSpPr>
          <p:spPr>
            <a:xfrm>
              <a:off x="171450" y="85725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Hulu Plus Roku TV (com.hulu.plus.roku)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22"/>
            <p:cNvSpPr txBox="1"/>
            <p:nvPr/>
          </p:nvSpPr>
          <p:spPr>
            <a:xfrm>
              <a:off x="1790700" y="85725"/>
              <a:ext cx="76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$562.48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22"/>
            <p:cNvSpPr txBox="1"/>
            <p:nvPr/>
          </p:nvSpPr>
          <p:spPr>
            <a:xfrm>
              <a:off x="2647950" y="85725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40,666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22"/>
            <p:cNvSpPr txBox="1"/>
            <p:nvPr/>
          </p:nvSpPr>
          <p:spPr>
            <a:xfrm>
              <a:off x="3695700" y="85725"/>
              <a:ext cx="809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$13.83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22"/>
            <p:cNvSpPr txBox="1"/>
            <p:nvPr/>
          </p:nvSpPr>
          <p:spPr>
            <a:xfrm>
              <a:off x="4600575" y="85725"/>
              <a:ext cx="476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99.5%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0" name="Google Shape;340;p22"/>
          <p:cNvGrpSpPr/>
          <p:nvPr/>
        </p:nvGrpSpPr>
        <p:grpSpPr>
          <a:xfrm>
            <a:off x="4847034" y="3414713"/>
            <a:ext cx="3679144" cy="178650"/>
            <a:chOff x="171450" y="85725"/>
            <a:chExt cx="4905525" cy="238200"/>
          </a:xfrm>
        </p:grpSpPr>
        <p:sp>
          <p:nvSpPr>
            <p:cNvPr id="341" name="Google Shape;341;p22"/>
            <p:cNvSpPr txBox="1"/>
            <p:nvPr/>
          </p:nvSpPr>
          <p:spPr>
            <a:xfrm>
              <a:off x="171450" y="85725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Tubi TV Ecosystem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22"/>
            <p:cNvSpPr txBox="1"/>
            <p:nvPr/>
          </p:nvSpPr>
          <p:spPr>
            <a:xfrm>
              <a:off x="1790700" y="85725"/>
              <a:ext cx="76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$202.89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22"/>
            <p:cNvSpPr txBox="1"/>
            <p:nvPr/>
          </p:nvSpPr>
          <p:spPr>
            <a:xfrm>
              <a:off x="2647950" y="85725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21,341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22"/>
            <p:cNvSpPr txBox="1"/>
            <p:nvPr/>
          </p:nvSpPr>
          <p:spPr>
            <a:xfrm>
              <a:off x="3695700" y="85725"/>
              <a:ext cx="809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$9.51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22"/>
            <p:cNvSpPr txBox="1"/>
            <p:nvPr/>
          </p:nvSpPr>
          <p:spPr>
            <a:xfrm>
              <a:off x="4600575" y="85725"/>
              <a:ext cx="476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99.1%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6" name="Google Shape;346;p22"/>
          <p:cNvGrpSpPr/>
          <p:nvPr/>
        </p:nvGrpSpPr>
        <p:grpSpPr>
          <a:xfrm>
            <a:off x="496119" y="3762379"/>
            <a:ext cx="2648925" cy="678375"/>
            <a:chOff x="0" y="0"/>
            <a:chExt cx="3531900" cy="904500"/>
          </a:xfrm>
        </p:grpSpPr>
        <p:sp>
          <p:nvSpPr>
            <p:cNvPr id="347" name="Google Shape;347;p22"/>
            <p:cNvSpPr/>
            <p:nvPr/>
          </p:nvSpPr>
          <p:spPr>
            <a:xfrm>
              <a:off x="0" y="0"/>
              <a:ext cx="3531900" cy="904500"/>
            </a:xfrm>
            <a:prstGeom prst="roundRect">
              <a:avLst>
                <a:gd fmla="val 7458" name="adj"/>
              </a:avLst>
            </a:prstGeom>
            <a:solidFill>
              <a:srgbClr val="A7C142"/>
            </a:solidFill>
            <a:ln cap="flat" cmpd="sng" w="9525">
              <a:solidFill>
                <a:srgbClr val="B2E5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8" name="Google Shape;348;p22"/>
            <p:cNvGrpSpPr/>
            <p:nvPr/>
          </p:nvGrpSpPr>
          <p:grpSpPr>
            <a:xfrm>
              <a:off x="166973" y="166973"/>
              <a:ext cx="3198000" cy="251100"/>
              <a:chOff x="0" y="0"/>
              <a:chExt cx="3198000" cy="251100"/>
            </a:xfrm>
          </p:grpSpPr>
          <p:sp>
            <p:nvSpPr>
              <p:cNvPr id="349" name="Google Shape;349;p22"/>
              <p:cNvSpPr/>
              <p:nvPr/>
            </p:nvSpPr>
            <p:spPr>
              <a:xfrm>
                <a:off x="0" y="0"/>
                <a:ext cx="3198000" cy="2511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22"/>
              <p:cNvSpPr txBox="1"/>
              <p:nvPr/>
            </p:nvSpPr>
            <p:spPr>
              <a:xfrm>
                <a:off x="0" y="0"/>
                <a:ext cx="3198000" cy="2511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" sz="12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Best CPM</a:t>
                </a:r>
                <a:endParaRPr b="1" i="0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1" name="Google Shape;351;p22"/>
            <p:cNvGrpSpPr/>
            <p:nvPr/>
          </p:nvGrpSpPr>
          <p:grpSpPr>
            <a:xfrm>
              <a:off x="166973" y="499872"/>
              <a:ext cx="3198000" cy="237600"/>
              <a:chOff x="0" y="0"/>
              <a:chExt cx="3198000" cy="237600"/>
            </a:xfrm>
          </p:grpSpPr>
          <p:sp>
            <p:nvSpPr>
              <p:cNvPr id="352" name="Google Shape;352;p22"/>
              <p:cNvSpPr/>
              <p:nvPr/>
            </p:nvSpPr>
            <p:spPr>
              <a:xfrm>
                <a:off x="0" y="0"/>
                <a:ext cx="3198000" cy="2376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22"/>
              <p:cNvSpPr txBox="1"/>
              <p:nvPr/>
            </p:nvSpPr>
            <p:spPr>
              <a:xfrm>
                <a:off x="0" y="0"/>
                <a:ext cx="3198000" cy="2376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Sling TV Ecosystem at </a:t>
                </a:r>
                <a:r>
                  <a:rPr b="1" i="0" lang="en" sz="900" u="none" cap="none" strike="noStrike">
                    <a:solidFill>
                      <a:srgbClr val="003726"/>
                    </a:solidFill>
                    <a:latin typeface="Arial"/>
                    <a:ea typeface="Arial"/>
                    <a:cs typeface="Arial"/>
                    <a:sym typeface="Arial"/>
                  </a:rPr>
                  <a:t>$6.21</a:t>
                </a:r>
                <a:endParaRPr b="0" i="0" sz="90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54" name="Google Shape;354;p22"/>
          <p:cNvGrpSpPr/>
          <p:nvPr/>
        </p:nvGrpSpPr>
        <p:grpSpPr>
          <a:xfrm>
            <a:off x="3247433" y="3762379"/>
            <a:ext cx="2648925" cy="678375"/>
            <a:chOff x="0" y="0"/>
            <a:chExt cx="3531900" cy="904500"/>
          </a:xfrm>
        </p:grpSpPr>
        <p:sp>
          <p:nvSpPr>
            <p:cNvPr id="355" name="Google Shape;355;p22"/>
            <p:cNvSpPr/>
            <p:nvPr/>
          </p:nvSpPr>
          <p:spPr>
            <a:xfrm>
              <a:off x="0" y="0"/>
              <a:ext cx="3531900" cy="904500"/>
            </a:xfrm>
            <a:prstGeom prst="roundRect">
              <a:avLst>
                <a:gd fmla="val 7458" name="adj"/>
              </a:avLst>
            </a:prstGeom>
            <a:solidFill>
              <a:srgbClr val="A7C142"/>
            </a:solidFill>
            <a:ln cap="flat" cmpd="sng" w="9525">
              <a:solidFill>
                <a:srgbClr val="B2E5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6" name="Google Shape;356;p22"/>
            <p:cNvGrpSpPr/>
            <p:nvPr/>
          </p:nvGrpSpPr>
          <p:grpSpPr>
            <a:xfrm>
              <a:off x="166973" y="166973"/>
              <a:ext cx="3198000" cy="251100"/>
              <a:chOff x="0" y="0"/>
              <a:chExt cx="3198000" cy="251100"/>
            </a:xfrm>
          </p:grpSpPr>
          <p:sp>
            <p:nvSpPr>
              <p:cNvPr id="357" name="Google Shape;357;p22"/>
              <p:cNvSpPr/>
              <p:nvPr/>
            </p:nvSpPr>
            <p:spPr>
              <a:xfrm>
                <a:off x="0" y="0"/>
                <a:ext cx="3198000" cy="2511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22"/>
              <p:cNvSpPr txBox="1"/>
              <p:nvPr/>
            </p:nvSpPr>
            <p:spPr>
              <a:xfrm>
                <a:off x="0" y="0"/>
                <a:ext cx="3198000" cy="2511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" sz="12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Most Impressions</a:t>
                </a:r>
                <a:endParaRPr b="1" i="0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9" name="Google Shape;359;p22"/>
            <p:cNvGrpSpPr/>
            <p:nvPr/>
          </p:nvGrpSpPr>
          <p:grpSpPr>
            <a:xfrm>
              <a:off x="166973" y="499872"/>
              <a:ext cx="3198000" cy="237600"/>
              <a:chOff x="0" y="0"/>
              <a:chExt cx="3198000" cy="237600"/>
            </a:xfrm>
          </p:grpSpPr>
          <p:sp>
            <p:nvSpPr>
              <p:cNvPr id="360" name="Google Shape;360;p22"/>
              <p:cNvSpPr/>
              <p:nvPr/>
            </p:nvSpPr>
            <p:spPr>
              <a:xfrm>
                <a:off x="0" y="0"/>
                <a:ext cx="3198000" cy="2376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22"/>
              <p:cNvSpPr txBox="1"/>
              <p:nvPr/>
            </p:nvSpPr>
            <p:spPr>
              <a:xfrm>
                <a:off x="0" y="0"/>
                <a:ext cx="3198000" cy="2376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Sling TV Ecosystem: </a:t>
                </a:r>
                <a:r>
                  <a:rPr b="1" i="0" lang="en" sz="900" u="none" cap="none" strike="noStrike">
                    <a:solidFill>
                      <a:srgbClr val="003726"/>
                    </a:solidFill>
                    <a:latin typeface="Arial"/>
                    <a:ea typeface="Arial"/>
                    <a:cs typeface="Arial"/>
                    <a:sym typeface="Arial"/>
                  </a:rPr>
                  <a:t>345,912</a:t>
                </a:r>
                <a:endParaRPr b="0" i="0" sz="90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62" name="Google Shape;362;p22"/>
          <p:cNvGrpSpPr/>
          <p:nvPr/>
        </p:nvGrpSpPr>
        <p:grpSpPr>
          <a:xfrm>
            <a:off x="5998755" y="3762379"/>
            <a:ext cx="2648925" cy="678375"/>
            <a:chOff x="0" y="0"/>
            <a:chExt cx="3531900" cy="904500"/>
          </a:xfrm>
        </p:grpSpPr>
        <p:sp>
          <p:nvSpPr>
            <p:cNvPr id="363" name="Google Shape;363;p22"/>
            <p:cNvSpPr/>
            <p:nvPr/>
          </p:nvSpPr>
          <p:spPr>
            <a:xfrm>
              <a:off x="0" y="0"/>
              <a:ext cx="3531900" cy="904500"/>
            </a:xfrm>
            <a:prstGeom prst="roundRect">
              <a:avLst>
                <a:gd fmla="val 7458" name="adj"/>
              </a:avLst>
            </a:prstGeom>
            <a:solidFill>
              <a:srgbClr val="A7C142"/>
            </a:solidFill>
            <a:ln cap="flat" cmpd="sng" w="9525">
              <a:solidFill>
                <a:srgbClr val="B2E5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4" name="Google Shape;364;p22"/>
            <p:cNvGrpSpPr/>
            <p:nvPr/>
          </p:nvGrpSpPr>
          <p:grpSpPr>
            <a:xfrm>
              <a:off x="166973" y="166973"/>
              <a:ext cx="3198000" cy="251100"/>
              <a:chOff x="0" y="0"/>
              <a:chExt cx="3198000" cy="251100"/>
            </a:xfrm>
          </p:grpSpPr>
          <p:sp>
            <p:nvSpPr>
              <p:cNvPr id="365" name="Google Shape;365;p22"/>
              <p:cNvSpPr/>
              <p:nvPr/>
            </p:nvSpPr>
            <p:spPr>
              <a:xfrm>
                <a:off x="0" y="0"/>
                <a:ext cx="3198000" cy="2511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22"/>
              <p:cNvSpPr txBox="1"/>
              <p:nvPr/>
            </p:nvSpPr>
            <p:spPr>
              <a:xfrm>
                <a:off x="0" y="0"/>
                <a:ext cx="3198000" cy="2511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" sz="12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Largest Spend</a:t>
                </a:r>
                <a:endParaRPr b="1" i="0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7" name="Google Shape;367;p22"/>
            <p:cNvGrpSpPr/>
            <p:nvPr/>
          </p:nvGrpSpPr>
          <p:grpSpPr>
            <a:xfrm>
              <a:off x="166973" y="499872"/>
              <a:ext cx="3198000" cy="237600"/>
              <a:chOff x="0" y="0"/>
              <a:chExt cx="3198000" cy="237600"/>
            </a:xfrm>
          </p:grpSpPr>
          <p:sp>
            <p:nvSpPr>
              <p:cNvPr id="368" name="Google Shape;368;p22"/>
              <p:cNvSpPr/>
              <p:nvPr/>
            </p:nvSpPr>
            <p:spPr>
              <a:xfrm>
                <a:off x="0" y="0"/>
                <a:ext cx="3198000" cy="2376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22"/>
              <p:cNvSpPr txBox="1"/>
              <p:nvPr/>
            </p:nvSpPr>
            <p:spPr>
              <a:xfrm>
                <a:off x="0" y="0"/>
                <a:ext cx="3198000" cy="2376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Roku Ecosystem: </a:t>
                </a:r>
                <a:r>
                  <a:rPr b="1" i="0" lang="en" sz="900" u="none" cap="none" strike="noStrike">
                    <a:solidFill>
                      <a:srgbClr val="003726"/>
                    </a:solidFill>
                    <a:latin typeface="Arial"/>
                    <a:ea typeface="Arial"/>
                    <a:cs typeface="Arial"/>
                    <a:sym typeface="Arial"/>
                  </a:rPr>
                  <a:t>$2,239.83</a:t>
                </a:r>
                <a:endParaRPr b="0" i="0" sz="90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4" name="Google Shape;374;p23"/>
          <p:cNvGrpSpPr/>
          <p:nvPr/>
        </p:nvGrpSpPr>
        <p:grpSpPr>
          <a:xfrm>
            <a:off x="496106" y="250031"/>
            <a:ext cx="1350000" cy="182925"/>
            <a:chOff x="0" y="0"/>
            <a:chExt cx="1800000" cy="243900"/>
          </a:xfrm>
        </p:grpSpPr>
        <p:sp>
          <p:nvSpPr>
            <p:cNvPr id="375" name="Google Shape;375;p23"/>
            <p:cNvSpPr/>
            <p:nvPr/>
          </p:nvSpPr>
          <p:spPr>
            <a:xfrm>
              <a:off x="0" y="0"/>
              <a:ext cx="1800000" cy="243900"/>
            </a:xfrm>
            <a:prstGeom prst="roundRect">
              <a:avLst>
                <a:gd fmla="val 22126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23"/>
            <p:cNvSpPr txBox="1"/>
            <p:nvPr/>
          </p:nvSpPr>
          <p:spPr>
            <a:xfrm>
              <a:off x="95250" y="0"/>
              <a:ext cx="1609500" cy="243900"/>
            </a:xfrm>
            <a:prstGeom prst="rect">
              <a:avLst/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GEOGRAPHIC TARGETING</a:t>
              </a:r>
              <a:endParaRPr b="1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77" name="Google Shape;377;p23"/>
          <p:cNvSpPr txBox="1"/>
          <p:nvPr/>
        </p:nvSpPr>
        <p:spPr>
          <a:xfrm>
            <a:off x="496106" y="500063"/>
            <a:ext cx="8151000" cy="53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Saturating the Core Service Area</a:t>
            </a:r>
            <a:endParaRPr b="1" i="0" sz="21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By enforcing strict geographical boundaries, </a:t>
            </a:r>
            <a:r>
              <a:rPr b="1" i="0" lang="en" sz="900" u="none" cap="none" strike="noStrike">
                <a:solidFill>
                  <a:srgbClr val="00823D"/>
                </a:solidFill>
                <a:latin typeface="Arial"/>
                <a:ea typeface="Arial"/>
                <a:cs typeface="Arial"/>
                <a:sym typeface="Arial"/>
              </a:rPr>
              <a:t>98.6% of campaign dollars</a:t>
            </a:r>
            <a:r>
              <a:rPr b="0" i="0" lang="en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remained directly inside Happy Camper Home Services’ core market territory.</a:t>
            </a:r>
            <a:endParaRPr b="0" i="0" sz="9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rofessional, clean infographic diagram showing a central hub labeled &quot;Emberfall-Timberline-Pinecone-Kindleford DMA&quot; connected with dotted lines to five surrounding circular nodes labeled &quot;Emberfall MN&quot;, &quot;Timberline MN&quot;, &quot;Pinecone Pass MN&quot;, &quot;Kindleford MN&quot;, and &quot;Cedar Bluff MN&quot;. Elegant flat vector business style, teal and dark gray palette, white background." id="378" name="Google Shape;37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975" y="1107275"/>
            <a:ext cx="2607900" cy="2607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9" name="Google Shape;379;p23"/>
          <p:cNvGrpSpPr/>
          <p:nvPr/>
        </p:nvGrpSpPr>
        <p:grpSpPr>
          <a:xfrm>
            <a:off x="4714875" y="1643063"/>
            <a:ext cx="3929175" cy="1821600"/>
            <a:chOff x="0" y="0"/>
            <a:chExt cx="5238900" cy="2428800"/>
          </a:xfrm>
        </p:grpSpPr>
        <p:sp>
          <p:nvSpPr>
            <p:cNvPr id="380" name="Google Shape;380;p23"/>
            <p:cNvSpPr/>
            <p:nvPr/>
          </p:nvSpPr>
          <p:spPr>
            <a:xfrm>
              <a:off x="0" y="0"/>
              <a:ext cx="5238900" cy="2428800"/>
            </a:xfrm>
            <a:prstGeom prst="roundRect">
              <a:avLst>
                <a:gd fmla="val 2776" name="adj"/>
              </a:avLst>
            </a:prstGeom>
            <a:solidFill>
              <a:srgbClr val="FFFFFF"/>
            </a:solidFill>
            <a:ln cap="flat" cmpd="sng" w="107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1" name="Google Shape;381;p23"/>
            <p:cNvGrpSpPr/>
            <p:nvPr/>
          </p:nvGrpSpPr>
          <p:grpSpPr>
            <a:xfrm>
              <a:off x="190500" y="95250"/>
              <a:ext cx="4857900" cy="319200"/>
              <a:chOff x="190500" y="95250"/>
              <a:chExt cx="4857900" cy="319200"/>
            </a:xfrm>
          </p:grpSpPr>
          <p:sp>
            <p:nvSpPr>
              <p:cNvPr id="382" name="Google Shape;382;p23"/>
              <p:cNvSpPr txBox="1"/>
              <p:nvPr/>
            </p:nvSpPr>
            <p:spPr>
              <a:xfrm>
                <a:off x="190500" y="95250"/>
                <a:ext cx="1619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1" i="0" lang="en" sz="700" u="none" cap="none" strike="noStrike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CITY</a:t>
                </a:r>
                <a:endParaRPr b="1" i="0" sz="700" u="none" cap="none" strike="noStrike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3" name="Google Shape;383;p23"/>
              <p:cNvSpPr txBox="1"/>
              <p:nvPr/>
            </p:nvSpPr>
            <p:spPr>
              <a:xfrm>
                <a:off x="1905000" y="95250"/>
                <a:ext cx="952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1" i="0" lang="en" sz="700" u="none" cap="none" strike="noStrike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SPEND</a:t>
                </a:r>
                <a:endParaRPr b="1" i="0" sz="700" u="none" cap="none" strike="noStrike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4" name="Google Shape;384;p23"/>
              <p:cNvSpPr txBox="1"/>
              <p:nvPr/>
            </p:nvSpPr>
            <p:spPr>
              <a:xfrm>
                <a:off x="2952750" y="95250"/>
                <a:ext cx="1238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1" i="0" lang="en" sz="700" u="none" cap="none" strike="noStrike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IMPRESSIONS</a:t>
                </a:r>
                <a:endParaRPr b="1" i="0" sz="700" u="none" cap="none" strike="noStrike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5" name="Google Shape;385;p23"/>
              <p:cNvSpPr txBox="1"/>
              <p:nvPr/>
            </p:nvSpPr>
            <p:spPr>
              <a:xfrm>
                <a:off x="4286250" y="95250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1" i="0" lang="en" sz="700" u="none" cap="none" strike="noStrike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CPM</a:t>
                </a:r>
                <a:endParaRPr b="1" i="0" sz="700" u="none" cap="none" strike="noStrike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6" name="Google Shape;386;p23"/>
              <p:cNvSpPr/>
              <p:nvPr/>
            </p:nvSpPr>
            <p:spPr>
              <a:xfrm>
                <a:off x="190500" y="400050"/>
                <a:ext cx="4857900" cy="14400"/>
              </a:xfrm>
              <a:prstGeom prst="rect">
                <a:avLst/>
              </a:prstGeom>
              <a:solidFill>
                <a:srgbClr val="B2E5D5"/>
              </a:solidFill>
              <a:ln cap="flat" cmpd="sng" w="9525">
                <a:solidFill>
                  <a:srgbClr val="A7C1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7" name="Google Shape;387;p23"/>
            <p:cNvGrpSpPr/>
            <p:nvPr/>
          </p:nvGrpSpPr>
          <p:grpSpPr>
            <a:xfrm>
              <a:off x="190500" y="428625"/>
              <a:ext cx="4857900" cy="381075"/>
              <a:chOff x="190500" y="0"/>
              <a:chExt cx="4857900" cy="381075"/>
            </a:xfrm>
          </p:grpSpPr>
          <p:sp>
            <p:nvSpPr>
              <p:cNvPr id="388" name="Google Shape;388;p23"/>
              <p:cNvSpPr txBox="1"/>
              <p:nvPr/>
            </p:nvSpPr>
            <p:spPr>
              <a:xfrm>
                <a:off x="190500" y="0"/>
                <a:ext cx="16191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n" sz="800" u="none" cap="none" strike="noStrik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Emberfall, MN</a:t>
                </a:r>
                <a:endParaRPr b="1" i="0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23"/>
              <p:cNvSpPr txBox="1"/>
              <p:nvPr/>
            </p:nvSpPr>
            <p:spPr>
              <a:xfrm>
                <a:off x="1905000" y="0"/>
                <a:ext cx="9525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$1,454.00</a:t>
                </a:r>
                <a:endParaRPr b="0" i="0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23"/>
              <p:cNvSpPr txBox="1"/>
              <p:nvPr/>
            </p:nvSpPr>
            <p:spPr>
              <a:xfrm>
                <a:off x="2952750" y="0"/>
                <a:ext cx="12384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155,000</a:t>
                </a:r>
                <a:endParaRPr b="0" i="0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23"/>
              <p:cNvSpPr txBox="1"/>
              <p:nvPr/>
            </p:nvSpPr>
            <p:spPr>
              <a:xfrm>
                <a:off x="4286250" y="0"/>
                <a:ext cx="762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n" sz="800" u="none" cap="none" strike="noStrike">
                    <a:solidFill>
                      <a:srgbClr val="00823D"/>
                    </a:solidFill>
                    <a:latin typeface="Arial"/>
                    <a:ea typeface="Arial"/>
                    <a:cs typeface="Arial"/>
                    <a:sym typeface="Arial"/>
                  </a:rPr>
                  <a:t>$9.38</a:t>
                </a:r>
                <a:endParaRPr b="1" i="0" sz="800" u="none" cap="none" strike="noStrike">
                  <a:solidFill>
                    <a:srgbClr val="00823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23"/>
              <p:cNvSpPr/>
              <p:nvPr/>
            </p:nvSpPr>
            <p:spPr>
              <a:xfrm>
                <a:off x="190500" y="371475"/>
                <a:ext cx="4857900" cy="9600"/>
              </a:xfrm>
              <a:prstGeom prst="rect">
                <a:avLst/>
              </a:prstGeom>
              <a:solidFill>
                <a:srgbClr val="E5F7F2"/>
              </a:solidFill>
              <a:ln cap="flat" cmpd="sng" w="9525">
                <a:solidFill>
                  <a:srgbClr val="A7C1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3" name="Google Shape;393;p23"/>
            <p:cNvGrpSpPr/>
            <p:nvPr/>
          </p:nvGrpSpPr>
          <p:grpSpPr>
            <a:xfrm>
              <a:off x="190500" y="809625"/>
              <a:ext cx="4857900" cy="381075"/>
              <a:chOff x="190500" y="0"/>
              <a:chExt cx="4857900" cy="381075"/>
            </a:xfrm>
          </p:grpSpPr>
          <p:sp>
            <p:nvSpPr>
              <p:cNvPr id="394" name="Google Shape;394;p23"/>
              <p:cNvSpPr txBox="1"/>
              <p:nvPr/>
            </p:nvSpPr>
            <p:spPr>
              <a:xfrm>
                <a:off x="190500" y="0"/>
                <a:ext cx="16191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n" sz="800" u="none" cap="none" strike="noStrik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Timberline, MN</a:t>
                </a:r>
                <a:endParaRPr b="1" i="0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23"/>
              <p:cNvSpPr txBox="1"/>
              <p:nvPr/>
            </p:nvSpPr>
            <p:spPr>
              <a:xfrm>
                <a:off x="1905000" y="0"/>
                <a:ext cx="9525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$1,217.00</a:t>
                </a:r>
                <a:endParaRPr b="0" i="0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23"/>
              <p:cNvSpPr txBox="1"/>
              <p:nvPr/>
            </p:nvSpPr>
            <p:spPr>
              <a:xfrm>
                <a:off x="2952750" y="0"/>
                <a:ext cx="12384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146,000</a:t>
                </a:r>
                <a:endParaRPr b="0" i="0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23"/>
              <p:cNvSpPr txBox="1"/>
              <p:nvPr/>
            </p:nvSpPr>
            <p:spPr>
              <a:xfrm>
                <a:off x="4286250" y="0"/>
                <a:ext cx="762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n" sz="800" u="none" cap="none" strike="noStrike">
                    <a:solidFill>
                      <a:srgbClr val="00823D"/>
                    </a:solidFill>
                    <a:latin typeface="Arial"/>
                    <a:ea typeface="Arial"/>
                    <a:cs typeface="Arial"/>
                    <a:sym typeface="Arial"/>
                  </a:rPr>
                  <a:t>$8.34</a:t>
                </a:r>
                <a:endParaRPr b="1" i="0" sz="800" u="none" cap="none" strike="noStrike">
                  <a:solidFill>
                    <a:srgbClr val="00823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23"/>
              <p:cNvSpPr/>
              <p:nvPr/>
            </p:nvSpPr>
            <p:spPr>
              <a:xfrm>
                <a:off x="190500" y="371475"/>
                <a:ext cx="4857900" cy="9600"/>
              </a:xfrm>
              <a:prstGeom prst="rect">
                <a:avLst/>
              </a:prstGeom>
              <a:solidFill>
                <a:srgbClr val="E5F7F2"/>
              </a:solidFill>
              <a:ln cap="flat" cmpd="sng" w="9525">
                <a:solidFill>
                  <a:srgbClr val="A7C1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9" name="Google Shape;399;p23"/>
            <p:cNvGrpSpPr/>
            <p:nvPr/>
          </p:nvGrpSpPr>
          <p:grpSpPr>
            <a:xfrm>
              <a:off x="190500" y="1190625"/>
              <a:ext cx="4857900" cy="381075"/>
              <a:chOff x="190500" y="0"/>
              <a:chExt cx="4857900" cy="381075"/>
            </a:xfrm>
          </p:grpSpPr>
          <p:sp>
            <p:nvSpPr>
              <p:cNvPr id="400" name="Google Shape;400;p23"/>
              <p:cNvSpPr txBox="1"/>
              <p:nvPr/>
            </p:nvSpPr>
            <p:spPr>
              <a:xfrm>
                <a:off x="190500" y="0"/>
                <a:ext cx="16191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n" sz="800" u="none" cap="none" strike="noStrik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Pinecone Pass, MN</a:t>
                </a:r>
                <a:endParaRPr b="1" i="0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23"/>
              <p:cNvSpPr txBox="1"/>
              <p:nvPr/>
            </p:nvSpPr>
            <p:spPr>
              <a:xfrm>
                <a:off x="1905000" y="0"/>
                <a:ext cx="9525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$1,115.00</a:t>
                </a:r>
                <a:endParaRPr b="0" i="0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23"/>
              <p:cNvSpPr txBox="1"/>
              <p:nvPr/>
            </p:nvSpPr>
            <p:spPr>
              <a:xfrm>
                <a:off x="2952750" y="0"/>
                <a:ext cx="12384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128,000</a:t>
                </a:r>
                <a:endParaRPr b="0" i="0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23"/>
              <p:cNvSpPr txBox="1"/>
              <p:nvPr/>
            </p:nvSpPr>
            <p:spPr>
              <a:xfrm>
                <a:off x="4286250" y="0"/>
                <a:ext cx="762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n" sz="800" u="none" cap="none" strike="noStrike">
                    <a:solidFill>
                      <a:srgbClr val="00823D"/>
                    </a:solidFill>
                    <a:latin typeface="Arial"/>
                    <a:ea typeface="Arial"/>
                    <a:cs typeface="Arial"/>
                    <a:sym typeface="Arial"/>
                  </a:rPr>
                  <a:t>$8.71</a:t>
                </a:r>
                <a:endParaRPr b="1" i="0" sz="800" u="none" cap="none" strike="noStrike">
                  <a:solidFill>
                    <a:srgbClr val="00823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23"/>
              <p:cNvSpPr/>
              <p:nvPr/>
            </p:nvSpPr>
            <p:spPr>
              <a:xfrm>
                <a:off x="190500" y="371475"/>
                <a:ext cx="4857900" cy="9600"/>
              </a:xfrm>
              <a:prstGeom prst="rect">
                <a:avLst/>
              </a:prstGeom>
              <a:solidFill>
                <a:srgbClr val="E5F7F2"/>
              </a:solidFill>
              <a:ln cap="flat" cmpd="sng" w="9525">
                <a:solidFill>
                  <a:srgbClr val="A7C1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5" name="Google Shape;405;p23"/>
            <p:cNvGrpSpPr/>
            <p:nvPr/>
          </p:nvGrpSpPr>
          <p:grpSpPr>
            <a:xfrm>
              <a:off x="190500" y="1571625"/>
              <a:ext cx="4857900" cy="381075"/>
              <a:chOff x="190500" y="0"/>
              <a:chExt cx="4857900" cy="381075"/>
            </a:xfrm>
          </p:grpSpPr>
          <p:sp>
            <p:nvSpPr>
              <p:cNvPr id="406" name="Google Shape;406;p23"/>
              <p:cNvSpPr txBox="1"/>
              <p:nvPr/>
            </p:nvSpPr>
            <p:spPr>
              <a:xfrm>
                <a:off x="190500" y="0"/>
                <a:ext cx="16191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n" sz="800" u="none" cap="none" strike="noStrik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Kindleford, MN</a:t>
                </a:r>
                <a:endParaRPr b="1" i="0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23"/>
              <p:cNvSpPr txBox="1"/>
              <p:nvPr/>
            </p:nvSpPr>
            <p:spPr>
              <a:xfrm>
                <a:off x="1905000" y="0"/>
                <a:ext cx="9525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$447.00</a:t>
                </a:r>
                <a:endParaRPr b="0" i="0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23"/>
              <p:cNvSpPr txBox="1"/>
              <p:nvPr/>
            </p:nvSpPr>
            <p:spPr>
              <a:xfrm>
                <a:off x="2952750" y="0"/>
                <a:ext cx="12384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51,000</a:t>
                </a:r>
                <a:endParaRPr b="0" i="0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23"/>
              <p:cNvSpPr txBox="1"/>
              <p:nvPr/>
            </p:nvSpPr>
            <p:spPr>
              <a:xfrm>
                <a:off x="4286250" y="0"/>
                <a:ext cx="762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n" sz="800" u="none" cap="none" strike="noStrike">
                    <a:solidFill>
                      <a:srgbClr val="00823D"/>
                    </a:solidFill>
                    <a:latin typeface="Arial"/>
                    <a:ea typeface="Arial"/>
                    <a:cs typeface="Arial"/>
                    <a:sym typeface="Arial"/>
                  </a:rPr>
                  <a:t>$8.76</a:t>
                </a:r>
                <a:endParaRPr b="1" i="0" sz="800" u="none" cap="none" strike="noStrike">
                  <a:solidFill>
                    <a:srgbClr val="00823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23"/>
              <p:cNvSpPr/>
              <p:nvPr/>
            </p:nvSpPr>
            <p:spPr>
              <a:xfrm>
                <a:off x="190500" y="371475"/>
                <a:ext cx="4857900" cy="9600"/>
              </a:xfrm>
              <a:prstGeom prst="rect">
                <a:avLst/>
              </a:prstGeom>
              <a:solidFill>
                <a:srgbClr val="E5F7F2"/>
              </a:solidFill>
              <a:ln cap="flat" cmpd="sng" w="9525">
                <a:solidFill>
                  <a:srgbClr val="A7C1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1" name="Google Shape;411;p23"/>
            <p:cNvGrpSpPr/>
            <p:nvPr/>
          </p:nvGrpSpPr>
          <p:grpSpPr>
            <a:xfrm>
              <a:off x="190500" y="1952625"/>
              <a:ext cx="4857900" cy="381075"/>
              <a:chOff x="190500" y="0"/>
              <a:chExt cx="4857900" cy="381075"/>
            </a:xfrm>
          </p:grpSpPr>
          <p:sp>
            <p:nvSpPr>
              <p:cNvPr id="412" name="Google Shape;412;p23"/>
              <p:cNvSpPr txBox="1"/>
              <p:nvPr/>
            </p:nvSpPr>
            <p:spPr>
              <a:xfrm>
                <a:off x="190500" y="0"/>
                <a:ext cx="16191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n" sz="800" u="none" cap="none" strike="noStrik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Cedar Bluff, MN</a:t>
                </a:r>
                <a:endParaRPr b="1" i="0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23"/>
              <p:cNvSpPr txBox="1"/>
              <p:nvPr/>
            </p:nvSpPr>
            <p:spPr>
              <a:xfrm>
                <a:off x="1905000" y="0"/>
                <a:ext cx="9525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$441.00</a:t>
                </a:r>
                <a:endParaRPr b="0" i="0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23"/>
              <p:cNvSpPr txBox="1"/>
              <p:nvPr/>
            </p:nvSpPr>
            <p:spPr>
              <a:xfrm>
                <a:off x="2952750" y="0"/>
                <a:ext cx="12384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47,000</a:t>
                </a:r>
                <a:endParaRPr b="0" i="0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23"/>
              <p:cNvSpPr txBox="1"/>
              <p:nvPr/>
            </p:nvSpPr>
            <p:spPr>
              <a:xfrm>
                <a:off x="4286250" y="0"/>
                <a:ext cx="762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n" sz="800" u="none" cap="none" strike="noStrike">
                    <a:solidFill>
                      <a:srgbClr val="00823D"/>
                    </a:solidFill>
                    <a:latin typeface="Arial"/>
                    <a:ea typeface="Arial"/>
                    <a:cs typeface="Arial"/>
                    <a:sym typeface="Arial"/>
                  </a:rPr>
                  <a:t>$9.38</a:t>
                </a:r>
                <a:endParaRPr b="1" i="0" sz="800" u="none" cap="none" strike="noStrike">
                  <a:solidFill>
                    <a:srgbClr val="00823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23"/>
              <p:cNvSpPr/>
              <p:nvPr/>
            </p:nvSpPr>
            <p:spPr>
              <a:xfrm>
                <a:off x="190500" y="371475"/>
                <a:ext cx="4857900" cy="9600"/>
              </a:xfrm>
              <a:prstGeom prst="rect">
                <a:avLst/>
              </a:prstGeom>
              <a:solidFill>
                <a:srgbClr val="E5F7F2"/>
              </a:solidFill>
              <a:ln cap="flat" cmpd="sng" w="9525">
                <a:solidFill>
                  <a:srgbClr val="A7C1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7" name="Google Shape;417;p23"/>
          <p:cNvGrpSpPr/>
          <p:nvPr/>
        </p:nvGrpSpPr>
        <p:grpSpPr>
          <a:xfrm>
            <a:off x="496272" y="4035320"/>
            <a:ext cx="2693475" cy="377775"/>
            <a:chOff x="0" y="0"/>
            <a:chExt cx="3591300" cy="503700"/>
          </a:xfrm>
        </p:grpSpPr>
        <p:sp>
          <p:nvSpPr>
            <p:cNvPr id="418" name="Google Shape;418;p23"/>
            <p:cNvSpPr/>
            <p:nvPr/>
          </p:nvSpPr>
          <p:spPr>
            <a:xfrm>
              <a:off x="0" y="0"/>
              <a:ext cx="3591300" cy="503700"/>
            </a:xfrm>
            <a:prstGeom prst="roundRect">
              <a:avLst>
                <a:gd fmla="val 7879" name="adj"/>
              </a:avLst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23"/>
            <p:cNvSpPr txBox="1"/>
            <p:nvPr/>
          </p:nvSpPr>
          <p:spPr>
            <a:xfrm>
              <a:off x="107156" y="0"/>
              <a:ext cx="3376500" cy="50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Zero Budget Waste</a:t>
              </a:r>
              <a:endParaRPr b="1" i="0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0% spent outside the service area</a:t>
              </a:r>
              <a:endParaRPr b="0" i="0" sz="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0" name="Google Shape;420;p23"/>
          <p:cNvGrpSpPr/>
          <p:nvPr/>
        </p:nvGrpSpPr>
        <p:grpSpPr>
          <a:xfrm>
            <a:off x="3225262" y="4035320"/>
            <a:ext cx="2693475" cy="377775"/>
            <a:chOff x="0" y="0"/>
            <a:chExt cx="3591300" cy="503700"/>
          </a:xfrm>
        </p:grpSpPr>
        <p:sp>
          <p:nvSpPr>
            <p:cNvPr id="421" name="Google Shape;421;p23"/>
            <p:cNvSpPr/>
            <p:nvPr/>
          </p:nvSpPr>
          <p:spPr>
            <a:xfrm>
              <a:off x="0" y="0"/>
              <a:ext cx="3591300" cy="503700"/>
            </a:xfrm>
            <a:prstGeom prst="roundRect">
              <a:avLst>
                <a:gd fmla="val 7879" name="adj"/>
              </a:avLst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23"/>
            <p:cNvSpPr txBox="1"/>
            <p:nvPr/>
          </p:nvSpPr>
          <p:spPr>
            <a:xfrm>
              <a:off x="107156" y="0"/>
              <a:ext cx="3376500" cy="50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Homeowner Focus</a:t>
              </a:r>
              <a:endParaRPr b="1" i="0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Core local demographic saturation</a:t>
              </a:r>
              <a:endParaRPr b="0" i="0" sz="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3" name="Google Shape;423;p23"/>
          <p:cNvGrpSpPr/>
          <p:nvPr/>
        </p:nvGrpSpPr>
        <p:grpSpPr>
          <a:xfrm>
            <a:off x="5954260" y="4035320"/>
            <a:ext cx="2693475" cy="377775"/>
            <a:chOff x="0" y="0"/>
            <a:chExt cx="3591300" cy="503700"/>
          </a:xfrm>
        </p:grpSpPr>
        <p:sp>
          <p:nvSpPr>
            <p:cNvPr id="424" name="Google Shape;424;p23"/>
            <p:cNvSpPr/>
            <p:nvPr/>
          </p:nvSpPr>
          <p:spPr>
            <a:xfrm>
              <a:off x="0" y="0"/>
              <a:ext cx="3591300" cy="503700"/>
            </a:xfrm>
            <a:prstGeom prst="roundRect">
              <a:avLst>
                <a:gd fmla="val 7879" name="adj"/>
              </a:avLst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23"/>
            <p:cNvSpPr txBox="1"/>
            <p:nvPr/>
          </p:nvSpPr>
          <p:spPr>
            <a:xfrm>
              <a:off x="107156" y="0"/>
              <a:ext cx="3376500" cy="50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High Frequency</a:t>
              </a:r>
              <a:endParaRPr b="1" i="0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Repeated exposure across local households</a:t>
              </a:r>
              <a:endParaRPr b="0" i="0" sz="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6" name="Google Shape;426;p23"/>
          <p:cNvSpPr txBox="1"/>
          <p:nvPr/>
        </p:nvSpPr>
        <p:spPr>
          <a:xfrm>
            <a:off x="4714875" y="1085850"/>
            <a:ext cx="3929100" cy="5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Emberfall-Timberline-Pinecone-Kindleford, MN</a:t>
            </a:r>
            <a:endParaRPr b="1" i="0" sz="10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Impressions: </a:t>
            </a:r>
            <a:r>
              <a:rPr b="1" i="0" lang="en" sz="800" u="none" cap="none" strike="noStrike">
                <a:solidFill>
                  <a:srgbClr val="00823D"/>
                </a:solidFill>
                <a:latin typeface="Arial"/>
                <a:ea typeface="Arial"/>
                <a:cs typeface="Arial"/>
                <a:sym typeface="Arial"/>
              </a:rPr>
              <a:t>1,112,365</a:t>
            </a:r>
            <a:r>
              <a:rPr b="0" i="0" lang="en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(98.7% of total)  |  Spend: </a:t>
            </a:r>
            <a:r>
              <a:rPr b="1" i="0" lang="en" sz="800" u="none" cap="none" strike="noStrike">
                <a:solidFill>
                  <a:srgbClr val="00823D"/>
                </a:solidFill>
                <a:latin typeface="Arial"/>
                <a:ea typeface="Arial"/>
                <a:cs typeface="Arial"/>
                <a:sym typeface="Arial"/>
              </a:rPr>
              <a:t>$9,874.28</a:t>
            </a:r>
            <a:r>
              <a:rPr b="0" i="0" lang="en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@ </a:t>
            </a:r>
            <a:r>
              <a:rPr b="1" i="0" lang="en" sz="800" u="none" cap="none" strike="noStrike">
                <a:solidFill>
                  <a:srgbClr val="00823D"/>
                </a:solidFill>
                <a:latin typeface="Arial"/>
                <a:ea typeface="Arial"/>
                <a:cs typeface="Arial"/>
                <a:sym typeface="Arial"/>
              </a:rPr>
              <a:t>$8.88 CPM</a:t>
            </a:r>
            <a:endParaRPr b="0" i="0" sz="800" u="none" cap="none" strike="noStrike">
              <a:solidFill>
                <a:srgbClr val="00823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24"/>
          <p:cNvPicPr preferRelativeResize="0"/>
          <p:nvPr/>
        </p:nvPicPr>
        <p:blipFill rotWithShape="1">
          <a:blip r:embed="rId3">
            <a:alphaModFix/>
          </a:blip>
          <a:srcRect b="7055" l="0" r="0" t="0"/>
          <a:stretch/>
        </p:blipFill>
        <p:spPr>
          <a:xfrm>
            <a:off x="5286375" y="0"/>
            <a:ext cx="3857700" cy="4492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2" name="Google Shape;432;p24"/>
          <p:cNvGrpSpPr/>
          <p:nvPr/>
        </p:nvGrpSpPr>
        <p:grpSpPr>
          <a:xfrm>
            <a:off x="500063" y="392906"/>
            <a:ext cx="1386000" cy="178650"/>
            <a:chOff x="0" y="0"/>
            <a:chExt cx="1848000" cy="238200"/>
          </a:xfrm>
        </p:grpSpPr>
        <p:sp>
          <p:nvSpPr>
            <p:cNvPr id="433" name="Google Shape;433;p24"/>
            <p:cNvSpPr/>
            <p:nvPr/>
          </p:nvSpPr>
          <p:spPr>
            <a:xfrm>
              <a:off x="0" y="0"/>
              <a:ext cx="1848000" cy="238200"/>
            </a:xfrm>
            <a:prstGeom prst="roundRect">
              <a:avLst>
                <a:gd fmla="val 22640" name="adj"/>
              </a:avLst>
            </a:prstGeom>
            <a:solidFill>
              <a:srgbClr val="CCFF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24"/>
            <p:cNvSpPr txBox="1"/>
            <p:nvPr/>
          </p:nvSpPr>
          <p:spPr>
            <a:xfrm>
              <a:off x="0" y="0"/>
              <a:ext cx="1848000" cy="238200"/>
            </a:xfrm>
            <a:prstGeom prst="rect">
              <a:avLst/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AUDIENCE STRATEGY</a:t>
              </a:r>
              <a:endParaRPr b="1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5" name="Google Shape;435;p24"/>
          <p:cNvSpPr txBox="1"/>
          <p:nvPr/>
        </p:nvSpPr>
        <p:spPr>
          <a:xfrm>
            <a:off x="500063" y="678656"/>
            <a:ext cx="4572000" cy="7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Balancing Mass Market Awareness with Warm Lead Conversion</a:t>
            </a:r>
            <a:endParaRPr b="1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6" name="Google Shape;436;p24"/>
          <p:cNvGrpSpPr/>
          <p:nvPr/>
        </p:nvGrpSpPr>
        <p:grpSpPr>
          <a:xfrm>
            <a:off x="500063" y="1427344"/>
            <a:ext cx="2178900" cy="2071800"/>
            <a:chOff x="0" y="0"/>
            <a:chExt cx="2905200" cy="2762400"/>
          </a:xfrm>
        </p:grpSpPr>
        <p:sp>
          <p:nvSpPr>
            <p:cNvPr id="437" name="Google Shape;437;p24"/>
            <p:cNvSpPr/>
            <p:nvPr/>
          </p:nvSpPr>
          <p:spPr>
            <a:xfrm>
              <a:off x="0" y="0"/>
              <a:ext cx="2905200" cy="2762400"/>
            </a:xfrm>
            <a:prstGeom prst="roundRect">
              <a:avLst>
                <a:gd fmla="val 2296" name="adj"/>
              </a:avLst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24"/>
            <p:cNvSpPr txBox="1"/>
            <p:nvPr/>
          </p:nvSpPr>
          <p:spPr>
            <a:xfrm>
              <a:off x="171450" y="171450"/>
              <a:ext cx="2562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rgbClr val="00823D"/>
                  </a:solidFill>
                  <a:latin typeface="Arial"/>
                  <a:ea typeface="Arial"/>
                  <a:cs typeface="Arial"/>
                  <a:sym typeface="Arial"/>
                </a:rPr>
                <a:t>IN-MARKET AUDIENCE</a:t>
              </a:r>
              <a:endParaRPr b="1" i="0" sz="700" u="none" cap="none" strike="noStrike">
                <a:solidFill>
                  <a:srgbClr val="00823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24"/>
            <p:cNvSpPr txBox="1"/>
            <p:nvPr/>
          </p:nvSpPr>
          <p:spPr>
            <a:xfrm>
              <a:off x="171450" y="419100"/>
              <a:ext cx="25623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" sz="2600" u="none" cap="none" strike="noStrike">
                  <a:solidFill>
                    <a:srgbClr val="00823D"/>
                  </a:solidFill>
                  <a:latin typeface="Arial"/>
                  <a:ea typeface="Arial"/>
                  <a:cs typeface="Arial"/>
                  <a:sym typeface="Arial"/>
                </a:rPr>
                <a:t>$8.55</a:t>
              </a:r>
              <a:endParaRPr b="1" i="0" sz="2600" u="none" cap="none" strike="noStrike">
                <a:solidFill>
                  <a:srgbClr val="00823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24"/>
            <p:cNvSpPr txBox="1"/>
            <p:nvPr/>
          </p:nvSpPr>
          <p:spPr>
            <a:xfrm>
              <a:off x="171450" y="990600"/>
              <a:ext cx="25623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Highly efficient CPM</a:t>
              </a:r>
              <a:endParaRPr b="1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1" name="Google Shape;441;p24"/>
            <p:cNvCxnSpPr/>
            <p:nvPr/>
          </p:nvCxnSpPr>
          <p:spPr>
            <a:xfrm>
              <a:off x="171450" y="1276350"/>
              <a:ext cx="25623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42" name="Google Shape;442;p24"/>
            <p:cNvSpPr txBox="1"/>
            <p:nvPr/>
          </p:nvSpPr>
          <p:spPr>
            <a:xfrm>
              <a:off x="171450" y="1419225"/>
              <a:ext cx="2562300" cy="1190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Drives bulk reach. Home &amp; Garden segment scales broad funnel awareness cost-effectively across active local households.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3" name="Google Shape;443;p24"/>
          <p:cNvGrpSpPr/>
          <p:nvPr/>
        </p:nvGrpSpPr>
        <p:grpSpPr>
          <a:xfrm>
            <a:off x="2893219" y="1427344"/>
            <a:ext cx="2178900" cy="2071800"/>
            <a:chOff x="0" y="0"/>
            <a:chExt cx="2905200" cy="2762400"/>
          </a:xfrm>
        </p:grpSpPr>
        <p:sp>
          <p:nvSpPr>
            <p:cNvPr id="444" name="Google Shape;444;p24"/>
            <p:cNvSpPr/>
            <p:nvPr/>
          </p:nvSpPr>
          <p:spPr>
            <a:xfrm>
              <a:off x="0" y="0"/>
              <a:ext cx="2905200" cy="2762400"/>
            </a:xfrm>
            <a:prstGeom prst="roundRect">
              <a:avLst>
                <a:gd fmla="val 2296" name="adj"/>
              </a:avLst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24"/>
            <p:cNvSpPr txBox="1"/>
            <p:nvPr/>
          </p:nvSpPr>
          <p:spPr>
            <a:xfrm>
              <a:off x="171450" y="171450"/>
              <a:ext cx="2562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rgbClr val="00823D"/>
                  </a:solidFill>
                  <a:latin typeface="Arial"/>
                  <a:ea typeface="Arial"/>
                  <a:cs typeface="Arial"/>
                  <a:sym typeface="Arial"/>
                </a:rPr>
                <a:t>SITE REMARKETING POOL</a:t>
              </a:r>
              <a:endParaRPr b="1" i="0" sz="700" u="none" cap="none" strike="noStrike">
                <a:solidFill>
                  <a:srgbClr val="00823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24"/>
            <p:cNvSpPr txBox="1"/>
            <p:nvPr/>
          </p:nvSpPr>
          <p:spPr>
            <a:xfrm>
              <a:off x="171450" y="419100"/>
              <a:ext cx="25623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" sz="26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$19.73</a:t>
              </a:r>
              <a:endParaRPr b="1" i="0" sz="2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24"/>
            <p:cNvSpPr txBox="1"/>
            <p:nvPr/>
          </p:nvSpPr>
          <p:spPr>
            <a:xfrm>
              <a:off x="171450" y="990600"/>
              <a:ext cx="25623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Precise target CPM</a:t>
              </a:r>
              <a:endParaRPr b="1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8" name="Google Shape;448;p24"/>
            <p:cNvCxnSpPr/>
            <p:nvPr/>
          </p:nvCxnSpPr>
          <p:spPr>
            <a:xfrm>
              <a:off x="171450" y="1276350"/>
              <a:ext cx="25623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49" name="Google Shape;449;p24"/>
            <p:cNvSpPr txBox="1"/>
            <p:nvPr/>
          </p:nvSpPr>
          <p:spPr>
            <a:xfrm>
              <a:off x="171450" y="1419225"/>
              <a:ext cx="2562300" cy="1190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Captures warm prospects and stays top-of-mind with past site visitors, building trust and accelerating conversion.</a:t>
              </a:r>
              <a:endPara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0" name="Google Shape;450;p24"/>
          <p:cNvGrpSpPr/>
          <p:nvPr/>
        </p:nvGrpSpPr>
        <p:grpSpPr>
          <a:xfrm>
            <a:off x="500063" y="3590944"/>
            <a:ext cx="4572000" cy="857250"/>
            <a:chOff x="0" y="-403200"/>
            <a:chExt cx="6096000" cy="1143000"/>
          </a:xfrm>
        </p:grpSpPr>
        <p:sp>
          <p:nvSpPr>
            <p:cNvPr id="451" name="Google Shape;451;p24"/>
            <p:cNvSpPr/>
            <p:nvPr/>
          </p:nvSpPr>
          <p:spPr>
            <a:xfrm>
              <a:off x="0" y="-403200"/>
              <a:ext cx="6096000" cy="1143000"/>
            </a:xfrm>
            <a:prstGeom prst="roundRect">
              <a:avLst>
                <a:gd fmla="val 5550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24"/>
            <p:cNvSpPr/>
            <p:nvPr/>
          </p:nvSpPr>
          <p:spPr>
            <a:xfrm>
              <a:off x="169545" y="207645"/>
              <a:ext cx="171600" cy="171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6880" y="0"/>
                    <a:pt x="0" y="26880"/>
                    <a:pt x="0" y="60000"/>
                  </a:cubicBezTo>
                  <a:lnTo>
                    <a:pt x="26880" y="120000"/>
                  </a:lnTo>
                  <a:lnTo>
                    <a:pt x="60000" y="120000"/>
                  </a:lnTo>
                  <a:lnTo>
                    <a:pt x="120000" y="93120"/>
                  </a:lnTo>
                  <a:lnTo>
                    <a:pt x="120000" y="60000"/>
                  </a:lnTo>
                  <a:lnTo>
                    <a:pt x="93120" y="0"/>
                  </a:lnTo>
                  <a:lnTo>
                    <a:pt x="60000" y="0"/>
                  </a:lnTo>
                  <a:close/>
                  <a:moveTo>
                    <a:pt x="66000" y="90000"/>
                  </a:moveTo>
                  <a:lnTo>
                    <a:pt x="54000" y="90000"/>
                  </a:lnTo>
                  <a:lnTo>
                    <a:pt x="54000" y="54000"/>
                  </a:lnTo>
                  <a:lnTo>
                    <a:pt x="66000" y="54000"/>
                  </a:lnTo>
                  <a:lnTo>
                    <a:pt x="66000" y="90000"/>
                  </a:lnTo>
                  <a:close/>
                  <a:moveTo>
                    <a:pt x="66000" y="42000"/>
                  </a:moveTo>
                  <a:lnTo>
                    <a:pt x="54000" y="42000"/>
                  </a:lnTo>
                  <a:lnTo>
                    <a:pt x="54000" y="30000"/>
                  </a:lnTo>
                  <a:lnTo>
                    <a:pt x="66000" y="30000"/>
                  </a:lnTo>
                  <a:lnTo>
                    <a:pt x="66000" y="42000"/>
                  </a:lnTo>
                  <a:close/>
                </a:path>
              </a:pathLst>
            </a:custGeom>
            <a:solidFill>
              <a:srgbClr val="006A4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24"/>
            <p:cNvSpPr txBox="1"/>
            <p:nvPr/>
          </p:nvSpPr>
          <p:spPr>
            <a:xfrm>
              <a:off x="485775" y="-250800"/>
              <a:ext cx="5419800" cy="857400"/>
            </a:xfrm>
            <a:prstGeom prst="rect">
              <a:avLst/>
            </a:prstGeom>
            <a:solidFill>
              <a:srgbClr val="A7C14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KEY TAKEAWAY</a:t>
              </a:r>
              <a:endParaRPr b="1" i="0" sz="900" u="none" cap="none" strike="noStrike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1" lang="en" sz="900" u="none" cap="none" strike="noStrike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The campaign utilized a two-tiered targeting strategy to capture top-of-funnel homeowner awareness while remarketing to recent website traffic.</a:t>
              </a:r>
              <a:endParaRPr b="0" i="1" sz="900" u="none" cap="none" strike="noStrike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Google Shape;458;p25"/>
          <p:cNvPicPr preferRelativeResize="0"/>
          <p:nvPr/>
        </p:nvPicPr>
        <p:blipFill rotWithShape="1">
          <a:blip r:embed="rId4">
            <a:alphaModFix/>
          </a:blip>
          <a:srcRect b="12932" l="5389" r="5094" t="44"/>
          <a:stretch/>
        </p:blipFill>
        <p:spPr>
          <a:xfrm>
            <a:off x="0" y="0"/>
            <a:ext cx="3440400" cy="4479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9" name="Google Shape;459;p25"/>
          <p:cNvGrpSpPr/>
          <p:nvPr/>
        </p:nvGrpSpPr>
        <p:grpSpPr>
          <a:xfrm>
            <a:off x="3857625" y="642938"/>
            <a:ext cx="4786425" cy="3929175"/>
            <a:chOff x="5143500" y="857250"/>
            <a:chExt cx="6381900" cy="5238900"/>
          </a:xfrm>
        </p:grpSpPr>
        <p:grpSp>
          <p:nvGrpSpPr>
            <p:cNvPr id="460" name="Google Shape;460;p25"/>
            <p:cNvGrpSpPr/>
            <p:nvPr/>
          </p:nvGrpSpPr>
          <p:grpSpPr>
            <a:xfrm>
              <a:off x="8953500" y="857250"/>
              <a:ext cx="2571900" cy="285900"/>
              <a:chOff x="0" y="0"/>
              <a:chExt cx="2571900" cy="285900"/>
            </a:xfrm>
          </p:grpSpPr>
          <p:sp>
            <p:nvSpPr>
              <p:cNvPr id="461" name="Google Shape;461;p25"/>
              <p:cNvSpPr/>
              <p:nvPr/>
            </p:nvSpPr>
            <p:spPr>
              <a:xfrm>
                <a:off x="0" y="0"/>
                <a:ext cx="2571900" cy="285900"/>
              </a:xfrm>
              <a:prstGeom prst="roundRect">
                <a:avLst>
                  <a:gd fmla="val 50000" name="adj"/>
                </a:avLst>
              </a:prstGeom>
              <a:solidFill>
                <a:srgbClr val="CCFFE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25"/>
              <p:cNvSpPr txBox="1"/>
              <p:nvPr/>
            </p:nvSpPr>
            <p:spPr>
              <a:xfrm>
                <a:off x="0" y="0"/>
                <a:ext cx="2571900" cy="2859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1" i="0" lang="en" sz="700" u="none" cap="none" strike="noStrike">
                    <a:solidFill>
                      <a:schemeClr val="lt1"/>
                    </a:solidFill>
                    <a:highlight>
                      <a:srgbClr val="A7C142"/>
                    </a:highlight>
                    <a:latin typeface="Arial"/>
                    <a:ea typeface="Arial"/>
                    <a:cs typeface="Arial"/>
                    <a:sym typeface="Arial"/>
                  </a:rPr>
                  <a:t>CAMPAIGN PROPOSAL</a:t>
                </a:r>
                <a:endParaRPr b="1" i="0" sz="700" u="none" cap="none" strike="noStrike">
                  <a:solidFill>
                    <a:schemeClr val="lt1"/>
                  </a:solidFill>
                  <a:highlight>
                    <a:srgbClr val="A7C142"/>
                  </a:highlight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3" name="Google Shape;463;p25"/>
            <p:cNvSpPr txBox="1"/>
            <p:nvPr/>
          </p:nvSpPr>
          <p:spPr>
            <a:xfrm>
              <a:off x="5143500" y="1809750"/>
              <a:ext cx="6381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CAMP DIGITAL PREMIUM STREAMING OPTIMIZATION</a:t>
              </a:r>
              <a:endParaRPr b="1" i="0" sz="700" u="none" cap="none" strike="noStrike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25"/>
            <p:cNvSpPr txBox="1"/>
            <p:nvPr/>
          </p:nvSpPr>
          <p:spPr>
            <a:xfrm>
              <a:off x="5143500" y="2190750"/>
              <a:ext cx="63819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lang="en" sz="2400">
                  <a:solidFill>
                    <a:srgbClr val="FFFFFF"/>
                  </a:solidFill>
                </a:rPr>
                <a:t>Legacy</a:t>
              </a:r>
              <a:r>
                <a:rPr b="1" i="0" lang="en" sz="2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Home Services</a:t>
              </a:r>
              <a:endParaRPr b="1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25"/>
            <p:cNvSpPr txBox="1"/>
            <p:nvPr/>
          </p:nvSpPr>
          <p:spPr>
            <a:xfrm>
              <a:off x="5143500" y="2857500"/>
              <a:ext cx="6381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Premium Streaming (OTT / CTV) Media Plan</a:t>
              </a:r>
              <a:endParaRPr b="1" i="0" sz="1800" u="none" cap="none" strike="noStrike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25"/>
            <p:cNvSpPr txBox="1"/>
            <p:nvPr/>
          </p:nvSpPr>
          <p:spPr>
            <a:xfrm>
              <a:off x="5143500" y="4000500"/>
              <a:ext cx="638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30-Day Flight · October 2026</a:t>
              </a:r>
              <a:endParaRPr b="1" i="0" sz="900" u="none" cap="none" strike="noStrike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25"/>
            <p:cNvSpPr/>
            <p:nvPr/>
          </p:nvSpPr>
          <p:spPr>
            <a:xfrm>
              <a:off x="5143500" y="4476750"/>
              <a:ext cx="6381900" cy="14400"/>
            </a:xfrm>
            <a:prstGeom prst="rect">
              <a:avLst/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25"/>
            <p:cNvSpPr txBox="1"/>
            <p:nvPr/>
          </p:nvSpPr>
          <p:spPr>
            <a:xfrm>
              <a:off x="5143500" y="4667250"/>
              <a:ext cx="6381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800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Prepared by:</a:t>
              </a:r>
              <a:r>
                <a:rPr b="0" i="0" lang="en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CAMP Digital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800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Platform:</a:t>
              </a:r>
              <a:r>
                <a:rPr b="0" i="0" lang="en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Microsoft Audience Network — CTV / OTT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800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Core Market:</a:t>
              </a:r>
              <a:r>
                <a:rPr b="0" i="0" lang="en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800">
                  <a:solidFill>
                    <a:srgbClr val="FFFFFF"/>
                  </a:solidFill>
                </a:rPr>
                <a:t>33 Northwest-Suburban Illinois Communities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3" name="Google Shape;473;p26"/>
          <p:cNvGrpSpPr/>
          <p:nvPr/>
        </p:nvGrpSpPr>
        <p:grpSpPr>
          <a:xfrm>
            <a:off x="476250" y="266700"/>
            <a:ext cx="1000200" cy="171600"/>
            <a:chOff x="0" y="0"/>
            <a:chExt cx="1000200" cy="171600"/>
          </a:xfrm>
        </p:grpSpPr>
        <p:sp>
          <p:nvSpPr>
            <p:cNvPr id="474" name="Google Shape;474;p26"/>
            <p:cNvSpPr/>
            <p:nvPr/>
          </p:nvSpPr>
          <p:spPr>
            <a:xfrm>
              <a:off x="0" y="0"/>
              <a:ext cx="1000200" cy="171600"/>
            </a:xfrm>
            <a:prstGeom prst="roundRect">
              <a:avLst>
                <a:gd fmla="val 22222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26"/>
            <p:cNvSpPr txBox="1"/>
            <p:nvPr/>
          </p:nvSpPr>
          <p:spPr>
            <a:xfrm>
              <a:off x="0" y="0"/>
              <a:ext cx="10002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" sz="7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PRICING MODEL</a:t>
              </a:r>
              <a:endParaRPr b="1" i="0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6" name="Google Shape;476;p26"/>
          <p:cNvGrpSpPr/>
          <p:nvPr/>
        </p:nvGrpSpPr>
        <p:grpSpPr>
          <a:xfrm>
            <a:off x="476250" y="495300"/>
            <a:ext cx="8191500" cy="800100"/>
            <a:chOff x="0" y="0"/>
            <a:chExt cx="8191500" cy="800100"/>
          </a:xfrm>
        </p:grpSpPr>
        <p:sp>
          <p:nvSpPr>
            <p:cNvPr id="477" name="Google Shape;477;p26"/>
            <p:cNvSpPr txBox="1"/>
            <p:nvPr/>
          </p:nvSpPr>
          <p:spPr>
            <a:xfrm>
              <a:off x="0" y="0"/>
              <a:ext cx="819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" sz="2400" u="none" cap="none" strike="noStrike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100% Working Media. Zero Hidden Tech Taxes.</a:t>
              </a:r>
              <a:endParaRPr b="1" i="0" sz="24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26"/>
            <p:cNvSpPr txBox="1"/>
            <p:nvPr/>
          </p:nvSpPr>
          <p:spPr>
            <a:xfrm>
              <a:off x="0" y="419100"/>
              <a:ext cx="819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rPr>
                <a:t>Media is purchased directly through the ad engines at transparent CPM-based pricing, with a flat monthly management fee that keeps our incentives aligned with campaign outcomes.</a:t>
              </a:r>
              <a:endParaRPr b="0" i="0" sz="10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9" name="Google Shape;479;p26"/>
          <p:cNvGrpSpPr/>
          <p:nvPr/>
        </p:nvGrpSpPr>
        <p:grpSpPr>
          <a:xfrm>
            <a:off x="476250" y="1428750"/>
            <a:ext cx="3762300" cy="1571700"/>
            <a:chOff x="0" y="0"/>
            <a:chExt cx="3762300" cy="1571700"/>
          </a:xfrm>
        </p:grpSpPr>
        <p:sp>
          <p:nvSpPr>
            <p:cNvPr id="480" name="Google Shape;480;p26"/>
            <p:cNvSpPr/>
            <p:nvPr/>
          </p:nvSpPr>
          <p:spPr>
            <a:xfrm>
              <a:off x="0" y="0"/>
              <a:ext cx="3762300" cy="15717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26"/>
            <p:cNvSpPr txBox="1"/>
            <p:nvPr/>
          </p:nvSpPr>
          <p:spPr>
            <a:xfrm>
              <a:off x="190500" y="142875"/>
              <a:ext cx="33813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1" i="0" lang="en" sz="850" u="none" cap="none" strike="noStrike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rPr>
                <a:t>TRADITIONAL CTV MODELS</a:t>
              </a:r>
              <a:endParaRPr b="1" i="0" sz="8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—</a:t>
              </a:r>
              <a:r>
                <a:rPr b="0" i="0" lang="en" sz="105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Hidden platform markups and unknown inventory fees</a:t>
              </a:r>
              <a:endParaRPr b="0" i="0" sz="10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—</a:t>
              </a:r>
              <a:r>
                <a:rPr b="0" i="0" lang="en" sz="105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Layered reseller margins that shrink working media</a:t>
              </a:r>
              <a:endParaRPr b="0" i="0" sz="10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—</a:t>
              </a:r>
              <a:r>
                <a:rPr b="0" i="0" lang="en" sz="105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Obscured placement and performance reporting</a:t>
              </a:r>
              <a:endParaRPr b="0" i="0" sz="10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2" name="Google Shape;482;p26"/>
          <p:cNvGrpSpPr/>
          <p:nvPr/>
        </p:nvGrpSpPr>
        <p:grpSpPr>
          <a:xfrm>
            <a:off x="4429125" y="1428750"/>
            <a:ext cx="4238700" cy="1571700"/>
            <a:chOff x="0" y="0"/>
            <a:chExt cx="4238700" cy="1571700"/>
          </a:xfrm>
        </p:grpSpPr>
        <p:sp>
          <p:nvSpPr>
            <p:cNvPr id="483" name="Google Shape;483;p26"/>
            <p:cNvSpPr/>
            <p:nvPr/>
          </p:nvSpPr>
          <p:spPr>
            <a:xfrm>
              <a:off x="0" y="0"/>
              <a:ext cx="4238700" cy="1571700"/>
            </a:xfrm>
            <a:prstGeom prst="roundRect">
              <a:avLst>
                <a:gd fmla="val 3636" name="adj"/>
              </a:avLst>
            </a:prstGeom>
            <a:solidFill>
              <a:srgbClr val="0033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26"/>
            <p:cNvSpPr txBox="1"/>
            <p:nvPr/>
          </p:nvSpPr>
          <p:spPr>
            <a:xfrm>
              <a:off x="190500" y="142875"/>
              <a:ext cx="38577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1" i="0" lang="en" sz="850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THE CAMP DIGITAL MODEL</a:t>
              </a:r>
              <a:endParaRPr b="1" i="0" sz="850" u="none" cap="none" strike="noStrike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en" sz="1050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b="0" i="0" lang="en" sz="1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100% of media budget goes to buying impressions</a:t>
              </a:r>
              <a:endPara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en" sz="1050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b="0" i="0" lang="en" sz="1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Flat monthly management fee, disclosed up front</a:t>
              </a:r>
              <a:endPara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en" sz="1050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b="0" i="0" lang="en" sz="1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Direct access to placement, CPM and delivery reporting</a:t>
              </a:r>
              <a:endPara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5" name="Google Shape;485;p26"/>
          <p:cNvGrpSpPr/>
          <p:nvPr/>
        </p:nvGrpSpPr>
        <p:grpSpPr>
          <a:xfrm>
            <a:off x="476250" y="3190875"/>
            <a:ext cx="2476500" cy="1047900"/>
            <a:chOff x="0" y="0"/>
            <a:chExt cx="2476500" cy="1047900"/>
          </a:xfrm>
        </p:grpSpPr>
        <p:sp>
          <p:nvSpPr>
            <p:cNvPr id="486" name="Google Shape;486;p26"/>
            <p:cNvSpPr/>
            <p:nvPr/>
          </p:nvSpPr>
          <p:spPr>
            <a:xfrm>
              <a:off x="0" y="0"/>
              <a:ext cx="2476500" cy="1047900"/>
            </a:xfrm>
            <a:prstGeom prst="roundRect">
              <a:avLst>
                <a:gd fmla="val 5454" name="adj"/>
              </a:avLst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26"/>
            <p:cNvSpPr txBox="1"/>
            <p:nvPr/>
          </p:nvSpPr>
          <p:spPr>
            <a:xfrm>
              <a:off x="171450" y="114300"/>
              <a:ext cx="21336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" sz="750" u="none" cap="none" strike="noStrike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rPr>
                <a:t>LEGACY’S MONTHLY MEDIA</a:t>
              </a:r>
              <a:endParaRPr b="1" i="0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" sz="2600" u="none" cap="none" strike="noStrike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$10,000</a:t>
              </a:r>
              <a:endParaRPr b="1" i="0" sz="26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0" i="0" lang="en" sz="850" u="none" cap="none" strike="noStrike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rPr>
                <a:t>NET USD, working media</a:t>
              </a:r>
              <a:endParaRPr b="0" i="0" sz="8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8" name="Google Shape;488;p26"/>
          <p:cNvGrpSpPr/>
          <p:nvPr/>
        </p:nvGrpSpPr>
        <p:grpSpPr>
          <a:xfrm>
            <a:off x="3095625" y="3190875"/>
            <a:ext cx="2476500" cy="1047900"/>
            <a:chOff x="0" y="0"/>
            <a:chExt cx="2476500" cy="1047900"/>
          </a:xfrm>
        </p:grpSpPr>
        <p:sp>
          <p:nvSpPr>
            <p:cNvPr id="489" name="Google Shape;489;p26"/>
            <p:cNvSpPr/>
            <p:nvPr/>
          </p:nvSpPr>
          <p:spPr>
            <a:xfrm>
              <a:off x="0" y="0"/>
              <a:ext cx="2476500" cy="1047900"/>
            </a:xfrm>
            <a:prstGeom prst="roundRect">
              <a:avLst>
                <a:gd fmla="val 5454" name="adj"/>
              </a:avLst>
            </a:prstGeom>
            <a:solidFill>
              <a:srgbClr val="EBF7EE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26"/>
            <p:cNvSpPr txBox="1"/>
            <p:nvPr/>
          </p:nvSpPr>
          <p:spPr>
            <a:xfrm>
              <a:off x="171450" y="114300"/>
              <a:ext cx="21336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" sz="750" u="none" cap="none" strike="noStrike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rPr>
                <a:t>THIRD-PARTY MARKUPS</a:t>
              </a:r>
              <a:endParaRPr b="1" i="0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" sz="2600" u="none" cap="none" strike="noStrike">
                  <a:solidFill>
                    <a:srgbClr val="00823D"/>
                  </a:solidFill>
                  <a:latin typeface="Arial"/>
                  <a:ea typeface="Arial"/>
                  <a:cs typeface="Arial"/>
                  <a:sym typeface="Arial"/>
                </a:rPr>
                <a:t>$0</a:t>
              </a:r>
              <a:endParaRPr b="1" i="0" sz="2600" u="none" cap="none" strike="noStrike">
                <a:solidFill>
                  <a:srgbClr val="00823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0" i="0" lang="en" sz="850" u="none" cap="none" strike="noStrike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rPr>
                <a:t>No reseller margin in the buy</a:t>
              </a:r>
              <a:endParaRPr b="0" i="0" sz="8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1" name="Google Shape;491;p26"/>
          <p:cNvGrpSpPr/>
          <p:nvPr/>
        </p:nvGrpSpPr>
        <p:grpSpPr>
          <a:xfrm>
            <a:off x="5715000" y="3190875"/>
            <a:ext cx="2952900" cy="1047900"/>
            <a:chOff x="0" y="0"/>
            <a:chExt cx="2952900" cy="1047900"/>
          </a:xfrm>
        </p:grpSpPr>
        <p:sp>
          <p:nvSpPr>
            <p:cNvPr id="492" name="Google Shape;492;p26"/>
            <p:cNvSpPr/>
            <p:nvPr/>
          </p:nvSpPr>
          <p:spPr>
            <a:xfrm>
              <a:off x="0" y="0"/>
              <a:ext cx="2952900" cy="1047900"/>
            </a:xfrm>
            <a:prstGeom prst="roundRect">
              <a:avLst>
                <a:gd fmla="val 5454" name="adj"/>
              </a:avLst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26"/>
            <p:cNvSpPr txBox="1"/>
            <p:nvPr/>
          </p:nvSpPr>
          <p:spPr>
            <a:xfrm>
              <a:off x="171450" y="114300"/>
              <a:ext cx="26100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" sz="750" u="none" cap="none" strike="noStrike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rPr>
                <a:t>ESTIMATED IMPRESSIONS</a:t>
              </a:r>
              <a:endParaRPr b="1" i="0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" sz="2600" u="none" cap="none" strike="noStrike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800,000</a:t>
              </a:r>
              <a:endParaRPr b="1" i="0" sz="26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0" i="0" lang="en" sz="850" u="none" cap="none" strike="noStrike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rPr>
                <a:t>One in-market ad group</a:t>
              </a:r>
              <a:endParaRPr b="0" i="0" sz="8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4" name="Google Shape;494;p26"/>
          <p:cNvGrpSpPr/>
          <p:nvPr/>
        </p:nvGrpSpPr>
        <p:grpSpPr>
          <a:xfrm>
            <a:off x="552450" y="4714875"/>
            <a:ext cx="8039250" cy="190500"/>
            <a:chOff x="0" y="0"/>
            <a:chExt cx="8039250" cy="190500"/>
          </a:xfrm>
        </p:grpSpPr>
        <p:sp>
          <p:nvSpPr>
            <p:cNvPr id="495" name="Google Shape;495;p26"/>
            <p:cNvSpPr txBox="1"/>
            <p:nvPr/>
          </p:nvSpPr>
          <p:spPr>
            <a:xfrm>
              <a:off x="0" y="0"/>
              <a:ext cx="571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0" i="0" lang="en" sz="750" u="none" cap="none" strike="noStrike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CAMP Digital · Premium Streaming Media Plan · Legacy Home Services · </a:t>
              </a:r>
              <a:r>
                <a:rPr lang="en" sz="750">
                  <a:solidFill>
                    <a:srgbClr val="999999"/>
                  </a:solidFill>
                </a:rPr>
                <a:t>October </a:t>
              </a:r>
              <a:r>
                <a:rPr b="0" i="0" lang="en" sz="750" u="none" cap="none" strike="noStrike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2026</a:t>
              </a:r>
              <a:endParaRPr b="0" i="0" sz="75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26"/>
            <p:cNvSpPr txBox="1"/>
            <p:nvPr/>
          </p:nvSpPr>
          <p:spPr>
            <a:xfrm>
              <a:off x="7753350" y="0"/>
              <a:ext cx="285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0" i="0" lang="en" sz="750" u="none" cap="none" strike="noStrike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endParaRPr b="0" i="0" sz="75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" name="Google Shape;501;p27"/>
          <p:cNvGrpSpPr/>
          <p:nvPr/>
        </p:nvGrpSpPr>
        <p:grpSpPr>
          <a:xfrm>
            <a:off x="552450" y="333375"/>
            <a:ext cx="8039100" cy="1028700"/>
            <a:chOff x="0" y="0"/>
            <a:chExt cx="8039100" cy="1028700"/>
          </a:xfrm>
        </p:grpSpPr>
        <p:sp>
          <p:nvSpPr>
            <p:cNvPr id="502" name="Google Shape;502;p27"/>
            <p:cNvSpPr/>
            <p:nvPr/>
          </p:nvSpPr>
          <p:spPr>
            <a:xfrm>
              <a:off x="0" y="0"/>
              <a:ext cx="1333500" cy="190500"/>
            </a:xfrm>
            <a:prstGeom prst="roundRect">
              <a:avLst>
                <a:gd fmla="val 25000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27"/>
            <p:cNvSpPr txBox="1"/>
            <p:nvPr/>
          </p:nvSpPr>
          <p:spPr>
            <a:xfrm>
              <a:off x="0" y="0"/>
              <a:ext cx="1333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" sz="7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GEOGRAPHIC TARGETING</a:t>
              </a:r>
              <a:endParaRPr b="1" i="0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27"/>
            <p:cNvSpPr txBox="1"/>
            <p:nvPr/>
          </p:nvSpPr>
          <p:spPr>
            <a:xfrm>
              <a:off x="0" y="238125"/>
              <a:ext cx="8039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" sz="2400" u="none" cap="none" strike="noStrike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33 Communities. Zero Wasted Impressions.</a:t>
              </a:r>
              <a:endParaRPr b="1" i="0" sz="24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27"/>
            <p:cNvSpPr txBox="1"/>
            <p:nvPr/>
          </p:nvSpPr>
          <p:spPr>
            <a:xfrm>
              <a:off x="0" y="647700"/>
              <a:ext cx="8039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rPr>
                <a:t>Delivery is confined to the northwest-suburban Illinois communities Legacy actively services — bought by name, one city at a time, rather than as a Chicago DMA broadcast buy.</a:t>
              </a:r>
              <a:endParaRPr b="0" i="0" sz="10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6" name="Google Shape;506;p27"/>
          <p:cNvGrpSpPr/>
          <p:nvPr/>
        </p:nvGrpSpPr>
        <p:grpSpPr>
          <a:xfrm>
            <a:off x="552450" y="1543050"/>
            <a:ext cx="4762500" cy="2381400"/>
            <a:chOff x="0" y="0"/>
            <a:chExt cx="4762500" cy="2381400"/>
          </a:xfrm>
        </p:grpSpPr>
        <p:sp>
          <p:nvSpPr>
            <p:cNvPr id="507" name="Google Shape;507;p27"/>
            <p:cNvSpPr/>
            <p:nvPr/>
          </p:nvSpPr>
          <p:spPr>
            <a:xfrm>
              <a:off x="0" y="0"/>
              <a:ext cx="4762500" cy="2381400"/>
            </a:xfrm>
            <a:prstGeom prst="roundRect">
              <a:avLst>
                <a:gd fmla="val 2400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8" name="Google Shape;508;p27"/>
            <p:cNvGrpSpPr/>
            <p:nvPr/>
          </p:nvGrpSpPr>
          <p:grpSpPr>
            <a:xfrm>
              <a:off x="152400" y="133350"/>
              <a:ext cx="4457850" cy="2019300"/>
              <a:chOff x="0" y="0"/>
              <a:chExt cx="4457850" cy="2019300"/>
            </a:xfrm>
          </p:grpSpPr>
          <p:grpSp>
            <p:nvGrpSpPr>
              <p:cNvPr id="9001" name="Legacy 9001"/>
              <p:cNvGrpSpPr/>
              <p:nvPr/>
            </p:nvGrpSpPr>
            <p:grpSpPr>
              <a:xfrm>
                <a:off x="0" y="0"/>
                <a:ext cx="1435150" cy="158172"/>
                <a:chOff x="0" y="0"/>
                <a:chExt cx="1435150" cy="158172"/>
              </a:xfrm>
            </p:grpSpPr>
            <p:sp>
              <p:nvSpPr>
                <p:cNvPr id="9002" name="Legacy 9002"/>
                <p:cNvSpPr/>
                <p:nvPr/>
              </p:nvSpPr>
              <p:spPr>
                <a:xfrm>
                  <a:off x="0" y="0"/>
                  <a:ext cx="1435150" cy="158172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03" name="Legacy 9003"/>
                <p:cNvSpPr txBox="1"/>
                <p:nvPr/>
              </p:nvSpPr>
              <p:spPr>
                <a:xfrm>
                  <a:off x="91440" y="0"/>
                  <a:ext cx="1315150" cy="1581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1" i="0" lang="en" sz="900" u="none" cap="none" strike="noStrike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Algonquin</a:t>
                  </a:r>
                  <a:endParaRPr b="1" i="0" sz="9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005" name="Legacy 9005"/>
              <p:cNvGrpSpPr/>
              <p:nvPr/>
            </p:nvGrpSpPr>
            <p:grpSpPr>
              <a:xfrm>
                <a:off x="0" y="183572"/>
                <a:ext cx="1435150" cy="158172"/>
                <a:chOff x="0" y="0"/>
                <a:chExt cx="1435150" cy="158172"/>
              </a:xfrm>
            </p:grpSpPr>
            <p:sp>
              <p:nvSpPr>
                <p:cNvPr id="9006" name="Legacy 9006"/>
                <p:cNvSpPr/>
                <p:nvPr/>
              </p:nvSpPr>
              <p:spPr>
                <a:xfrm>
                  <a:off x="0" y="0"/>
                  <a:ext cx="1435150" cy="158172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07" name="Legacy 9007"/>
                <p:cNvSpPr txBox="1"/>
                <p:nvPr/>
              </p:nvSpPr>
              <p:spPr>
                <a:xfrm>
                  <a:off x="91440" y="0"/>
                  <a:ext cx="1315150" cy="1581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1" i="0" lang="en" sz="900" u="none" cap="none" strike="noStrike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Arlington Heights</a:t>
                  </a:r>
                  <a:endParaRPr b="1" i="0" sz="9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009" name="Legacy 9009"/>
              <p:cNvGrpSpPr/>
              <p:nvPr/>
            </p:nvGrpSpPr>
            <p:grpSpPr>
              <a:xfrm>
                <a:off x="0" y="367144"/>
                <a:ext cx="1435150" cy="158172"/>
                <a:chOff x="0" y="0"/>
                <a:chExt cx="1435150" cy="158172"/>
              </a:xfrm>
            </p:grpSpPr>
            <p:sp>
              <p:nvSpPr>
                <p:cNvPr id="9010" name="Legacy 9010"/>
                <p:cNvSpPr/>
                <p:nvPr/>
              </p:nvSpPr>
              <p:spPr>
                <a:xfrm>
                  <a:off x="0" y="0"/>
                  <a:ext cx="1435150" cy="158172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11" name="Legacy 9011"/>
                <p:cNvSpPr txBox="1"/>
                <p:nvPr/>
              </p:nvSpPr>
              <p:spPr>
                <a:xfrm>
                  <a:off x="91440" y="0"/>
                  <a:ext cx="1315150" cy="1581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1" i="0" lang="en" sz="900" u="none" cap="none" strike="noStrike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Barrington</a:t>
                  </a:r>
                  <a:endParaRPr b="1" i="0" sz="9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013" name="Legacy 9013"/>
              <p:cNvGrpSpPr/>
              <p:nvPr/>
            </p:nvGrpSpPr>
            <p:grpSpPr>
              <a:xfrm>
                <a:off x="0" y="550716"/>
                <a:ext cx="1435150" cy="158172"/>
                <a:chOff x="0" y="0"/>
                <a:chExt cx="1435150" cy="158172"/>
              </a:xfrm>
            </p:grpSpPr>
            <p:sp>
              <p:nvSpPr>
                <p:cNvPr id="9014" name="Legacy 9014"/>
                <p:cNvSpPr/>
                <p:nvPr/>
              </p:nvSpPr>
              <p:spPr>
                <a:xfrm>
                  <a:off x="0" y="0"/>
                  <a:ext cx="1435150" cy="158172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15" name="Legacy 9015"/>
                <p:cNvSpPr txBox="1"/>
                <p:nvPr/>
              </p:nvSpPr>
              <p:spPr>
                <a:xfrm>
                  <a:off x="91440" y="0"/>
                  <a:ext cx="1315150" cy="1581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1" i="0" lang="en" sz="900" u="none" cap="none" strike="noStrike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Bartlett</a:t>
                  </a:r>
                  <a:endParaRPr b="1" i="0" sz="9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017" name="Legacy 9017"/>
              <p:cNvGrpSpPr/>
              <p:nvPr/>
            </p:nvGrpSpPr>
            <p:grpSpPr>
              <a:xfrm>
                <a:off x="0" y="734288"/>
                <a:ext cx="1435150" cy="158172"/>
                <a:chOff x="0" y="0"/>
                <a:chExt cx="1435150" cy="158172"/>
              </a:xfrm>
            </p:grpSpPr>
            <p:sp>
              <p:nvSpPr>
                <p:cNvPr id="9018" name="Legacy 9018"/>
                <p:cNvSpPr/>
                <p:nvPr/>
              </p:nvSpPr>
              <p:spPr>
                <a:xfrm>
                  <a:off x="0" y="0"/>
                  <a:ext cx="1435150" cy="158172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19" name="Legacy 9019"/>
                <p:cNvSpPr txBox="1"/>
                <p:nvPr/>
              </p:nvSpPr>
              <p:spPr>
                <a:xfrm>
                  <a:off x="91440" y="0"/>
                  <a:ext cx="1315150" cy="1581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1" i="0" lang="en" sz="900" u="none" cap="none" strike="noStrike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Batavia</a:t>
                  </a:r>
                  <a:endParaRPr b="1" i="0" sz="9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021" name="Legacy 9021"/>
              <p:cNvGrpSpPr/>
              <p:nvPr/>
            </p:nvGrpSpPr>
            <p:grpSpPr>
              <a:xfrm>
                <a:off x="0" y="917860"/>
                <a:ext cx="1435150" cy="158172"/>
                <a:chOff x="0" y="0"/>
                <a:chExt cx="1435150" cy="158172"/>
              </a:xfrm>
            </p:grpSpPr>
            <p:sp>
              <p:nvSpPr>
                <p:cNvPr id="9022" name="Legacy 9022"/>
                <p:cNvSpPr/>
                <p:nvPr/>
              </p:nvSpPr>
              <p:spPr>
                <a:xfrm>
                  <a:off x="0" y="0"/>
                  <a:ext cx="1435150" cy="158172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23" name="Legacy 9023"/>
                <p:cNvSpPr txBox="1"/>
                <p:nvPr/>
              </p:nvSpPr>
              <p:spPr>
                <a:xfrm>
                  <a:off x="91440" y="0"/>
                  <a:ext cx="1315150" cy="1581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1" i="0" lang="en" sz="900" u="none" cap="none" strike="noStrike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Bloomingdale</a:t>
                  </a:r>
                  <a:endParaRPr b="1" i="0" sz="9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025" name="Legacy 9025"/>
              <p:cNvGrpSpPr/>
              <p:nvPr/>
            </p:nvGrpSpPr>
            <p:grpSpPr>
              <a:xfrm>
                <a:off x="0" y="1101432"/>
                <a:ext cx="1435150" cy="158172"/>
                <a:chOff x="0" y="0"/>
                <a:chExt cx="1435150" cy="158172"/>
              </a:xfrm>
            </p:grpSpPr>
            <p:sp>
              <p:nvSpPr>
                <p:cNvPr id="9026" name="Legacy 9026"/>
                <p:cNvSpPr/>
                <p:nvPr/>
              </p:nvSpPr>
              <p:spPr>
                <a:xfrm>
                  <a:off x="0" y="0"/>
                  <a:ext cx="1435150" cy="158172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27" name="Legacy 9027"/>
                <p:cNvSpPr txBox="1"/>
                <p:nvPr/>
              </p:nvSpPr>
              <p:spPr>
                <a:xfrm>
                  <a:off x="91440" y="0"/>
                  <a:ext cx="1315150" cy="1581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1" i="0" lang="en" sz="900" u="none" cap="none" strike="noStrike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Buffalo Grove</a:t>
                  </a:r>
                  <a:endParaRPr b="1" i="0" sz="9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029" name="Legacy 9029"/>
              <p:cNvGrpSpPr/>
              <p:nvPr/>
            </p:nvGrpSpPr>
            <p:grpSpPr>
              <a:xfrm>
                <a:off x="0" y="1285004"/>
                <a:ext cx="1435150" cy="158172"/>
                <a:chOff x="0" y="0"/>
                <a:chExt cx="1435150" cy="158172"/>
              </a:xfrm>
            </p:grpSpPr>
            <p:sp>
              <p:nvSpPr>
                <p:cNvPr id="9030" name="Legacy 9030"/>
                <p:cNvSpPr/>
                <p:nvPr/>
              </p:nvSpPr>
              <p:spPr>
                <a:xfrm>
                  <a:off x="0" y="0"/>
                  <a:ext cx="1435150" cy="158172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31" name="Legacy 9031"/>
                <p:cNvSpPr txBox="1"/>
                <p:nvPr/>
              </p:nvSpPr>
              <p:spPr>
                <a:xfrm>
                  <a:off x="91440" y="0"/>
                  <a:ext cx="1315150" cy="1581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1" i="0" lang="en" sz="900" u="none" cap="none" strike="noStrike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Carol Stream</a:t>
                  </a:r>
                  <a:endParaRPr b="1" i="0" sz="9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033" name="Legacy 9033"/>
              <p:cNvGrpSpPr/>
              <p:nvPr/>
            </p:nvGrpSpPr>
            <p:grpSpPr>
              <a:xfrm>
                <a:off x="0" y="1468576"/>
                <a:ext cx="1435150" cy="158172"/>
                <a:chOff x="0" y="0"/>
                <a:chExt cx="1435150" cy="158172"/>
              </a:xfrm>
            </p:grpSpPr>
            <p:sp>
              <p:nvSpPr>
                <p:cNvPr id="9034" name="Legacy 9034"/>
                <p:cNvSpPr/>
                <p:nvPr/>
              </p:nvSpPr>
              <p:spPr>
                <a:xfrm>
                  <a:off x="0" y="0"/>
                  <a:ext cx="1435150" cy="158172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35" name="Legacy 9035"/>
                <p:cNvSpPr txBox="1"/>
                <p:nvPr/>
              </p:nvSpPr>
              <p:spPr>
                <a:xfrm>
                  <a:off x="91440" y="0"/>
                  <a:ext cx="1315150" cy="1581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1" i="0" lang="en" sz="900" u="none" cap="none" strike="noStrike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Carpentersville</a:t>
                  </a:r>
                  <a:endParaRPr b="1" i="0" sz="9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037" name="Legacy 9037"/>
              <p:cNvGrpSpPr/>
              <p:nvPr/>
            </p:nvGrpSpPr>
            <p:grpSpPr>
              <a:xfrm>
                <a:off x="0" y="1652148"/>
                <a:ext cx="1435150" cy="158172"/>
                <a:chOff x="0" y="0"/>
                <a:chExt cx="1435150" cy="158172"/>
              </a:xfrm>
            </p:grpSpPr>
            <p:sp>
              <p:nvSpPr>
                <p:cNvPr id="9038" name="Legacy 9038"/>
                <p:cNvSpPr/>
                <p:nvPr/>
              </p:nvSpPr>
              <p:spPr>
                <a:xfrm>
                  <a:off x="0" y="0"/>
                  <a:ext cx="1435150" cy="158172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39" name="Legacy 9039"/>
                <p:cNvSpPr txBox="1"/>
                <p:nvPr/>
              </p:nvSpPr>
              <p:spPr>
                <a:xfrm>
                  <a:off x="91440" y="0"/>
                  <a:ext cx="1315150" cy="1581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1" i="0" lang="en" sz="900" u="none" cap="none" strike="noStrike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Cary</a:t>
                  </a:r>
                  <a:endParaRPr b="1" i="0" sz="9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041" name="Legacy 9041"/>
              <p:cNvGrpSpPr/>
              <p:nvPr/>
            </p:nvGrpSpPr>
            <p:grpSpPr>
              <a:xfrm>
                <a:off x="0" y="1835720"/>
                <a:ext cx="1435150" cy="158172"/>
                <a:chOff x="0" y="0"/>
                <a:chExt cx="1435150" cy="158172"/>
              </a:xfrm>
            </p:grpSpPr>
            <p:sp>
              <p:nvSpPr>
                <p:cNvPr id="9042" name="Legacy 9042"/>
                <p:cNvSpPr/>
                <p:nvPr/>
              </p:nvSpPr>
              <p:spPr>
                <a:xfrm>
                  <a:off x="0" y="0"/>
                  <a:ext cx="1435150" cy="158172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3" name="Legacy 9043"/>
                <p:cNvSpPr txBox="1"/>
                <p:nvPr/>
              </p:nvSpPr>
              <p:spPr>
                <a:xfrm>
                  <a:off x="91440" y="0"/>
                  <a:ext cx="1315150" cy="1581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1" i="0" lang="en" sz="900" u="none" cap="none" strike="noStrike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Crystal Lake</a:t>
                  </a:r>
                  <a:endParaRPr b="1" i="0" sz="9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045" name="Legacy 9045"/>
              <p:cNvGrpSpPr/>
              <p:nvPr/>
            </p:nvGrpSpPr>
            <p:grpSpPr>
              <a:xfrm>
                <a:off x="1511350" y="0"/>
                <a:ext cx="1435150" cy="158172"/>
                <a:chOff x="0" y="0"/>
                <a:chExt cx="1435150" cy="158172"/>
              </a:xfrm>
            </p:grpSpPr>
            <p:sp>
              <p:nvSpPr>
                <p:cNvPr id="9046" name="Legacy 9046"/>
                <p:cNvSpPr/>
                <p:nvPr/>
              </p:nvSpPr>
              <p:spPr>
                <a:xfrm>
                  <a:off x="0" y="0"/>
                  <a:ext cx="1435150" cy="158172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7" name="Legacy 9047"/>
                <p:cNvSpPr txBox="1"/>
                <p:nvPr/>
              </p:nvSpPr>
              <p:spPr>
                <a:xfrm>
                  <a:off x="91440" y="0"/>
                  <a:ext cx="1315150" cy="1581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1" i="0" lang="en" sz="900" u="none" cap="none" strike="noStrike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Deerpark</a:t>
                  </a:r>
                  <a:endParaRPr b="1" i="0" sz="9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049" name="Legacy 9049"/>
              <p:cNvGrpSpPr/>
              <p:nvPr/>
            </p:nvGrpSpPr>
            <p:grpSpPr>
              <a:xfrm>
                <a:off x="1511350" y="183572"/>
                <a:ext cx="1435150" cy="158172"/>
                <a:chOff x="0" y="0"/>
                <a:chExt cx="1435150" cy="158172"/>
              </a:xfrm>
            </p:grpSpPr>
            <p:sp>
              <p:nvSpPr>
                <p:cNvPr id="9050" name="Legacy 9050"/>
                <p:cNvSpPr/>
                <p:nvPr/>
              </p:nvSpPr>
              <p:spPr>
                <a:xfrm>
                  <a:off x="0" y="0"/>
                  <a:ext cx="1435150" cy="158172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51" name="Legacy 9051"/>
                <p:cNvSpPr txBox="1"/>
                <p:nvPr/>
              </p:nvSpPr>
              <p:spPr>
                <a:xfrm>
                  <a:off x="91440" y="0"/>
                  <a:ext cx="1315150" cy="1581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1" i="0" lang="en" sz="900" u="none" cap="none" strike="noStrike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Elgin</a:t>
                  </a:r>
                  <a:endParaRPr b="1" i="0" sz="9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053" name="Legacy 9053"/>
              <p:cNvGrpSpPr/>
              <p:nvPr/>
            </p:nvGrpSpPr>
            <p:grpSpPr>
              <a:xfrm>
                <a:off x="1511350" y="367144"/>
                <a:ext cx="1435150" cy="158172"/>
                <a:chOff x="0" y="0"/>
                <a:chExt cx="1435150" cy="158172"/>
              </a:xfrm>
            </p:grpSpPr>
            <p:sp>
              <p:nvSpPr>
                <p:cNvPr id="9054" name="Legacy 9054"/>
                <p:cNvSpPr/>
                <p:nvPr/>
              </p:nvSpPr>
              <p:spPr>
                <a:xfrm>
                  <a:off x="0" y="0"/>
                  <a:ext cx="1435150" cy="158172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55" name="Legacy 9055"/>
                <p:cNvSpPr txBox="1"/>
                <p:nvPr/>
              </p:nvSpPr>
              <p:spPr>
                <a:xfrm>
                  <a:off x="91440" y="0"/>
                  <a:ext cx="1315150" cy="1581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1" i="0" lang="en" sz="900" u="none" cap="none" strike="noStrike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Fox Lake</a:t>
                  </a:r>
                  <a:endParaRPr b="1" i="0" sz="9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057" name="Legacy 9057"/>
              <p:cNvGrpSpPr/>
              <p:nvPr/>
            </p:nvGrpSpPr>
            <p:grpSpPr>
              <a:xfrm>
                <a:off x="1511350" y="550716"/>
                <a:ext cx="1435150" cy="158172"/>
                <a:chOff x="0" y="0"/>
                <a:chExt cx="1435150" cy="158172"/>
              </a:xfrm>
            </p:grpSpPr>
            <p:sp>
              <p:nvSpPr>
                <p:cNvPr id="9058" name="Legacy 9058"/>
                <p:cNvSpPr/>
                <p:nvPr/>
              </p:nvSpPr>
              <p:spPr>
                <a:xfrm>
                  <a:off x="0" y="0"/>
                  <a:ext cx="1435150" cy="158172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59" name="Legacy 9059"/>
                <p:cNvSpPr txBox="1"/>
                <p:nvPr/>
              </p:nvSpPr>
              <p:spPr>
                <a:xfrm>
                  <a:off x="91440" y="0"/>
                  <a:ext cx="1315150" cy="1581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1" i="0" lang="en" sz="900" u="none" cap="none" strike="noStrike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Geneva</a:t>
                  </a:r>
                  <a:endParaRPr b="1" i="0" sz="9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061" name="Legacy 9061"/>
              <p:cNvGrpSpPr/>
              <p:nvPr/>
            </p:nvGrpSpPr>
            <p:grpSpPr>
              <a:xfrm>
                <a:off x="1511350" y="734288"/>
                <a:ext cx="1435150" cy="158172"/>
                <a:chOff x="0" y="0"/>
                <a:chExt cx="1435150" cy="158172"/>
              </a:xfrm>
            </p:grpSpPr>
            <p:sp>
              <p:nvSpPr>
                <p:cNvPr id="9062" name="Legacy 9062"/>
                <p:cNvSpPr/>
                <p:nvPr/>
              </p:nvSpPr>
              <p:spPr>
                <a:xfrm>
                  <a:off x="0" y="0"/>
                  <a:ext cx="1435150" cy="158172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63" name="Legacy 9063"/>
                <p:cNvSpPr txBox="1"/>
                <p:nvPr/>
              </p:nvSpPr>
              <p:spPr>
                <a:xfrm>
                  <a:off x="91440" y="0"/>
                  <a:ext cx="1315150" cy="1581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1" i="0" lang="en" sz="900" u="none" cap="none" strike="noStrike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Lake in the Hills</a:t>
                  </a:r>
                  <a:endParaRPr b="1" i="0" sz="9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065" name="Legacy 9065"/>
              <p:cNvGrpSpPr/>
              <p:nvPr/>
            </p:nvGrpSpPr>
            <p:grpSpPr>
              <a:xfrm>
                <a:off x="1511350" y="917860"/>
                <a:ext cx="1435150" cy="158172"/>
                <a:chOff x="0" y="0"/>
                <a:chExt cx="1435150" cy="158172"/>
              </a:xfrm>
            </p:grpSpPr>
            <p:sp>
              <p:nvSpPr>
                <p:cNvPr id="9066" name="Legacy 9066"/>
                <p:cNvSpPr/>
                <p:nvPr/>
              </p:nvSpPr>
              <p:spPr>
                <a:xfrm>
                  <a:off x="0" y="0"/>
                  <a:ext cx="1435150" cy="158172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67" name="Legacy 9067"/>
                <p:cNvSpPr txBox="1"/>
                <p:nvPr/>
              </p:nvSpPr>
              <p:spPr>
                <a:xfrm>
                  <a:off x="91440" y="0"/>
                  <a:ext cx="1315150" cy="1581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1" i="0" lang="en" sz="900" u="none" cap="none" strike="noStrike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McHenry</a:t>
                  </a:r>
                  <a:endParaRPr b="1" i="0" sz="9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069" name="Legacy 9069"/>
              <p:cNvGrpSpPr/>
              <p:nvPr/>
            </p:nvGrpSpPr>
            <p:grpSpPr>
              <a:xfrm>
                <a:off x="1511350" y="1101432"/>
                <a:ext cx="1435150" cy="158172"/>
                <a:chOff x="0" y="0"/>
                <a:chExt cx="1435150" cy="158172"/>
              </a:xfrm>
            </p:grpSpPr>
            <p:sp>
              <p:nvSpPr>
                <p:cNvPr id="9070" name="Legacy 9070"/>
                <p:cNvSpPr/>
                <p:nvPr/>
              </p:nvSpPr>
              <p:spPr>
                <a:xfrm>
                  <a:off x="0" y="0"/>
                  <a:ext cx="1435150" cy="158172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71" name="Legacy 9071"/>
                <p:cNvSpPr txBox="1"/>
                <p:nvPr/>
              </p:nvSpPr>
              <p:spPr>
                <a:xfrm>
                  <a:off x="91440" y="0"/>
                  <a:ext cx="1315150" cy="1581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1" i="0" lang="en" sz="900" u="none" cap="none" strike="noStrike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Mundelein</a:t>
                  </a:r>
                  <a:endParaRPr b="1" i="0" sz="9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073" name="Legacy 9073"/>
              <p:cNvGrpSpPr/>
              <p:nvPr/>
            </p:nvGrpSpPr>
            <p:grpSpPr>
              <a:xfrm>
                <a:off x="1511350" y="1285004"/>
                <a:ext cx="1435150" cy="158172"/>
                <a:chOff x="0" y="0"/>
                <a:chExt cx="1435150" cy="158172"/>
              </a:xfrm>
            </p:grpSpPr>
            <p:sp>
              <p:nvSpPr>
                <p:cNvPr id="9074" name="Legacy 9074"/>
                <p:cNvSpPr/>
                <p:nvPr/>
              </p:nvSpPr>
              <p:spPr>
                <a:xfrm>
                  <a:off x="0" y="0"/>
                  <a:ext cx="1435150" cy="158172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75" name="Legacy 9075"/>
                <p:cNvSpPr txBox="1"/>
                <p:nvPr/>
              </p:nvSpPr>
              <p:spPr>
                <a:xfrm>
                  <a:off x="91440" y="0"/>
                  <a:ext cx="1315150" cy="1581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1" i="0" lang="en" sz="900" u="none" cap="none" strike="noStrike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Niles</a:t>
                  </a:r>
                  <a:endParaRPr b="1" i="0" sz="9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077" name="Legacy 9077"/>
              <p:cNvGrpSpPr/>
              <p:nvPr/>
            </p:nvGrpSpPr>
            <p:grpSpPr>
              <a:xfrm>
                <a:off x="1511350" y="1468576"/>
                <a:ext cx="1435150" cy="158172"/>
                <a:chOff x="0" y="0"/>
                <a:chExt cx="1435150" cy="158172"/>
              </a:xfrm>
            </p:grpSpPr>
            <p:sp>
              <p:nvSpPr>
                <p:cNvPr id="9078" name="Legacy 9078"/>
                <p:cNvSpPr/>
                <p:nvPr/>
              </p:nvSpPr>
              <p:spPr>
                <a:xfrm>
                  <a:off x="0" y="0"/>
                  <a:ext cx="1435150" cy="158172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79" name="Legacy 9079"/>
                <p:cNvSpPr txBox="1"/>
                <p:nvPr/>
              </p:nvSpPr>
              <p:spPr>
                <a:xfrm>
                  <a:off x="91440" y="0"/>
                  <a:ext cx="1315150" cy="1581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1" i="0" lang="en" sz="900" u="none" cap="none" strike="noStrike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North Aurora</a:t>
                  </a:r>
                  <a:endParaRPr b="1" i="0" sz="9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081" name="Legacy 9081"/>
              <p:cNvGrpSpPr/>
              <p:nvPr/>
            </p:nvGrpSpPr>
            <p:grpSpPr>
              <a:xfrm>
                <a:off x="1511350" y="1652148"/>
                <a:ext cx="1435150" cy="158172"/>
                <a:chOff x="0" y="0"/>
                <a:chExt cx="1435150" cy="158172"/>
              </a:xfrm>
            </p:grpSpPr>
            <p:sp>
              <p:nvSpPr>
                <p:cNvPr id="9082" name="Legacy 9082"/>
                <p:cNvSpPr/>
                <p:nvPr/>
              </p:nvSpPr>
              <p:spPr>
                <a:xfrm>
                  <a:off x="0" y="0"/>
                  <a:ext cx="1435150" cy="158172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83" name="Legacy 9083"/>
                <p:cNvSpPr txBox="1"/>
                <p:nvPr/>
              </p:nvSpPr>
              <p:spPr>
                <a:xfrm>
                  <a:off x="91440" y="0"/>
                  <a:ext cx="1315150" cy="1581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1" i="0" lang="en" sz="900" u="none" cap="none" strike="noStrike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Palatine</a:t>
                  </a:r>
                  <a:endParaRPr b="1" i="0" sz="9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085" name="Legacy 9085"/>
              <p:cNvGrpSpPr/>
              <p:nvPr/>
            </p:nvGrpSpPr>
            <p:grpSpPr>
              <a:xfrm>
                <a:off x="1511350" y="1835720"/>
                <a:ext cx="1435150" cy="158172"/>
                <a:chOff x="0" y="0"/>
                <a:chExt cx="1435150" cy="158172"/>
              </a:xfrm>
            </p:grpSpPr>
            <p:sp>
              <p:nvSpPr>
                <p:cNvPr id="9086" name="Legacy 9086"/>
                <p:cNvSpPr/>
                <p:nvPr/>
              </p:nvSpPr>
              <p:spPr>
                <a:xfrm>
                  <a:off x="0" y="0"/>
                  <a:ext cx="1435150" cy="158172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87" name="Legacy 9087"/>
                <p:cNvSpPr txBox="1"/>
                <p:nvPr/>
              </p:nvSpPr>
              <p:spPr>
                <a:xfrm>
                  <a:off x="91440" y="0"/>
                  <a:ext cx="1315150" cy="1581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1" i="0" lang="en" sz="900" u="none" cap="none" strike="noStrike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Richmond</a:t>
                  </a:r>
                  <a:endParaRPr b="1" i="0" sz="9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089" name="Legacy 9089"/>
              <p:cNvGrpSpPr/>
              <p:nvPr/>
            </p:nvGrpSpPr>
            <p:grpSpPr>
              <a:xfrm>
                <a:off x="3022700" y="0"/>
                <a:ext cx="1435150" cy="158172"/>
                <a:chOff x="0" y="0"/>
                <a:chExt cx="1435150" cy="158172"/>
              </a:xfrm>
            </p:grpSpPr>
            <p:sp>
              <p:nvSpPr>
                <p:cNvPr id="9090" name="Legacy 9090"/>
                <p:cNvSpPr/>
                <p:nvPr/>
              </p:nvSpPr>
              <p:spPr>
                <a:xfrm>
                  <a:off x="0" y="0"/>
                  <a:ext cx="1435150" cy="158172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91" name="Legacy 9091"/>
                <p:cNvSpPr txBox="1"/>
                <p:nvPr/>
              </p:nvSpPr>
              <p:spPr>
                <a:xfrm>
                  <a:off x="91440" y="0"/>
                  <a:ext cx="1315150" cy="1581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1" i="0" lang="en" sz="900" u="none" cap="none" strike="noStrike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Rolling Meadows</a:t>
                  </a:r>
                  <a:endParaRPr b="1" i="0" sz="9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093" name="Legacy 9093"/>
              <p:cNvGrpSpPr/>
              <p:nvPr/>
            </p:nvGrpSpPr>
            <p:grpSpPr>
              <a:xfrm>
                <a:off x="3022700" y="183572"/>
                <a:ext cx="1435150" cy="158172"/>
                <a:chOff x="0" y="0"/>
                <a:chExt cx="1435150" cy="158172"/>
              </a:xfrm>
            </p:grpSpPr>
            <p:sp>
              <p:nvSpPr>
                <p:cNvPr id="9094" name="Legacy 9094"/>
                <p:cNvSpPr/>
                <p:nvPr/>
              </p:nvSpPr>
              <p:spPr>
                <a:xfrm>
                  <a:off x="0" y="0"/>
                  <a:ext cx="1435150" cy="158172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95" name="Legacy 9095"/>
                <p:cNvSpPr txBox="1"/>
                <p:nvPr/>
              </p:nvSpPr>
              <p:spPr>
                <a:xfrm>
                  <a:off x="91440" y="0"/>
                  <a:ext cx="1315150" cy="1581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1" i="0" lang="en" sz="900" u="none" cap="none" strike="noStrike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Roselle</a:t>
                  </a:r>
                  <a:endParaRPr b="1" i="0" sz="9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097" name="Legacy 9097"/>
              <p:cNvGrpSpPr/>
              <p:nvPr/>
            </p:nvGrpSpPr>
            <p:grpSpPr>
              <a:xfrm>
                <a:off x="3022700" y="367144"/>
                <a:ext cx="1435150" cy="158172"/>
                <a:chOff x="0" y="0"/>
                <a:chExt cx="1435150" cy="158172"/>
              </a:xfrm>
            </p:grpSpPr>
            <p:sp>
              <p:nvSpPr>
                <p:cNvPr id="9098" name="Legacy 9098"/>
                <p:cNvSpPr/>
                <p:nvPr/>
              </p:nvSpPr>
              <p:spPr>
                <a:xfrm>
                  <a:off x="0" y="0"/>
                  <a:ext cx="1435150" cy="158172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99" name="Legacy 9099"/>
                <p:cNvSpPr txBox="1"/>
                <p:nvPr/>
              </p:nvSpPr>
              <p:spPr>
                <a:xfrm>
                  <a:off x="91440" y="0"/>
                  <a:ext cx="1315150" cy="1581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1" i="0" lang="en" sz="900" u="none" cap="none" strike="noStrike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Schaumburg</a:t>
                  </a:r>
                  <a:endParaRPr b="1" i="0" sz="9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101" name="Legacy 9101"/>
              <p:cNvGrpSpPr/>
              <p:nvPr/>
            </p:nvGrpSpPr>
            <p:grpSpPr>
              <a:xfrm>
                <a:off x="3022700" y="550716"/>
                <a:ext cx="1435150" cy="158172"/>
                <a:chOff x="0" y="0"/>
                <a:chExt cx="1435150" cy="158172"/>
              </a:xfrm>
            </p:grpSpPr>
            <p:sp>
              <p:nvSpPr>
                <p:cNvPr id="9102" name="Legacy 9102"/>
                <p:cNvSpPr/>
                <p:nvPr/>
              </p:nvSpPr>
              <p:spPr>
                <a:xfrm>
                  <a:off x="0" y="0"/>
                  <a:ext cx="1435150" cy="158172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03" name="Legacy 9103"/>
                <p:cNvSpPr txBox="1"/>
                <p:nvPr/>
              </p:nvSpPr>
              <p:spPr>
                <a:xfrm>
                  <a:off x="91440" y="0"/>
                  <a:ext cx="1315150" cy="1581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1" i="0" lang="en" sz="900" u="none" cap="none" strike="noStrike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South Elgin</a:t>
                  </a:r>
                  <a:endParaRPr b="1" i="0" sz="9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105" name="Legacy 9105"/>
              <p:cNvGrpSpPr/>
              <p:nvPr/>
            </p:nvGrpSpPr>
            <p:grpSpPr>
              <a:xfrm>
                <a:off x="3022700" y="734288"/>
                <a:ext cx="1435150" cy="158172"/>
                <a:chOff x="0" y="0"/>
                <a:chExt cx="1435150" cy="158172"/>
              </a:xfrm>
            </p:grpSpPr>
            <p:sp>
              <p:nvSpPr>
                <p:cNvPr id="9106" name="Legacy 9106"/>
                <p:cNvSpPr/>
                <p:nvPr/>
              </p:nvSpPr>
              <p:spPr>
                <a:xfrm>
                  <a:off x="0" y="0"/>
                  <a:ext cx="1435150" cy="158172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07" name="Legacy 9107"/>
                <p:cNvSpPr txBox="1"/>
                <p:nvPr/>
              </p:nvSpPr>
              <p:spPr>
                <a:xfrm>
                  <a:off x="91440" y="0"/>
                  <a:ext cx="1315150" cy="1581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1" i="0" lang="en" sz="900" u="none" cap="none" strike="noStrike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St. Charles</a:t>
                  </a:r>
                  <a:endParaRPr b="1" i="0" sz="9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109" name="Legacy 9109"/>
              <p:cNvGrpSpPr/>
              <p:nvPr/>
            </p:nvGrpSpPr>
            <p:grpSpPr>
              <a:xfrm>
                <a:off x="3022700" y="917860"/>
                <a:ext cx="1435150" cy="158172"/>
                <a:chOff x="0" y="0"/>
                <a:chExt cx="1435150" cy="158172"/>
              </a:xfrm>
            </p:grpSpPr>
            <p:sp>
              <p:nvSpPr>
                <p:cNvPr id="9110" name="Legacy 9110"/>
                <p:cNvSpPr/>
                <p:nvPr/>
              </p:nvSpPr>
              <p:spPr>
                <a:xfrm>
                  <a:off x="0" y="0"/>
                  <a:ext cx="1435150" cy="158172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11" name="Legacy 9111"/>
                <p:cNvSpPr txBox="1"/>
                <p:nvPr/>
              </p:nvSpPr>
              <p:spPr>
                <a:xfrm>
                  <a:off x="91440" y="0"/>
                  <a:ext cx="1315150" cy="1581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1" i="0" lang="en" sz="900" u="none" cap="none" strike="noStrike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Warrenville</a:t>
                  </a:r>
                  <a:endParaRPr b="1" i="0" sz="9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113" name="Legacy 9113"/>
              <p:cNvGrpSpPr/>
              <p:nvPr/>
            </p:nvGrpSpPr>
            <p:grpSpPr>
              <a:xfrm>
                <a:off x="3022700" y="1101432"/>
                <a:ext cx="1435150" cy="158172"/>
                <a:chOff x="0" y="0"/>
                <a:chExt cx="1435150" cy="158172"/>
              </a:xfrm>
            </p:grpSpPr>
            <p:sp>
              <p:nvSpPr>
                <p:cNvPr id="9114" name="Legacy 9114"/>
                <p:cNvSpPr/>
                <p:nvPr/>
              </p:nvSpPr>
              <p:spPr>
                <a:xfrm>
                  <a:off x="0" y="0"/>
                  <a:ext cx="1435150" cy="158172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15" name="Legacy 9115"/>
                <p:cNvSpPr txBox="1"/>
                <p:nvPr/>
              </p:nvSpPr>
              <p:spPr>
                <a:xfrm>
                  <a:off x="91440" y="0"/>
                  <a:ext cx="1315150" cy="1581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1" i="0" lang="en" sz="900" u="none" cap="none" strike="noStrike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Wauconda</a:t>
                  </a:r>
                  <a:endParaRPr b="1" i="0" sz="9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117" name="Legacy 9117"/>
              <p:cNvGrpSpPr/>
              <p:nvPr/>
            </p:nvGrpSpPr>
            <p:grpSpPr>
              <a:xfrm>
                <a:off x="3022700" y="1285004"/>
                <a:ext cx="1435150" cy="158172"/>
                <a:chOff x="0" y="0"/>
                <a:chExt cx="1435150" cy="158172"/>
              </a:xfrm>
            </p:grpSpPr>
            <p:sp>
              <p:nvSpPr>
                <p:cNvPr id="9118" name="Legacy 9118"/>
                <p:cNvSpPr/>
                <p:nvPr/>
              </p:nvSpPr>
              <p:spPr>
                <a:xfrm>
                  <a:off x="0" y="0"/>
                  <a:ext cx="1435150" cy="158172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19" name="Legacy 9119"/>
                <p:cNvSpPr txBox="1"/>
                <p:nvPr/>
              </p:nvSpPr>
              <p:spPr>
                <a:xfrm>
                  <a:off x="91440" y="0"/>
                  <a:ext cx="1315150" cy="1581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1" i="0" lang="en" sz="900" u="none" cap="none" strike="noStrike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West Chicago</a:t>
                  </a:r>
                  <a:endParaRPr b="1" i="0" sz="9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121" name="Legacy 9121"/>
              <p:cNvGrpSpPr/>
              <p:nvPr/>
            </p:nvGrpSpPr>
            <p:grpSpPr>
              <a:xfrm>
                <a:off x="3022700" y="1468576"/>
                <a:ext cx="1435150" cy="158172"/>
                <a:chOff x="0" y="0"/>
                <a:chExt cx="1435150" cy="158172"/>
              </a:xfrm>
            </p:grpSpPr>
            <p:sp>
              <p:nvSpPr>
                <p:cNvPr id="9122" name="Legacy 9122"/>
                <p:cNvSpPr/>
                <p:nvPr/>
              </p:nvSpPr>
              <p:spPr>
                <a:xfrm>
                  <a:off x="0" y="0"/>
                  <a:ext cx="1435150" cy="158172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23" name="Legacy 9123"/>
                <p:cNvSpPr txBox="1"/>
                <p:nvPr/>
              </p:nvSpPr>
              <p:spPr>
                <a:xfrm>
                  <a:off x="91440" y="0"/>
                  <a:ext cx="1315150" cy="1581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1" i="0" lang="en" sz="900" u="none" cap="none" strike="noStrike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Wheaton</a:t>
                  </a:r>
                  <a:endParaRPr b="1" i="0" sz="9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125" name="Legacy 9125"/>
              <p:cNvGrpSpPr/>
              <p:nvPr/>
            </p:nvGrpSpPr>
            <p:grpSpPr>
              <a:xfrm>
                <a:off x="3022700" y="1652148"/>
                <a:ext cx="1435150" cy="158172"/>
                <a:chOff x="0" y="0"/>
                <a:chExt cx="1435150" cy="158172"/>
              </a:xfrm>
            </p:grpSpPr>
            <p:sp>
              <p:nvSpPr>
                <p:cNvPr id="9126" name="Legacy 9126"/>
                <p:cNvSpPr/>
                <p:nvPr/>
              </p:nvSpPr>
              <p:spPr>
                <a:xfrm>
                  <a:off x="0" y="0"/>
                  <a:ext cx="1435150" cy="158172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27" name="Legacy 9127"/>
                <p:cNvSpPr txBox="1"/>
                <p:nvPr/>
              </p:nvSpPr>
              <p:spPr>
                <a:xfrm>
                  <a:off x="91440" y="0"/>
                  <a:ext cx="1315150" cy="1581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1" i="0" lang="en" sz="900" u="none" cap="none" strike="noStrike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Winfield</a:t>
                  </a:r>
                  <a:endParaRPr b="1" i="0" sz="9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129" name="Legacy 9129"/>
              <p:cNvGrpSpPr/>
              <p:nvPr/>
            </p:nvGrpSpPr>
            <p:grpSpPr>
              <a:xfrm>
                <a:off x="3022700" y="1835720"/>
                <a:ext cx="1435150" cy="158172"/>
                <a:chOff x="0" y="0"/>
                <a:chExt cx="1435150" cy="158172"/>
              </a:xfrm>
            </p:grpSpPr>
            <p:sp>
              <p:nvSpPr>
                <p:cNvPr id="9130" name="Legacy 9130"/>
                <p:cNvSpPr/>
                <p:nvPr/>
              </p:nvSpPr>
              <p:spPr>
                <a:xfrm>
                  <a:off x="0" y="0"/>
                  <a:ext cx="1435150" cy="158172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31" name="Legacy 9131"/>
                <p:cNvSpPr txBox="1"/>
                <p:nvPr/>
              </p:nvSpPr>
              <p:spPr>
                <a:xfrm>
                  <a:off x="91440" y="0"/>
                  <a:ext cx="1315150" cy="1581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1" i="0" lang="en" sz="900" u="none" cap="none" strike="noStrike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Woodstock</a:t>
                  </a:r>
                  <a:endParaRPr b="1" i="0" sz="9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529" name="Google Shape;529;p27"/>
          <p:cNvGrpSpPr/>
          <p:nvPr/>
        </p:nvGrpSpPr>
        <p:grpSpPr>
          <a:xfrm>
            <a:off x="5524500" y="1543050"/>
            <a:ext cx="3067200" cy="2381400"/>
            <a:chOff x="0" y="0"/>
            <a:chExt cx="3067200" cy="2381400"/>
          </a:xfrm>
        </p:grpSpPr>
        <p:grpSp>
          <p:nvGrpSpPr>
            <p:cNvPr id="530" name="Google Shape;530;p27"/>
            <p:cNvGrpSpPr/>
            <p:nvPr/>
          </p:nvGrpSpPr>
          <p:grpSpPr>
            <a:xfrm>
              <a:off x="0" y="0"/>
              <a:ext cx="3067200" cy="705000"/>
              <a:chOff x="0" y="0"/>
              <a:chExt cx="3067200" cy="705000"/>
            </a:xfrm>
          </p:grpSpPr>
          <p:sp>
            <p:nvSpPr>
              <p:cNvPr id="531" name="Google Shape;531;p27"/>
              <p:cNvSpPr/>
              <p:nvPr/>
            </p:nvSpPr>
            <p:spPr>
              <a:xfrm>
                <a:off x="0" y="0"/>
                <a:ext cx="3067200" cy="705000"/>
              </a:xfrm>
              <a:prstGeom prst="roundRect">
                <a:avLst>
                  <a:gd fmla="val 8108" name="adj"/>
                </a:avLst>
              </a:prstGeom>
              <a:solidFill>
                <a:srgbClr val="00331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27"/>
              <p:cNvSpPr txBox="1"/>
              <p:nvPr/>
            </p:nvSpPr>
            <p:spPr>
              <a:xfrm>
                <a:off x="152400" y="76200"/>
                <a:ext cx="27624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38"/>
                  <a:buFont typeface="Arial"/>
                  <a:buNone/>
                </a:pPr>
                <a:r>
                  <a:rPr b="1" i="0" lang="en" sz="638" u="none" cap="none" strike="noStrike">
                    <a:solidFill>
                      <a:srgbClr val="A7C142"/>
                    </a:solidFill>
                    <a:latin typeface="Arial"/>
                    <a:ea typeface="Arial"/>
                    <a:cs typeface="Arial"/>
                    <a:sym typeface="Arial"/>
                  </a:rPr>
                  <a:t>COMMUNITIES TARGETED</a:t>
                </a:r>
                <a:endParaRPr b="1" i="0" sz="638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150"/>
                  </a:spcBef>
                  <a:spcAft>
                    <a:spcPts val="0"/>
                  </a:spcAft>
                  <a:buClr>
                    <a:srgbClr val="000000"/>
                  </a:buClr>
                  <a:buSzPts val="1870"/>
                  <a:buFont typeface="Arial"/>
                  <a:buNone/>
                </a:pPr>
                <a:r>
                  <a:rPr b="1" i="0" lang="en" sz="187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33</a:t>
                </a:r>
                <a:endParaRPr b="1" i="0" sz="187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150"/>
                  </a:spcBef>
                  <a:spcAft>
                    <a:spcPts val="0"/>
                  </a:spcAft>
                  <a:buClr>
                    <a:srgbClr val="000000"/>
                  </a:buClr>
                  <a:buSzPts val="723"/>
                  <a:buFont typeface="Arial"/>
                  <a:buNone/>
                </a:pPr>
                <a:r>
                  <a:rPr b="0" i="0" lang="en" sz="723" u="none" cap="none" strike="noStrike">
                    <a:solidFill>
                      <a:srgbClr val="A7C142"/>
                    </a:solidFill>
                    <a:latin typeface="Arial"/>
                    <a:ea typeface="Arial"/>
                    <a:cs typeface="Arial"/>
                    <a:sym typeface="Arial"/>
                  </a:rPr>
                  <a:t>Named city-level geo targets</a:t>
                </a:r>
                <a:endParaRPr b="0" i="0" sz="723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33" name="Google Shape;533;p27"/>
            <p:cNvGrpSpPr/>
            <p:nvPr/>
          </p:nvGrpSpPr>
          <p:grpSpPr>
            <a:xfrm>
              <a:off x="0" y="819150"/>
              <a:ext cx="3067200" cy="705000"/>
              <a:chOff x="0" y="0"/>
              <a:chExt cx="3067200" cy="705000"/>
            </a:xfrm>
          </p:grpSpPr>
          <p:sp>
            <p:nvSpPr>
              <p:cNvPr id="534" name="Google Shape;534;p27"/>
              <p:cNvSpPr/>
              <p:nvPr/>
            </p:nvSpPr>
            <p:spPr>
              <a:xfrm>
                <a:off x="0" y="0"/>
                <a:ext cx="3067200" cy="705000"/>
              </a:xfrm>
              <a:prstGeom prst="roundRect">
                <a:avLst>
                  <a:gd fmla="val 810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A7C1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27"/>
              <p:cNvSpPr txBox="1"/>
              <p:nvPr/>
            </p:nvSpPr>
            <p:spPr>
              <a:xfrm>
                <a:off x="152400" y="76200"/>
                <a:ext cx="27624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94"/>
                  <a:buFont typeface="Arial"/>
                  <a:buNone/>
                </a:pPr>
                <a:r>
                  <a:rPr b="1" i="0" lang="en" sz="694" u="none" cap="none" strike="noStrike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DEVICE SCOPE</a:t>
                </a:r>
                <a:endParaRPr b="1" i="0" sz="694" u="none" cap="none" strike="noStrike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150"/>
                  </a:spcBef>
                  <a:spcAft>
                    <a:spcPts val="0"/>
                  </a:spcAft>
                  <a:buClr>
                    <a:srgbClr val="000000"/>
                  </a:buClr>
                  <a:buSzPts val="1665"/>
                  <a:buFont typeface="Arial"/>
                  <a:buNone/>
                </a:pPr>
                <a:r>
                  <a:rPr b="1" i="0" lang="en" sz="1665" u="none" cap="none" strike="noStrike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Cross Device</a:t>
                </a:r>
                <a:endParaRPr b="1" i="0" sz="1665" u="none" cap="none" strike="noStrike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150"/>
                  </a:spcBef>
                  <a:spcAft>
                    <a:spcPts val="0"/>
                  </a:spcAft>
                  <a:buClr>
                    <a:srgbClr val="000000"/>
                  </a:buClr>
                  <a:buSzPts val="786"/>
                  <a:buFont typeface="Arial"/>
                  <a:buNone/>
                </a:pPr>
                <a:r>
                  <a:rPr b="0" i="0" lang="en" sz="786" u="none" cap="none" strike="noStrike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CTV-led, cross-screen</a:t>
                </a:r>
                <a:endParaRPr b="0" i="0" sz="786" u="none" cap="none" strike="noStrike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36" name="Google Shape;536;p27"/>
            <p:cNvGrpSpPr/>
            <p:nvPr/>
          </p:nvGrpSpPr>
          <p:grpSpPr>
            <a:xfrm>
              <a:off x="0" y="1638300"/>
              <a:ext cx="3067200" cy="743100"/>
              <a:chOff x="0" y="0"/>
              <a:chExt cx="3067200" cy="743100"/>
            </a:xfrm>
          </p:grpSpPr>
          <p:sp>
            <p:nvSpPr>
              <p:cNvPr id="537" name="Google Shape;537;p27"/>
              <p:cNvSpPr/>
              <p:nvPr/>
            </p:nvSpPr>
            <p:spPr>
              <a:xfrm>
                <a:off x="0" y="0"/>
                <a:ext cx="3067200" cy="743100"/>
              </a:xfrm>
              <a:prstGeom prst="roundRect">
                <a:avLst>
                  <a:gd fmla="val 7692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A7C1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27"/>
              <p:cNvSpPr txBox="1"/>
              <p:nvPr/>
            </p:nvSpPr>
            <p:spPr>
              <a:xfrm>
                <a:off x="152400" y="95250"/>
                <a:ext cx="27624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94"/>
                  <a:buFont typeface="Arial"/>
                  <a:buNone/>
                </a:pPr>
                <a:r>
                  <a:rPr b="1" i="0" lang="en" sz="694" u="none" cap="none" strike="noStrike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FLIGHT LENGTH</a:t>
                </a:r>
                <a:endParaRPr b="1" i="0" sz="694" u="none" cap="none" strike="noStrike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150"/>
                  </a:spcBef>
                  <a:spcAft>
                    <a:spcPts val="0"/>
                  </a:spcAft>
                  <a:buClr>
                    <a:srgbClr val="000000"/>
                  </a:buClr>
                  <a:buSzPts val="1665"/>
                  <a:buFont typeface="Arial"/>
                  <a:buNone/>
                </a:pPr>
                <a:r>
                  <a:rPr b="1" i="0" lang="en" sz="1665" u="none" cap="none" strike="noStrike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30 Days</a:t>
                </a:r>
                <a:endParaRPr b="1" i="0" sz="1665" u="none" cap="none" strike="noStrike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150"/>
                  </a:spcBef>
                  <a:spcAft>
                    <a:spcPts val="0"/>
                  </a:spcAft>
                  <a:buClr>
                    <a:srgbClr val="000000"/>
                  </a:buClr>
                  <a:buSzPts val="786"/>
                  <a:buFont typeface="Arial"/>
                  <a:buNone/>
                </a:pPr>
                <a:r>
                  <a:rPr lang="en" sz="786">
                    <a:solidFill>
                      <a:srgbClr val="777777"/>
                    </a:solidFill>
                  </a:rPr>
                  <a:t>October </a:t>
                </a:r>
                <a:r>
                  <a:rPr b="0" i="0" lang="en" sz="786" u="none" cap="none" strike="noStrike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2026</a:t>
                </a:r>
                <a:endParaRPr b="0" i="0" sz="786" u="none" cap="none" strike="noStrike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39" name="Google Shape;539;p27"/>
          <p:cNvGrpSpPr/>
          <p:nvPr/>
        </p:nvGrpSpPr>
        <p:grpSpPr>
          <a:xfrm>
            <a:off x="552450" y="4038600"/>
            <a:ext cx="8039100" cy="533400"/>
            <a:chOff x="0" y="0"/>
            <a:chExt cx="8039100" cy="533400"/>
          </a:xfrm>
        </p:grpSpPr>
        <p:sp>
          <p:nvSpPr>
            <p:cNvPr id="540" name="Google Shape;540;p27"/>
            <p:cNvSpPr/>
            <p:nvPr/>
          </p:nvSpPr>
          <p:spPr>
            <a:xfrm>
              <a:off x="0" y="0"/>
              <a:ext cx="8039100" cy="533400"/>
            </a:xfrm>
            <a:prstGeom prst="roundRect">
              <a:avLst>
                <a:gd fmla="val 10714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27"/>
            <p:cNvSpPr txBox="1"/>
            <p:nvPr/>
          </p:nvSpPr>
          <p:spPr>
            <a:xfrm>
              <a:off x="152400" y="57150"/>
              <a:ext cx="77343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" sz="750" u="none" cap="none" strike="noStrike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rPr>
                <a:t>WHY THIS MATTERS</a:t>
              </a:r>
              <a:endParaRPr b="1" i="0" sz="750" u="none" cap="none" strike="noStrike">
                <a:solidFill>
                  <a:srgbClr val="00331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0" i="0" lang="en" sz="850" u="none" cap="none" strike="noStrike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rPr>
                <a:t>A Chicago DMA broadcast buy scatters impressions across the third-largest market in the country, most of them in front of households Legacy cannot profitably serve. City-level CTV targeting spends the same dollars only where the trucks already run.</a:t>
              </a:r>
              <a:endParaRPr b="0" i="0" sz="850" u="none" cap="none" strike="noStrike">
                <a:solidFill>
                  <a:srgbClr val="00331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2" name="Google Shape;542;p27"/>
          <p:cNvGrpSpPr/>
          <p:nvPr/>
        </p:nvGrpSpPr>
        <p:grpSpPr>
          <a:xfrm>
            <a:off x="552450" y="4714875"/>
            <a:ext cx="8039250" cy="190500"/>
            <a:chOff x="0" y="0"/>
            <a:chExt cx="8039250" cy="190500"/>
          </a:xfrm>
        </p:grpSpPr>
        <p:sp>
          <p:nvSpPr>
            <p:cNvPr id="543" name="Google Shape;543;p27"/>
            <p:cNvSpPr txBox="1"/>
            <p:nvPr/>
          </p:nvSpPr>
          <p:spPr>
            <a:xfrm>
              <a:off x="0" y="0"/>
              <a:ext cx="571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0" i="0" lang="en" sz="750" u="none" cap="none" strike="noStrike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CAMP Digital · Premium Streaming Media Plan · Legacy Home Services · </a:t>
              </a:r>
              <a:r>
                <a:rPr lang="en" sz="750">
                  <a:solidFill>
                    <a:srgbClr val="999999"/>
                  </a:solidFill>
                </a:rPr>
                <a:t>October </a:t>
              </a:r>
              <a:r>
                <a:rPr b="0" i="0" lang="en" sz="750" u="none" cap="none" strike="noStrike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2026</a:t>
              </a:r>
              <a:endParaRPr b="0" i="0" sz="75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27"/>
            <p:cNvSpPr txBox="1"/>
            <p:nvPr/>
          </p:nvSpPr>
          <p:spPr>
            <a:xfrm>
              <a:off x="7753350" y="0"/>
              <a:ext cx="285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0" i="0" lang="en" sz="750" u="none" cap="none" strike="noStrike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endParaRPr b="0" i="0" sz="75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9" name="Google Shape;549;p28"/>
          <p:cNvGrpSpPr/>
          <p:nvPr/>
        </p:nvGrpSpPr>
        <p:grpSpPr>
          <a:xfrm>
            <a:off x="552450" y="333375"/>
            <a:ext cx="8039100" cy="781050"/>
            <a:chOff x="0" y="0"/>
            <a:chExt cx="8039100" cy="781050"/>
          </a:xfrm>
        </p:grpSpPr>
        <p:sp>
          <p:nvSpPr>
            <p:cNvPr id="550" name="Google Shape;550;p28"/>
            <p:cNvSpPr/>
            <p:nvPr/>
          </p:nvSpPr>
          <p:spPr>
            <a:xfrm>
              <a:off x="0" y="0"/>
              <a:ext cx="1000200" cy="171600"/>
            </a:xfrm>
            <a:prstGeom prst="roundRect">
              <a:avLst>
                <a:gd fmla="val 22222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28"/>
            <p:cNvSpPr txBox="1"/>
            <p:nvPr/>
          </p:nvSpPr>
          <p:spPr>
            <a:xfrm>
              <a:off x="0" y="0"/>
              <a:ext cx="10002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" sz="7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THE PROPOSAL</a:t>
              </a:r>
              <a:endParaRPr b="1" i="0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28"/>
            <p:cNvSpPr txBox="1"/>
            <p:nvPr/>
          </p:nvSpPr>
          <p:spPr>
            <a:xfrm>
              <a:off x="0" y="228600"/>
              <a:ext cx="80391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20"/>
                <a:buFont typeface="Arial"/>
                <a:buNone/>
              </a:pPr>
              <a:r>
                <a:rPr b="1" i="0" lang="en" sz="2220" u="none" cap="none" strike="noStrike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The Legacy Home Services Premium Streaming Plan</a:t>
              </a:r>
              <a:endParaRPr b="1" i="0" sz="222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28"/>
            <p:cNvSpPr txBox="1"/>
            <p:nvPr/>
          </p:nvSpPr>
          <p:spPr>
            <a:xfrm>
              <a:off x="0" y="590550"/>
              <a:ext cx="8039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rPr>
                <a:t>One campaign, one in-market ad group, plus two added-value components included at no cost.</a:t>
              </a:r>
              <a:endParaRPr b="0" i="0" sz="10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4" name="Google Shape;554;p28"/>
          <p:cNvGrpSpPr/>
          <p:nvPr/>
        </p:nvGrpSpPr>
        <p:grpSpPr>
          <a:xfrm>
            <a:off x="552450" y="1190625"/>
            <a:ext cx="8039100" cy="552600"/>
            <a:chOff x="0" y="0"/>
            <a:chExt cx="8039100" cy="552600"/>
          </a:xfrm>
        </p:grpSpPr>
        <p:sp>
          <p:nvSpPr>
            <p:cNvPr id="555" name="Google Shape;555;p28"/>
            <p:cNvSpPr/>
            <p:nvPr/>
          </p:nvSpPr>
          <p:spPr>
            <a:xfrm>
              <a:off x="0" y="0"/>
              <a:ext cx="8039100" cy="552600"/>
            </a:xfrm>
            <a:prstGeom prst="roundRect">
              <a:avLst>
                <a:gd fmla="val 10344" name="adj"/>
              </a:avLst>
            </a:prstGeom>
            <a:solidFill>
              <a:srgbClr val="0033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56" name="Google Shape;556;p28"/>
            <p:cNvGrpSpPr/>
            <p:nvPr/>
          </p:nvGrpSpPr>
          <p:grpSpPr>
            <a:xfrm>
              <a:off x="152400" y="76200"/>
              <a:ext cx="7753350" cy="400200"/>
              <a:chOff x="0" y="0"/>
              <a:chExt cx="7753350" cy="400200"/>
            </a:xfrm>
          </p:grpSpPr>
          <p:sp>
            <p:nvSpPr>
              <p:cNvPr id="557" name="Google Shape;557;p28"/>
              <p:cNvSpPr txBox="1"/>
              <p:nvPr/>
            </p:nvSpPr>
            <p:spPr>
              <a:xfrm>
                <a:off x="0" y="0"/>
                <a:ext cx="12384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95"/>
                  <a:buFont typeface="Arial"/>
                  <a:buNone/>
                </a:pPr>
                <a:r>
                  <a:rPr b="1" i="0" lang="en" sz="595" u="none" cap="none" strike="noStrike">
                    <a:solidFill>
                      <a:srgbClr val="A7C142"/>
                    </a:solidFill>
                    <a:latin typeface="Arial"/>
                    <a:ea typeface="Arial"/>
                    <a:cs typeface="Arial"/>
                    <a:sym typeface="Arial"/>
                  </a:rPr>
                  <a:t>NETWORK</a:t>
                </a:r>
                <a:endParaRPr b="1" i="0" sz="595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150"/>
                  </a:spcBef>
                  <a:spcAft>
                    <a:spcPts val="0"/>
                  </a:spcAft>
                  <a:buClr>
                    <a:srgbClr val="000000"/>
                  </a:buClr>
                  <a:buSzPts val="893"/>
                  <a:buFont typeface="Arial"/>
                  <a:buNone/>
                </a:pPr>
                <a:r>
                  <a:rPr b="1" i="0" lang="en" sz="893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Microsoft Audience Network</a:t>
                </a:r>
                <a:endParaRPr b="1" i="0" sz="893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8" name="Google Shape;558;p28"/>
              <p:cNvSpPr txBox="1"/>
              <p:nvPr/>
            </p:nvSpPr>
            <p:spPr>
              <a:xfrm>
                <a:off x="1428750" y="0"/>
                <a:ext cx="11430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1" i="0" lang="en" sz="700" u="none" cap="none" strike="noStrike">
                    <a:solidFill>
                      <a:srgbClr val="A7C142"/>
                    </a:solidFill>
                    <a:latin typeface="Arial"/>
                    <a:ea typeface="Arial"/>
                    <a:cs typeface="Arial"/>
                    <a:sym typeface="Arial"/>
                  </a:rPr>
                  <a:t>PLACEMENT</a:t>
                </a:r>
                <a:endParaRPr b="1" i="0" sz="700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15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1" i="0" lang="en" sz="105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CTV / OTT</a:t>
                </a:r>
                <a:endParaRPr b="1" i="0" sz="1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9" name="Google Shape;559;p28"/>
              <p:cNvSpPr txBox="1"/>
              <p:nvPr/>
            </p:nvSpPr>
            <p:spPr>
              <a:xfrm>
                <a:off x="2762250" y="0"/>
                <a:ext cx="9525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1" i="0" lang="en" sz="700" u="none" cap="none" strike="noStrike">
                    <a:solidFill>
                      <a:srgbClr val="A7C142"/>
                    </a:solidFill>
                    <a:latin typeface="Arial"/>
                    <a:ea typeface="Arial"/>
                    <a:cs typeface="Arial"/>
                    <a:sym typeface="Arial"/>
                  </a:rPr>
                  <a:t>AD UNITS</a:t>
                </a:r>
                <a:endParaRPr b="1" i="0" sz="700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15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1" i="0" lang="en" sz="105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:05 – :90</a:t>
                </a:r>
                <a:endParaRPr b="1" i="0" sz="1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28"/>
              <p:cNvSpPr txBox="1"/>
              <p:nvPr/>
            </p:nvSpPr>
            <p:spPr>
              <a:xfrm>
                <a:off x="3905250" y="0"/>
                <a:ext cx="9525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1" i="0" lang="en" sz="700" u="none" cap="none" strike="noStrike">
                    <a:solidFill>
                      <a:srgbClr val="A7C142"/>
                    </a:solidFill>
                    <a:latin typeface="Arial"/>
                    <a:ea typeface="Arial"/>
                    <a:cs typeface="Arial"/>
                    <a:sym typeface="Arial"/>
                  </a:rPr>
                  <a:t>FLIGHT</a:t>
                </a:r>
                <a:endParaRPr b="1" i="0" sz="700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15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1" i="0" lang="en" sz="105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30 days</a:t>
                </a:r>
                <a:endParaRPr b="1" i="0" sz="1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28"/>
              <p:cNvSpPr txBox="1"/>
              <p:nvPr/>
            </p:nvSpPr>
            <p:spPr>
              <a:xfrm>
                <a:off x="5048250" y="0"/>
                <a:ext cx="11430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1" i="0" lang="en" sz="700" u="none" cap="none" strike="noStrike">
                    <a:solidFill>
                      <a:srgbClr val="A7C142"/>
                    </a:solidFill>
                    <a:latin typeface="Arial"/>
                    <a:ea typeface="Arial"/>
                    <a:cs typeface="Arial"/>
                    <a:sym typeface="Arial"/>
                  </a:rPr>
                  <a:t>DEVICE</a:t>
                </a:r>
                <a:endParaRPr b="1" i="0" sz="700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15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1" i="0" lang="en" sz="105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Cross Device</a:t>
                </a:r>
                <a:endParaRPr b="1" i="0" sz="1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p28"/>
              <p:cNvSpPr txBox="1"/>
              <p:nvPr/>
            </p:nvSpPr>
            <p:spPr>
              <a:xfrm>
                <a:off x="6381750" y="0"/>
                <a:ext cx="13716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1" i="0" lang="en" sz="700" u="none" cap="none" strike="noStrike">
                    <a:solidFill>
                      <a:srgbClr val="A7C142"/>
                    </a:solidFill>
                    <a:latin typeface="Arial"/>
                    <a:ea typeface="Arial"/>
                    <a:cs typeface="Arial"/>
                    <a:sym typeface="Arial"/>
                  </a:rPr>
                  <a:t>PRICING</a:t>
                </a:r>
                <a:endParaRPr b="1" i="0" sz="700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15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1" i="0" lang="en" sz="105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CPCV · $0.10 est. bid</a:t>
                </a:r>
                <a:endParaRPr b="1" i="0" sz="1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63" name="Google Shape;563;p28"/>
          <p:cNvGrpSpPr/>
          <p:nvPr/>
        </p:nvGrpSpPr>
        <p:grpSpPr>
          <a:xfrm>
            <a:off x="552450" y="1857375"/>
            <a:ext cx="8039100" cy="1660000"/>
            <a:chOff x="0" y="0"/>
            <a:chExt cx="8039100" cy="1660000"/>
          </a:xfrm>
        </p:grpSpPr>
        <p:sp>
          <p:nvSpPr>
            <p:cNvPr id="564" name="Google Shape;564;p28"/>
            <p:cNvSpPr/>
            <p:nvPr/>
          </p:nvSpPr>
          <p:spPr>
            <a:xfrm>
              <a:off x="0" y="0"/>
              <a:ext cx="8039100" cy="1660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28"/>
            <p:cNvSpPr/>
            <p:nvPr/>
          </p:nvSpPr>
          <p:spPr>
            <a:xfrm>
              <a:off x="0" y="0"/>
              <a:ext cx="8039100" cy="300000"/>
            </a:xfrm>
            <a:prstGeom prst="rect">
              <a:avLst/>
            </a:prstGeom>
            <a:solidFill>
              <a:srgbClr val="0033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6" name="Google Shape;566;p28"/>
            <p:cNvCxnSpPr/>
            <p:nvPr/>
          </p:nvCxnSpPr>
          <p:spPr>
            <a:xfrm>
              <a:off x="2266950" y="0"/>
              <a:ext cx="0" cy="16600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7" name="Google Shape;567;p28"/>
            <p:cNvCxnSpPr/>
            <p:nvPr/>
          </p:nvCxnSpPr>
          <p:spPr>
            <a:xfrm>
              <a:off x="4705350" y="0"/>
              <a:ext cx="0" cy="16600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8" name="Google Shape;568;p28"/>
            <p:cNvCxnSpPr/>
            <p:nvPr/>
          </p:nvCxnSpPr>
          <p:spPr>
            <a:xfrm>
              <a:off x="5810250" y="0"/>
              <a:ext cx="0" cy="16600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9" name="Google Shape;569;p28"/>
            <p:cNvCxnSpPr/>
            <p:nvPr/>
          </p:nvCxnSpPr>
          <p:spPr>
            <a:xfrm>
              <a:off x="6915150" y="0"/>
              <a:ext cx="0" cy="16600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0" name="Google Shape;570;p28"/>
            <p:cNvCxnSpPr/>
            <p:nvPr/>
          </p:nvCxnSpPr>
          <p:spPr>
            <a:xfrm>
              <a:off x="0" y="300000"/>
              <a:ext cx="80391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1" name="Google Shape;571;p28"/>
            <p:cNvCxnSpPr/>
            <p:nvPr/>
          </p:nvCxnSpPr>
          <p:spPr>
            <a:xfrm>
              <a:off x="0" y="660000"/>
              <a:ext cx="80391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2" name="Google Shape;572;p28"/>
            <p:cNvCxnSpPr/>
            <p:nvPr/>
          </p:nvCxnSpPr>
          <p:spPr>
            <a:xfrm>
              <a:off x="0" y="1020000"/>
              <a:ext cx="80391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33" name="Legacy 9133"/>
            <p:cNvCxnSpPr/>
            <p:nvPr/>
          </p:nvCxnSpPr>
          <p:spPr>
            <a:xfrm>
              <a:off x="0" y="1380000"/>
              <a:ext cx="80391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73" name="Google Shape;573;p28"/>
            <p:cNvSpPr/>
            <p:nvPr/>
          </p:nvSpPr>
          <p:spPr>
            <a:xfrm>
              <a:off x="0" y="1380000"/>
              <a:ext cx="8039100" cy="280000"/>
            </a:xfrm>
            <a:prstGeom prst="rect">
              <a:avLst/>
            </a:prstGeom>
            <a:solidFill>
              <a:srgbClr val="EBF7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28"/>
            <p:cNvSpPr txBox="1"/>
            <p:nvPr/>
          </p:nvSpPr>
          <p:spPr>
            <a:xfrm>
              <a:off x="114300" y="0"/>
              <a:ext cx="20385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1" i="0" lang="en" sz="9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Line</a:t>
              </a:r>
              <a:endParaRPr b="1" i="0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28"/>
            <p:cNvSpPr txBox="1"/>
            <p:nvPr/>
          </p:nvSpPr>
          <p:spPr>
            <a:xfrm>
              <a:off x="2381250" y="0"/>
              <a:ext cx="22098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1" i="0" lang="en" sz="9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Targeting</a:t>
              </a:r>
              <a:endParaRPr b="1" i="0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28"/>
            <p:cNvSpPr txBox="1"/>
            <p:nvPr/>
          </p:nvSpPr>
          <p:spPr>
            <a:xfrm>
              <a:off x="4705350" y="0"/>
              <a:ext cx="9906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1" i="0" lang="en" sz="9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Est. impressions</a:t>
              </a:r>
              <a:endParaRPr b="1" i="0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28"/>
            <p:cNvSpPr txBox="1"/>
            <p:nvPr/>
          </p:nvSpPr>
          <p:spPr>
            <a:xfrm>
              <a:off x="5810250" y="0"/>
              <a:ext cx="9906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1" i="0" lang="en" sz="9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Monthly investment</a:t>
              </a:r>
              <a:endParaRPr b="1" i="0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28"/>
            <p:cNvSpPr txBox="1"/>
            <p:nvPr/>
          </p:nvSpPr>
          <p:spPr>
            <a:xfrm>
              <a:off x="6915150" y="0"/>
              <a:ext cx="10098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1" i="0" lang="en" sz="9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Implied CPM</a:t>
              </a:r>
              <a:endParaRPr b="1" i="0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79" name="Google Shape;579;p28"/>
            <p:cNvGrpSpPr/>
            <p:nvPr/>
          </p:nvGrpSpPr>
          <p:grpSpPr>
            <a:xfrm>
              <a:off x="114300" y="300000"/>
              <a:ext cx="7810650" cy="360000"/>
              <a:chOff x="114300" y="0"/>
              <a:chExt cx="7810650" cy="360000"/>
            </a:xfrm>
          </p:grpSpPr>
          <p:sp>
            <p:nvSpPr>
              <p:cNvPr id="580" name="Google Shape;580;p28"/>
              <p:cNvSpPr txBox="1"/>
              <p:nvPr/>
            </p:nvSpPr>
            <p:spPr>
              <a:xfrm>
                <a:off x="114300" y="0"/>
                <a:ext cx="2038500" cy="36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" sz="10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rPr>
                  <a:t>In-Market — Relevant Audiences</a:t>
                </a:r>
                <a:endParaRPr b="1" i="0" sz="1000" u="none" cap="none" strike="noStrike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1" name="Google Shape;581;p28"/>
              <p:cNvSpPr txBox="1"/>
              <p:nvPr/>
            </p:nvSpPr>
            <p:spPr>
              <a:xfrm>
                <a:off x="2381250" y="0"/>
                <a:ext cx="2209800" cy="36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Home &amp; Garden in-market audience</a:t>
                </a:r>
                <a:endParaRPr b="0" i="0" sz="1000" u="none" cap="none" strike="noStrike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2" name="Google Shape;582;p28"/>
              <p:cNvSpPr txBox="1"/>
              <p:nvPr/>
            </p:nvSpPr>
            <p:spPr>
              <a:xfrm>
                <a:off x="4705350" y="0"/>
                <a:ext cx="990600" cy="36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800,000</a:t>
                </a:r>
                <a:endParaRPr b="0" i="0" sz="1000" u="none" cap="none" strike="noStrike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3" name="Google Shape;583;p28"/>
              <p:cNvSpPr txBox="1"/>
              <p:nvPr/>
            </p:nvSpPr>
            <p:spPr>
              <a:xfrm>
                <a:off x="5810250" y="0"/>
                <a:ext cx="990600" cy="36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$10,000</a:t>
                </a:r>
                <a:endParaRPr b="0" i="0" sz="1000" u="none" cap="none" strike="noStrike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28"/>
              <p:cNvSpPr txBox="1"/>
              <p:nvPr/>
            </p:nvSpPr>
            <p:spPr>
              <a:xfrm>
                <a:off x="6915150" y="0"/>
                <a:ext cx="1009800" cy="36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$12.50</a:t>
                </a:r>
                <a:endParaRPr b="0" i="0" sz="1000" u="none" cap="none" strike="noStrike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5" name="Google Shape;585;p28"/>
            <p:cNvGrpSpPr/>
            <p:nvPr/>
          </p:nvGrpSpPr>
          <p:grpSpPr>
            <a:xfrm>
              <a:off x="114300" y="660000"/>
              <a:ext cx="7810650" cy="360000"/>
              <a:chOff x="114300" y="0"/>
              <a:chExt cx="7810650" cy="360000"/>
            </a:xfrm>
          </p:grpSpPr>
          <p:sp>
            <p:nvSpPr>
              <p:cNvPr id="586" name="Google Shape;586;p28"/>
              <p:cNvSpPr txBox="1"/>
              <p:nvPr/>
            </p:nvSpPr>
            <p:spPr>
              <a:xfrm>
                <a:off x="114300" y="0"/>
                <a:ext cx="2038500" cy="36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" sz="10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rPr>
                  <a:t>Added value — Impression-Based Remarketing</a:t>
                </a:r>
                <a:endParaRPr b="1" i="0" sz="1000" u="none" cap="none" strike="noStrike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28"/>
              <p:cNvSpPr txBox="1"/>
              <p:nvPr/>
            </p:nvSpPr>
            <p:spPr>
              <a:xfrm>
                <a:off x="2381250" y="0"/>
                <a:ext cx="2209800" cy="36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Audience list built from streaming exposure</a:t>
                </a:r>
                <a:endParaRPr b="0" i="0" sz="1000" u="none" cap="none" strike="noStrike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28"/>
              <p:cNvSpPr txBox="1"/>
              <p:nvPr/>
            </p:nvSpPr>
            <p:spPr>
              <a:xfrm>
                <a:off x="4705350" y="0"/>
                <a:ext cx="990600" cy="36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—</a:t>
                </a:r>
                <a:endParaRPr b="0" i="0" sz="1000" u="none" cap="none" strike="noStrike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28"/>
              <p:cNvSpPr txBox="1"/>
              <p:nvPr/>
            </p:nvSpPr>
            <p:spPr>
              <a:xfrm>
                <a:off x="5810250" y="0"/>
                <a:ext cx="990600" cy="36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Included</a:t>
                </a:r>
                <a:endParaRPr b="0" i="0" sz="1000" u="none" cap="none" strike="noStrike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28"/>
              <p:cNvSpPr txBox="1"/>
              <p:nvPr/>
            </p:nvSpPr>
            <p:spPr>
              <a:xfrm>
                <a:off x="6915150" y="0"/>
                <a:ext cx="1009800" cy="36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—</a:t>
                </a:r>
                <a:endParaRPr b="0" i="0" sz="1000" u="none" cap="none" strike="noStrike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134" name="Legacy 9134"/>
            <p:cNvGrpSpPr/>
            <p:nvPr/>
          </p:nvGrpSpPr>
          <p:grpSpPr>
            <a:xfrm>
              <a:off x="114300" y="1020000"/>
              <a:ext cx="7810650" cy="360000"/>
              <a:chOff x="114300" y="0"/>
              <a:chExt cx="7810650" cy="360000"/>
            </a:xfrm>
          </p:grpSpPr>
          <p:sp>
            <p:nvSpPr>
              <p:cNvPr id="9135" name="Legacy 9135"/>
              <p:cNvSpPr txBox="1"/>
              <p:nvPr/>
            </p:nvSpPr>
            <p:spPr>
              <a:xfrm>
                <a:off x="114300" y="0"/>
                <a:ext cx="2038500" cy="36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" sz="10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rPr>
                  <a:t>Added value — Ad Effectiveness Study</a:t>
                </a:r>
                <a:endParaRPr b="1" i="0" sz="1000" u="none" cap="none" strike="noStrike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36" name="Legacy 9136"/>
              <p:cNvSpPr txBox="1"/>
              <p:nvPr/>
            </p:nvSpPr>
            <p:spPr>
              <a:xfrm>
                <a:off x="2381250" y="0"/>
                <a:ext cx="2209800" cy="36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Search lift, decision journey, attribution</a:t>
                </a:r>
                <a:endParaRPr b="0" i="0" sz="1000" u="none" cap="none" strike="noStrike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37" name="Legacy 9137"/>
              <p:cNvSpPr txBox="1"/>
              <p:nvPr/>
            </p:nvSpPr>
            <p:spPr>
              <a:xfrm>
                <a:off x="4705350" y="0"/>
                <a:ext cx="990600" cy="36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—</a:t>
                </a:r>
                <a:endParaRPr b="0" i="0" sz="1000" u="none" cap="none" strike="noStrike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38" name="Legacy 9138"/>
              <p:cNvSpPr txBox="1"/>
              <p:nvPr/>
            </p:nvSpPr>
            <p:spPr>
              <a:xfrm>
                <a:off x="5810250" y="0"/>
                <a:ext cx="990600" cy="36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Included</a:t>
                </a:r>
                <a:endParaRPr b="0" i="0" sz="1000" u="none" cap="none" strike="noStrike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39" name="Legacy 9139"/>
              <p:cNvSpPr txBox="1"/>
              <p:nvPr/>
            </p:nvSpPr>
            <p:spPr>
              <a:xfrm>
                <a:off x="6915150" y="0"/>
                <a:ext cx="1009800" cy="36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—</a:t>
                </a:r>
                <a:endParaRPr b="0" i="0" sz="1000" u="none" cap="none" strike="noStrike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91" name="Google Shape;591;p28"/>
            <p:cNvGrpSpPr/>
            <p:nvPr/>
          </p:nvGrpSpPr>
          <p:grpSpPr>
            <a:xfrm>
              <a:off x="114300" y="1380000"/>
              <a:ext cx="7810650" cy="280000"/>
              <a:chOff x="114300" y="0"/>
              <a:chExt cx="7810650" cy="280000"/>
            </a:xfrm>
          </p:grpSpPr>
          <p:sp>
            <p:nvSpPr>
              <p:cNvPr id="592" name="Google Shape;592;p28"/>
              <p:cNvSpPr txBox="1"/>
              <p:nvPr/>
            </p:nvSpPr>
            <p:spPr>
              <a:xfrm>
                <a:off x="114300" y="0"/>
                <a:ext cx="2038500" cy="28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" sz="10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rPr>
                  <a:t>Total</a:t>
                </a:r>
                <a:endParaRPr b="1" i="0" sz="1000" u="none" cap="none" strike="noStrike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28"/>
              <p:cNvSpPr txBox="1"/>
              <p:nvPr/>
            </p:nvSpPr>
            <p:spPr>
              <a:xfrm>
                <a:off x="2381250" y="0"/>
                <a:ext cx="2209800" cy="28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" sz="1000" u="none" cap="none" strike="noStrike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rPr>
                  <a:t>1 campaign / 1 ad group</a:t>
                </a:r>
                <a:endParaRPr b="1" i="0" sz="1000" u="none" cap="none" strike="noStrike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4" name="Google Shape;594;p28"/>
              <p:cNvSpPr txBox="1"/>
              <p:nvPr/>
            </p:nvSpPr>
            <p:spPr>
              <a:xfrm>
                <a:off x="4705350" y="0"/>
                <a:ext cx="990600" cy="28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" sz="1000" u="none" cap="none" strike="noStrike">
                    <a:solidFill>
                      <a:srgbClr val="00823D"/>
                    </a:solidFill>
                    <a:latin typeface="Arial"/>
                    <a:ea typeface="Arial"/>
                    <a:cs typeface="Arial"/>
                    <a:sym typeface="Arial"/>
                  </a:rPr>
                  <a:t>800,000</a:t>
                </a:r>
                <a:endParaRPr b="1" i="0" sz="1000" u="none" cap="none" strike="noStrike">
                  <a:solidFill>
                    <a:srgbClr val="00823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5" name="Google Shape;595;p28"/>
              <p:cNvSpPr txBox="1"/>
              <p:nvPr/>
            </p:nvSpPr>
            <p:spPr>
              <a:xfrm>
                <a:off x="5810250" y="0"/>
                <a:ext cx="990600" cy="28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" sz="1000" u="none" cap="none" strike="noStrike">
                    <a:solidFill>
                      <a:srgbClr val="00823D"/>
                    </a:solidFill>
                    <a:latin typeface="Arial"/>
                    <a:ea typeface="Arial"/>
                    <a:cs typeface="Arial"/>
                    <a:sym typeface="Arial"/>
                  </a:rPr>
                  <a:t>$10,000</a:t>
                </a:r>
                <a:endParaRPr b="1" i="0" sz="1000" u="none" cap="none" strike="noStrike">
                  <a:solidFill>
                    <a:srgbClr val="00823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28"/>
              <p:cNvSpPr txBox="1"/>
              <p:nvPr/>
            </p:nvSpPr>
            <p:spPr>
              <a:xfrm>
                <a:off x="6915150" y="0"/>
                <a:ext cx="1009800" cy="28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" sz="1000" u="none" cap="none" strike="noStrike">
                    <a:solidFill>
                      <a:srgbClr val="00823D"/>
                    </a:solidFill>
                    <a:latin typeface="Arial"/>
                    <a:ea typeface="Arial"/>
                    <a:cs typeface="Arial"/>
                    <a:sym typeface="Arial"/>
                  </a:rPr>
                  <a:t>$12.50</a:t>
                </a:r>
                <a:endParaRPr b="1" i="0" sz="1000" u="none" cap="none" strike="noStrike">
                  <a:solidFill>
                    <a:srgbClr val="00823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97" name="Google Shape;597;p28"/>
          <p:cNvGrpSpPr/>
          <p:nvPr/>
        </p:nvGrpSpPr>
        <p:grpSpPr>
          <a:xfrm>
            <a:off x="552450" y="3660325"/>
            <a:ext cx="8039100" cy="533400"/>
            <a:chOff x="0" y="0"/>
            <a:chExt cx="8039100" cy="533400"/>
          </a:xfrm>
        </p:grpSpPr>
        <p:sp>
          <p:nvSpPr>
            <p:cNvPr id="598" name="Google Shape;598;p28"/>
            <p:cNvSpPr/>
            <p:nvPr/>
          </p:nvSpPr>
          <p:spPr>
            <a:xfrm>
              <a:off x="0" y="0"/>
              <a:ext cx="8039100" cy="533400"/>
            </a:xfrm>
            <a:prstGeom prst="roundRect">
              <a:avLst>
                <a:gd fmla="val 10714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28"/>
            <p:cNvSpPr txBox="1"/>
            <p:nvPr/>
          </p:nvSpPr>
          <p:spPr>
            <a:xfrm>
              <a:off x="152400" y="57150"/>
              <a:ext cx="77343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" sz="750" u="none" cap="none" strike="noStrike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rPr>
                <a:t>READ THIS ALONGSIDE THE GEOGRAPHY</a:t>
              </a:r>
              <a:endParaRPr b="1" i="0" sz="750" u="none" cap="none" strike="noStrike">
                <a:solidFill>
                  <a:srgbClr val="00331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0" i="0" lang="en" sz="850" u="none" cap="none" strike="noStrike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rPr>
                <a:t>All 800,000 impressions go to building new reach across 33 communities — there is no retargeting line competing for the budget. The remarketing audience is produced by the campaign itself and costs nothing.</a:t>
              </a:r>
              <a:endParaRPr b="0" i="0" sz="850" u="none" cap="none" strike="noStrike">
                <a:solidFill>
                  <a:srgbClr val="00331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0" name="Google Shape;600;p28"/>
          <p:cNvSpPr txBox="1"/>
          <p:nvPr/>
        </p:nvSpPr>
        <p:spPr>
          <a:xfrm>
            <a:off x="552450" y="4298500"/>
            <a:ext cx="803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1" lang="en" sz="68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All impressions are estimates and are not guaranteed; pricing is dynamic based on market demand. All dollars are NET USD. Implied CPM is derived from monthly investment ÷ estimated impressions.</a:t>
            </a:r>
            <a:endParaRPr b="0" i="1" sz="68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1" name="Google Shape;601;p28"/>
          <p:cNvGrpSpPr/>
          <p:nvPr/>
        </p:nvGrpSpPr>
        <p:grpSpPr>
          <a:xfrm>
            <a:off x="552450" y="4714875"/>
            <a:ext cx="8039250" cy="190500"/>
            <a:chOff x="0" y="0"/>
            <a:chExt cx="8039250" cy="190500"/>
          </a:xfrm>
        </p:grpSpPr>
        <p:sp>
          <p:nvSpPr>
            <p:cNvPr id="602" name="Google Shape;602;p28"/>
            <p:cNvSpPr txBox="1"/>
            <p:nvPr/>
          </p:nvSpPr>
          <p:spPr>
            <a:xfrm>
              <a:off x="0" y="0"/>
              <a:ext cx="571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0" i="0" lang="en" sz="750" u="none" cap="none" strike="noStrike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CAMP Digital · Premium Streaming Media Plan · Legacy Home Services · </a:t>
              </a:r>
              <a:r>
                <a:rPr lang="en" sz="750">
                  <a:solidFill>
                    <a:srgbClr val="999999"/>
                  </a:solidFill>
                </a:rPr>
                <a:t>October </a:t>
              </a:r>
              <a:r>
                <a:rPr b="0" i="0" lang="en" sz="750" u="none" cap="none" strike="noStrike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2026</a:t>
              </a:r>
              <a:endParaRPr b="0" i="0" sz="75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28"/>
            <p:cNvSpPr txBox="1"/>
            <p:nvPr/>
          </p:nvSpPr>
          <p:spPr>
            <a:xfrm>
              <a:off x="7753350" y="0"/>
              <a:ext cx="285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0" i="0" lang="en" sz="750" u="none" cap="none" strike="noStrike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75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8" name="Google Shape;608;p29"/>
          <p:cNvGrpSpPr/>
          <p:nvPr/>
        </p:nvGrpSpPr>
        <p:grpSpPr>
          <a:xfrm>
            <a:off x="552450" y="333375"/>
            <a:ext cx="8039100" cy="819150"/>
            <a:chOff x="0" y="0"/>
            <a:chExt cx="8039100" cy="819150"/>
          </a:xfrm>
        </p:grpSpPr>
        <p:sp>
          <p:nvSpPr>
            <p:cNvPr id="609" name="Google Shape;609;p29"/>
            <p:cNvSpPr/>
            <p:nvPr/>
          </p:nvSpPr>
          <p:spPr>
            <a:xfrm>
              <a:off x="0" y="0"/>
              <a:ext cx="2000100" cy="190500"/>
            </a:xfrm>
            <a:prstGeom prst="roundRect">
              <a:avLst>
                <a:gd fmla="val 20000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29"/>
            <p:cNvSpPr txBox="1"/>
            <p:nvPr/>
          </p:nvSpPr>
          <p:spPr>
            <a:xfrm>
              <a:off x="0" y="0"/>
              <a:ext cx="2000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" sz="7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INCLUDED AT NO ADDITIONAL COST</a:t>
              </a:r>
              <a:endParaRPr b="1" i="0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29"/>
            <p:cNvSpPr txBox="1"/>
            <p:nvPr/>
          </p:nvSpPr>
          <p:spPr>
            <a:xfrm>
              <a:off x="0" y="228600"/>
              <a:ext cx="80391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20"/>
                <a:buFont typeface="Arial"/>
                <a:buNone/>
              </a:pPr>
              <a:r>
                <a:rPr b="1" i="0" lang="en" sz="2220" u="none" cap="none" strike="noStrike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Two Assets Legacy Keeps Beyond the Impressions</a:t>
              </a:r>
              <a:endParaRPr b="1" i="0" sz="222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29"/>
            <p:cNvSpPr txBox="1"/>
            <p:nvPr/>
          </p:nvSpPr>
          <p:spPr>
            <a:xfrm>
              <a:off x="0" y="628650"/>
              <a:ext cx="8039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rPr>
                <a:t>The plan includes added-value components that most CTV vendors either charge for or simply do not offer.</a:t>
              </a:r>
              <a:endParaRPr b="0" i="0" sz="10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3" name="Google Shape;613;p29"/>
          <p:cNvGrpSpPr/>
          <p:nvPr/>
        </p:nvGrpSpPr>
        <p:grpSpPr>
          <a:xfrm>
            <a:off x="552450" y="1333500"/>
            <a:ext cx="3905400" cy="1809600"/>
            <a:chOff x="0" y="0"/>
            <a:chExt cx="3905400" cy="1809600"/>
          </a:xfrm>
        </p:grpSpPr>
        <p:sp>
          <p:nvSpPr>
            <p:cNvPr id="614" name="Google Shape;614;p29"/>
            <p:cNvSpPr/>
            <p:nvPr/>
          </p:nvSpPr>
          <p:spPr>
            <a:xfrm>
              <a:off x="0" y="0"/>
              <a:ext cx="3905400" cy="18096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29"/>
            <p:cNvSpPr txBox="1"/>
            <p:nvPr/>
          </p:nvSpPr>
          <p:spPr>
            <a:xfrm>
              <a:off x="152400" y="133350"/>
              <a:ext cx="36006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1" i="0" lang="en" sz="850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ADDED VALUE 01</a:t>
              </a:r>
              <a:endParaRPr b="1" i="0" sz="850" u="none" cap="none" strike="noStrike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rPr>
                <a:t>Impression-Based Remarketing</a:t>
              </a:r>
              <a:endParaRPr b="1" i="0" sz="1600" u="none" cap="none" strike="noStrike">
                <a:solidFill>
                  <a:srgbClr val="00331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" sz="950" u="none" cap="none" strike="noStrike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Every household exposed to Legacy’s streaming ad is assembled into a remarketing list — usable across Search, Performance Max, Display, Native and Online Video.</a:t>
              </a:r>
              <a:endParaRPr b="0" i="0" sz="9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29"/>
            <p:cNvSpPr/>
            <p:nvPr/>
          </p:nvSpPr>
          <p:spPr>
            <a:xfrm>
              <a:off x="152400" y="1219200"/>
              <a:ext cx="3600600" cy="457200"/>
            </a:xfrm>
            <a:prstGeom prst="roundRect">
              <a:avLst>
                <a:gd fmla="val 8333" name="adj"/>
              </a:avLst>
            </a:prstGeom>
            <a:solidFill>
              <a:srgbClr val="EBF7EE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29"/>
            <p:cNvSpPr txBox="1"/>
            <p:nvPr/>
          </p:nvSpPr>
          <p:spPr>
            <a:xfrm>
              <a:off x="228600" y="1219200"/>
              <a:ext cx="3448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rPr>
                <a:t>The audience built by the TV campaign becomes a targeting asset for every other channel Legacy runs.</a:t>
              </a:r>
              <a:endParaRPr b="1" i="0" sz="900" u="none" cap="none" strike="noStrike">
                <a:solidFill>
                  <a:srgbClr val="00331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8" name="Google Shape;618;p29"/>
          <p:cNvGrpSpPr/>
          <p:nvPr/>
        </p:nvGrpSpPr>
        <p:grpSpPr>
          <a:xfrm>
            <a:off x="4686300" y="1333500"/>
            <a:ext cx="3905400" cy="1809600"/>
            <a:chOff x="0" y="0"/>
            <a:chExt cx="3905400" cy="1809600"/>
          </a:xfrm>
        </p:grpSpPr>
        <p:sp>
          <p:nvSpPr>
            <p:cNvPr id="619" name="Google Shape;619;p29"/>
            <p:cNvSpPr/>
            <p:nvPr/>
          </p:nvSpPr>
          <p:spPr>
            <a:xfrm>
              <a:off x="0" y="0"/>
              <a:ext cx="3905400" cy="18096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29"/>
            <p:cNvSpPr txBox="1"/>
            <p:nvPr/>
          </p:nvSpPr>
          <p:spPr>
            <a:xfrm>
              <a:off x="152400" y="133350"/>
              <a:ext cx="36006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1" i="0" lang="en" sz="850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ADDED VALUE 02</a:t>
              </a:r>
              <a:endParaRPr b="1" i="0" sz="850" u="none" cap="none" strike="noStrike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rPr>
                <a:t>Ad Effectiveness Study</a:t>
              </a:r>
              <a:endParaRPr b="1" i="0" sz="1600" u="none" cap="none" strike="noStrike">
                <a:solidFill>
                  <a:srgbClr val="00331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" sz="950" u="none" cap="none" strike="noStrike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Formal measurement of search lift, impact on the consumer decision journey and multi-touch attribution, correlated to Microsoft Audience Network ad exposure.</a:t>
              </a:r>
              <a:endParaRPr b="0" i="0" sz="9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29"/>
            <p:cNvSpPr/>
            <p:nvPr/>
          </p:nvSpPr>
          <p:spPr>
            <a:xfrm>
              <a:off x="152400" y="1219200"/>
              <a:ext cx="3600600" cy="457200"/>
            </a:xfrm>
            <a:prstGeom prst="roundRect">
              <a:avLst>
                <a:gd fmla="val 8333" name="adj"/>
              </a:avLst>
            </a:prstGeom>
            <a:solidFill>
              <a:srgbClr val="EBF7EE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29"/>
            <p:cNvSpPr txBox="1"/>
            <p:nvPr/>
          </p:nvSpPr>
          <p:spPr>
            <a:xfrm>
              <a:off x="228600" y="1219200"/>
              <a:ext cx="3448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rPr>
                <a:t>Requires approximately 1.5M impressions within a 30-day period to run.</a:t>
              </a:r>
              <a:endParaRPr b="1" i="0" sz="900" u="none" cap="none" strike="noStrike">
                <a:solidFill>
                  <a:srgbClr val="00331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3" name="Google Shape;623;p29"/>
          <p:cNvGrpSpPr/>
          <p:nvPr/>
        </p:nvGrpSpPr>
        <p:grpSpPr>
          <a:xfrm>
            <a:off x="552450" y="3286125"/>
            <a:ext cx="8039100" cy="1238400"/>
            <a:chOff x="0" y="0"/>
            <a:chExt cx="8039100" cy="1238400"/>
          </a:xfrm>
        </p:grpSpPr>
        <p:sp>
          <p:nvSpPr>
            <p:cNvPr id="624" name="Google Shape;624;p29"/>
            <p:cNvSpPr/>
            <p:nvPr/>
          </p:nvSpPr>
          <p:spPr>
            <a:xfrm>
              <a:off x="0" y="0"/>
              <a:ext cx="8039100" cy="1238400"/>
            </a:xfrm>
            <a:prstGeom prst="roundRect">
              <a:avLst>
                <a:gd fmla="val 4615" name="adj"/>
              </a:avLst>
            </a:prstGeom>
            <a:solidFill>
              <a:srgbClr val="0033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29"/>
            <p:cNvSpPr txBox="1"/>
            <p:nvPr/>
          </p:nvSpPr>
          <p:spPr>
            <a:xfrm>
              <a:off x="190500" y="133350"/>
              <a:ext cx="5143500" cy="9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1" i="0" lang="en" sz="850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THE SCALE PATH</a:t>
              </a:r>
              <a:endParaRPr b="1" i="0" sz="850" u="none" cap="none" strike="noStrike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Unlocking the brand lift study</a:t>
              </a:r>
              <a:endParaRPr b="1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" sz="950" u="none" cap="none" strike="noStrike">
                  <a:solidFill>
                    <a:srgbClr val="EBF7EE"/>
                  </a:solidFill>
                  <a:latin typeface="Arial"/>
                  <a:ea typeface="Arial"/>
                  <a:cs typeface="Arial"/>
                  <a:sym typeface="Arial"/>
                </a:rPr>
                <a:t>The October plan delivers an estimated 800,000 impressions. The study requires roughly 1.5M in a 30-day window, so it becomes available as the program scales — worth revisiting once the first flight establishes a delivery and completion baseline.</a:t>
              </a:r>
              <a:endParaRPr b="0" i="0" sz="950" u="none" cap="none" strike="noStrike">
                <a:solidFill>
                  <a:srgbClr val="EBF7E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29"/>
            <p:cNvSpPr txBox="1"/>
            <p:nvPr/>
          </p:nvSpPr>
          <p:spPr>
            <a:xfrm>
              <a:off x="5524500" y="190500"/>
              <a:ext cx="1047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1" i="0" lang="en" sz="850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OCTOBER PLAN</a:t>
              </a:r>
              <a:endParaRPr b="1" i="0" sz="850" u="none" cap="none" strike="noStrike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" sz="2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800K</a:t>
              </a:r>
              <a:endParaRPr b="1" i="0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29"/>
            <p:cNvSpPr txBox="1"/>
            <p:nvPr/>
          </p:nvSpPr>
          <p:spPr>
            <a:xfrm>
              <a:off x="6762750" y="190500"/>
              <a:ext cx="1086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1" i="0" lang="en" sz="850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STUDY THRESHOLD</a:t>
              </a:r>
              <a:endParaRPr b="1" i="0" sz="850" u="none" cap="none" strike="noStrike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" sz="2800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1.5M</a:t>
              </a:r>
              <a:endParaRPr b="1" i="0" sz="2800" u="none" cap="none" strike="noStrike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8" name="Google Shape;628;p29"/>
          <p:cNvGrpSpPr/>
          <p:nvPr/>
        </p:nvGrpSpPr>
        <p:grpSpPr>
          <a:xfrm>
            <a:off x="552450" y="4714875"/>
            <a:ext cx="8039250" cy="190500"/>
            <a:chOff x="0" y="0"/>
            <a:chExt cx="8039250" cy="190500"/>
          </a:xfrm>
        </p:grpSpPr>
        <p:sp>
          <p:nvSpPr>
            <p:cNvPr id="629" name="Google Shape;629;p29"/>
            <p:cNvSpPr txBox="1"/>
            <p:nvPr/>
          </p:nvSpPr>
          <p:spPr>
            <a:xfrm>
              <a:off x="0" y="0"/>
              <a:ext cx="571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0" i="0" lang="en" sz="750" u="none" cap="none" strike="noStrike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CAMP Digital · Premium Streaming Media Plan · Legacy Home Services · </a:t>
              </a:r>
              <a:r>
                <a:rPr lang="en" sz="750">
                  <a:solidFill>
                    <a:srgbClr val="999999"/>
                  </a:solidFill>
                </a:rPr>
                <a:t>October </a:t>
              </a:r>
              <a:r>
                <a:rPr b="0" i="0" lang="en" sz="750" u="none" cap="none" strike="noStrike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2026</a:t>
              </a:r>
              <a:endParaRPr b="0" i="0" sz="75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29"/>
            <p:cNvSpPr txBox="1"/>
            <p:nvPr/>
          </p:nvSpPr>
          <p:spPr>
            <a:xfrm>
              <a:off x="7753350" y="0"/>
              <a:ext cx="285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0" i="0" lang="en" sz="750" u="none" cap="none" strike="noStrike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endParaRPr b="0" i="0" sz="75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5" name="Google Shape;635;p30"/>
          <p:cNvGrpSpPr/>
          <p:nvPr/>
        </p:nvGrpSpPr>
        <p:grpSpPr>
          <a:xfrm>
            <a:off x="552450" y="476250"/>
            <a:ext cx="1295400" cy="190500"/>
            <a:chOff x="0" y="0"/>
            <a:chExt cx="1295400" cy="190500"/>
          </a:xfrm>
        </p:grpSpPr>
        <p:sp>
          <p:nvSpPr>
            <p:cNvPr id="636" name="Google Shape;636;p30"/>
            <p:cNvSpPr/>
            <p:nvPr/>
          </p:nvSpPr>
          <p:spPr>
            <a:xfrm>
              <a:off x="0" y="0"/>
              <a:ext cx="1295400" cy="190500"/>
            </a:xfrm>
            <a:prstGeom prst="roundRect">
              <a:avLst>
                <a:gd fmla="val 20000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30"/>
            <p:cNvSpPr txBox="1"/>
            <p:nvPr/>
          </p:nvSpPr>
          <p:spPr>
            <a:xfrm>
              <a:off x="0" y="0"/>
              <a:ext cx="1295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" sz="7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THE RECOMMENDATION</a:t>
              </a:r>
              <a:endParaRPr b="1" i="0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8" name="Google Shape;638;p30"/>
          <p:cNvSpPr txBox="1"/>
          <p:nvPr/>
        </p:nvSpPr>
        <p:spPr>
          <a:xfrm>
            <a:off x="552450" y="742950"/>
            <a:ext cx="8039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Legacy Home Services Receives for $10,000 a Month</a:t>
            </a:r>
            <a:endParaRPr b="1" i="0" sz="2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9" name="Google Shape;639;p30"/>
          <p:cNvGrpSpPr/>
          <p:nvPr/>
        </p:nvGrpSpPr>
        <p:grpSpPr>
          <a:xfrm>
            <a:off x="552450" y="1200150"/>
            <a:ext cx="4857900" cy="2381400"/>
            <a:chOff x="0" y="0"/>
            <a:chExt cx="4857900" cy="2381400"/>
          </a:xfrm>
        </p:grpSpPr>
        <p:sp>
          <p:nvSpPr>
            <p:cNvPr id="640" name="Google Shape;640;p30"/>
            <p:cNvSpPr/>
            <p:nvPr/>
          </p:nvSpPr>
          <p:spPr>
            <a:xfrm>
              <a:off x="0" y="0"/>
              <a:ext cx="4857900" cy="2381400"/>
            </a:xfrm>
            <a:prstGeom prst="roundRect">
              <a:avLst>
                <a:gd fmla="val 3200" name="adj"/>
              </a:avLst>
            </a:prstGeom>
            <a:solidFill>
              <a:srgbClr val="0044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30"/>
            <p:cNvSpPr txBox="1"/>
            <p:nvPr/>
          </p:nvSpPr>
          <p:spPr>
            <a:xfrm>
              <a:off x="171450" y="152400"/>
              <a:ext cx="4515000" cy="207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en" sz="1050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b="0" i="0" lang="en" sz="1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800,000 estimated premium CTV/OTT impressions over a 30-day flight</a:t>
              </a:r>
              <a:endPara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en" sz="1050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b="0" i="0" lang="en" sz="1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Delivery confined to 33 named northwest-suburban communities</a:t>
              </a:r>
              <a:endPara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en" sz="1050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b="0" i="0" lang="en" sz="1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In-market Home &amp; Garden targeting, weighted to service-need signals</a:t>
              </a:r>
              <a:endPara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en" sz="1050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b="0" i="0" lang="en" sz="1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Direct-to-engine buying — no reseller markup on any impression</a:t>
              </a:r>
              <a:endPara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en" sz="1050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b="0" i="0" lang="en" sz="1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Impression-Based Remarketing audience, included at no extra cost</a:t>
              </a:r>
              <a:endPara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en" sz="1050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b="0" i="0" lang="en" sz="1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App-level placement, CPM and completion reporting every month</a:t>
              </a:r>
              <a:endPara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2" name="Google Shape;642;p30"/>
          <p:cNvGrpSpPr/>
          <p:nvPr/>
        </p:nvGrpSpPr>
        <p:grpSpPr>
          <a:xfrm>
            <a:off x="5600700" y="1200150"/>
            <a:ext cx="2762400" cy="1095300"/>
            <a:chOff x="0" y="0"/>
            <a:chExt cx="2762400" cy="1095300"/>
          </a:xfrm>
        </p:grpSpPr>
        <p:sp>
          <p:nvSpPr>
            <p:cNvPr id="643" name="Google Shape;643;p30"/>
            <p:cNvSpPr/>
            <p:nvPr/>
          </p:nvSpPr>
          <p:spPr>
            <a:xfrm>
              <a:off x="0" y="0"/>
              <a:ext cx="2762400" cy="1095300"/>
            </a:xfrm>
            <a:prstGeom prst="roundRect">
              <a:avLst>
                <a:gd fmla="val 6956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30"/>
            <p:cNvSpPr txBox="1"/>
            <p:nvPr/>
          </p:nvSpPr>
          <p:spPr>
            <a:xfrm>
              <a:off x="171450" y="114300"/>
              <a:ext cx="2419500" cy="8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" sz="750" u="none" cap="none" strike="noStrike">
                  <a:solidFill>
                    <a:srgbClr val="002D1A"/>
                  </a:solidFill>
                  <a:latin typeface="Arial"/>
                  <a:ea typeface="Arial"/>
                  <a:cs typeface="Arial"/>
                  <a:sym typeface="Arial"/>
                </a:rPr>
                <a:t>MONTHLY INVESTMENT</a:t>
              </a:r>
              <a:endParaRPr b="1" i="0" sz="750" u="none" cap="none" strike="noStrike">
                <a:solidFill>
                  <a:srgbClr val="002D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2D1A"/>
                  </a:solidFill>
                  <a:latin typeface="Arial"/>
                  <a:ea typeface="Arial"/>
                  <a:cs typeface="Arial"/>
                  <a:sym typeface="Arial"/>
                </a:rPr>
                <a:t>$10,000</a:t>
              </a:r>
              <a:endParaRPr b="1" i="0" sz="3200" u="none" cap="none" strike="noStrike">
                <a:solidFill>
                  <a:srgbClr val="002D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0" i="0" lang="en" sz="850" u="none" cap="none" strike="noStrike">
                  <a:solidFill>
                    <a:srgbClr val="002D1A"/>
                  </a:solidFill>
                  <a:latin typeface="Arial"/>
                  <a:ea typeface="Arial"/>
                  <a:cs typeface="Arial"/>
                  <a:sym typeface="Arial"/>
                </a:rPr>
                <a:t>NET USD · 100% working media · fully scalable</a:t>
              </a:r>
              <a:endParaRPr b="0" i="0" sz="850" u="none" cap="none" strike="noStrike">
                <a:solidFill>
                  <a:srgbClr val="002D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5" name="Google Shape;645;p30"/>
          <p:cNvGrpSpPr/>
          <p:nvPr/>
        </p:nvGrpSpPr>
        <p:grpSpPr>
          <a:xfrm>
            <a:off x="5600700" y="2419350"/>
            <a:ext cx="2762400" cy="1162200"/>
            <a:chOff x="0" y="0"/>
            <a:chExt cx="2762400" cy="1162200"/>
          </a:xfrm>
        </p:grpSpPr>
        <p:sp>
          <p:nvSpPr>
            <p:cNvPr id="646" name="Google Shape;646;p30"/>
            <p:cNvSpPr/>
            <p:nvPr/>
          </p:nvSpPr>
          <p:spPr>
            <a:xfrm>
              <a:off x="0" y="0"/>
              <a:ext cx="2762400" cy="1162200"/>
            </a:xfrm>
            <a:prstGeom prst="roundRect">
              <a:avLst>
                <a:gd fmla="val 6557" name="adj"/>
              </a:avLst>
            </a:prstGeom>
            <a:solidFill>
              <a:srgbClr val="0044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30"/>
            <p:cNvSpPr txBox="1"/>
            <p:nvPr/>
          </p:nvSpPr>
          <p:spPr>
            <a:xfrm>
              <a:off x="171450" y="114300"/>
              <a:ext cx="2419500" cy="9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94"/>
                <a:buFont typeface="Arial"/>
                <a:buNone/>
              </a:pPr>
              <a:r>
                <a:rPr b="1" i="0" lang="en" sz="694" u="none" cap="none" strike="noStrike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NEXT STEP</a:t>
              </a:r>
              <a:endParaRPr b="1" i="0" sz="694" u="none" cap="none" strike="noStrike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3"/>
                <a:buFont typeface="Arial"/>
                <a:buNone/>
              </a:pPr>
              <a:r>
                <a:rPr b="1" i="0" lang="en" sz="1203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Complimentary local CTV audit</a:t>
              </a:r>
              <a:endParaRPr b="1" i="0" sz="120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3"/>
                <a:buFont typeface="Arial"/>
                <a:buNone/>
              </a:pPr>
              <a:r>
                <a:rPr b="0" i="0" lang="en" sz="833" u="none" cap="none" strike="noStrike">
                  <a:solidFill>
                    <a:srgbClr val="EBF7EE"/>
                  </a:solidFill>
                  <a:latin typeface="Arial"/>
                  <a:ea typeface="Arial"/>
                  <a:cs typeface="Arial"/>
                  <a:sym typeface="Arial"/>
                </a:rPr>
                <a:t>A real-time inventory forecast across Legacy’s 33 communities, confirming the streaming audience supports a sustained television presence — before a dollar is committed.</a:t>
              </a:r>
              <a:endParaRPr b="0" i="0" sz="833" u="none" cap="none" strike="noStrike">
                <a:solidFill>
                  <a:srgbClr val="EBF7E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8" name="Google Shape;648;p30"/>
          <p:cNvSpPr txBox="1"/>
          <p:nvPr/>
        </p:nvSpPr>
        <p:spPr>
          <a:xfrm>
            <a:off x="552450" y="3848100"/>
            <a:ext cx="1238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/>
              <a:buNone/>
            </a:pPr>
            <a:r>
              <a:rPr b="0" i="0" lang="en" sz="2220" u="none" cap="none" strike="noStrike">
                <a:solidFill>
                  <a:srgbClr val="00E676"/>
                </a:solidFill>
                <a:latin typeface="Arial"/>
                <a:ea typeface="Arial"/>
                <a:cs typeface="Arial"/>
                <a:sym typeface="Arial"/>
              </a:rPr>
              <a:t>CAMP</a:t>
            </a:r>
            <a:endParaRPr b="0" i="0" sz="2220" u="none" cap="none" strike="noStrike">
              <a:solidFill>
                <a:srgbClr val="00E67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" sz="740" u="none" cap="none" strike="noStrike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rPr>
              <a:t>DIGITAL</a:t>
            </a:r>
            <a:endParaRPr b="1" i="0" sz="740" u="none" cap="none" strike="noStrike">
              <a:solidFill>
                <a:srgbClr val="A7C1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30"/>
          <p:cNvSpPr txBox="1"/>
          <p:nvPr/>
        </p:nvSpPr>
        <p:spPr>
          <a:xfrm>
            <a:off x="1905000" y="3848100"/>
            <a:ext cx="4000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Ready to own the big screen in your service territory?</a:t>
            </a:r>
            <a:endParaRPr b="1" i="0" sz="12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0" name="Google Shape;650;p30"/>
          <p:cNvGrpSpPr/>
          <p:nvPr/>
        </p:nvGrpSpPr>
        <p:grpSpPr>
          <a:xfrm>
            <a:off x="6096000" y="3886200"/>
            <a:ext cx="2267100" cy="419100"/>
            <a:chOff x="0" y="0"/>
            <a:chExt cx="2267100" cy="419100"/>
          </a:xfrm>
        </p:grpSpPr>
        <p:sp>
          <p:nvSpPr>
            <p:cNvPr id="651" name="Google Shape;651;p30"/>
            <p:cNvSpPr/>
            <p:nvPr/>
          </p:nvSpPr>
          <p:spPr>
            <a:xfrm>
              <a:off x="0" y="0"/>
              <a:ext cx="2267100" cy="419100"/>
            </a:xfrm>
            <a:prstGeom prst="roundRect">
              <a:avLst>
                <a:gd fmla="val 18181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30"/>
            <p:cNvSpPr txBox="1"/>
            <p:nvPr/>
          </p:nvSpPr>
          <p:spPr>
            <a:xfrm>
              <a:off x="0" y="0"/>
              <a:ext cx="2267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002D1A"/>
                  </a:solidFill>
                  <a:latin typeface="Arial"/>
                  <a:ea typeface="Arial"/>
                  <a:cs typeface="Arial"/>
                  <a:sym typeface="Arial"/>
                </a:rPr>
                <a:t>Request Your Free CTV Audit</a:t>
              </a:r>
              <a:endParaRPr b="1" i="0" sz="1100" u="none" cap="none" strike="noStrike">
                <a:solidFill>
                  <a:srgbClr val="002D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3" name="Google Shape;653;p30"/>
          <p:cNvSpPr txBox="1"/>
          <p:nvPr/>
        </p:nvSpPr>
        <p:spPr>
          <a:xfrm>
            <a:off x="552450" y="4572000"/>
            <a:ext cx="8039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" sz="800" u="none" cap="none" strike="noStrike">
                <a:solidFill>
                  <a:srgbClr val="88AAAA"/>
                </a:solidFill>
                <a:latin typeface="Arial"/>
                <a:ea typeface="Arial"/>
                <a:cs typeface="Arial"/>
                <a:sym typeface="Arial"/>
              </a:rPr>
              <a:t>All impressions are estimates and are not guaranteed. Pricing is dynamic based on market demand. All dollars are NET USD.</a:t>
            </a:r>
            <a:endParaRPr b="0" i="1" sz="800" u="none" cap="none" strike="noStrike">
              <a:solidFill>
                <a:srgbClr val="88AAA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