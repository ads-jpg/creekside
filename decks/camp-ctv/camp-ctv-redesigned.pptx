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image" Target="../media/image-11-2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reekside/d78d82c2-fe4b-52a2-a814-7e317a81d374/scratchpad/deck/assets/cover_tv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42632" y="0"/>
            <a:ext cx="4849063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566928"/>
            <a:ext cx="3291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1300" b="1" spc="117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1300" b="1" spc="1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</a:t>
            </a:r>
            <a:pPr algn="l" indent="0" marL="0">
              <a:buNone/>
            </a:pPr>
            <a:r>
              <a:rPr lang="en-US" sz="1300" spc="286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DIGITAL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3716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3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TV Advertising. Direct Publisher Costs. Zero Markups.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31520" y="331012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E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CAMP Digital connects big-screen streaming to booked home service calls.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4041648"/>
            <a:ext cx="2871216" cy="1261872"/>
          </a:xfrm>
          <a:prstGeom prst="roundRect">
            <a:avLst>
              <a:gd name="adj" fmla="val 4348"/>
            </a:avLst>
          </a:prstGeom>
          <a:solidFill>
            <a:srgbClr val="0B4526"/>
          </a:solidFill>
          <a:ln w="9525">
            <a:solidFill>
              <a:srgbClr val="1A5E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9264" y="424281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Premier Partner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9264" y="4572000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8C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Institutional-grade access to top-tier streaming inventory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803904" y="4041648"/>
            <a:ext cx="2871216" cy="1261872"/>
          </a:xfrm>
          <a:prstGeom prst="roundRect">
            <a:avLst>
              <a:gd name="adj" fmla="val 4348"/>
            </a:avLst>
          </a:prstGeom>
          <a:solidFill>
            <a:srgbClr val="0B4526"/>
          </a:solidFill>
          <a:ln w="9525">
            <a:solidFill>
              <a:srgbClr val="1A5E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41648" y="424281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Elite Partner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41648" y="4572000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8C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publisher costs — zero media markups added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5468112"/>
            <a:ext cx="5943600" cy="877824"/>
          </a:xfrm>
          <a:prstGeom prst="roundRect">
            <a:avLst>
              <a:gd name="adj" fmla="val 6250"/>
            </a:avLst>
          </a:prstGeom>
          <a:solidFill>
            <a:srgbClr val="0B4526"/>
          </a:solidFill>
          <a:ln w="9525">
            <a:solidFill>
              <a:srgbClr val="1A5E3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5632704"/>
            <a:ext cx="5468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Agnostic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69264" y="5925312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8C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tailored to your trade, territory, and goals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9326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spc="-40" kern="0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Homeowners Left Cable. Traditional Agencies Kept the Markups.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5212080" cy="1755648"/>
          </a:xfrm>
          <a:prstGeom prst="roundRect">
            <a:avLst>
              <a:gd name="adj" fmla="val 3125"/>
            </a:avLst>
          </a:prstGeom>
          <a:solidFill>
            <a:srgbClr val="F4F7F2"/>
          </a:solidFill>
          <a:ln w="9525">
            <a:solidFill>
              <a:srgbClr val="DEE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" y="2523744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Legacy Programmatic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60704" y="2980944"/>
            <a:ext cx="4553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middlemen — platforms like The Trade Desk or Xander — add hidden tech fees, inflating CPMs to 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$25–$35+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black-box reporting and zero transparency on where your dollars land.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45352" y="2194560"/>
            <a:ext cx="5212080" cy="1755648"/>
          </a:xfrm>
          <a:prstGeom prst="roundRect">
            <a:avLst>
              <a:gd name="adj" fmla="val 3125"/>
            </a:avLst>
          </a:prstGeom>
          <a:solidFill>
            <a:srgbClr val="EEF5E4"/>
          </a:solidFill>
          <a:ln w="9525">
            <a:solidFill>
              <a:srgbClr val="CFE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74536" y="2523744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CAMP Digital Direct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74536" y="2980944"/>
            <a:ext cx="4553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44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buying through Google and Microsoft Ads engines. 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your media spend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44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goes straight to buying impressions inside your local service territory — no intermediaries, no hidden fees.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10728655" cy="914400"/>
          </a:xfrm>
          <a:prstGeom prst="roundRect">
            <a:avLst>
              <a:gd name="adj" fmla="val 5000"/>
            </a:avLst>
          </a:prstGeom>
          <a:solidFill>
            <a:srgbClr val="0F8140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4809744"/>
            <a:ext cx="1010686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local homeowners spend their evenings on streaming platforms — not cable. Your advertising strategy should follow them there.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6327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</a:t>
            </a:r>
            <a:pPr algn="l" indent="0" marL="0">
              <a:buNone/>
            </a:pPr>
            <a:r>
              <a:rPr lang="en-US" sz="800" spc="176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DIGITAL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62895" y="6327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reekside/d78d82c2-fe4b-52a2-a814-7e317a81d374/scratchpad/deck/assets/tv_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42632" y="0"/>
            <a:ext cx="4849063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58368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500" b="1" spc="-40" kern="0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Big-Screen Placements as National Brands. Zero Middlemen.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731520" y="2331720"/>
            <a:ext cx="2871216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E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A">
                <a:alpha val="7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87552" y="260604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Publisher Access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87552" y="3026664"/>
            <a:ext cx="2359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Full-screen, non-skippable living-room TV ads across Max, Hulu, Disney+, Roku, Paramount+, YouTube TV, Peacock, Samsung TV+, Sling, and Tubi.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895344" y="2331720"/>
            <a:ext cx="2871216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E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A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51376" y="260604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Zip-Code &amp; DMA Precision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51376" y="3026664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Hyper-local targeting ensures your ads only air inside your active plumbing, HVAC, or electrical service footprint.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4462272"/>
            <a:ext cx="6035040" cy="1170432"/>
          </a:xfrm>
          <a:prstGeom prst="roundRect">
            <a:avLst>
              <a:gd name="adj" fmla="val 4688"/>
            </a:avLst>
          </a:prstGeom>
          <a:solidFill>
            <a:srgbClr val="EEF5E4"/>
          </a:solidFill>
          <a:ln w="9525">
            <a:solidFill>
              <a:srgbClr val="CFE2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4681728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Unbiased Platform Access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87552" y="4992624"/>
            <a:ext cx="5522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44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Agnostic placement across both Microsoft Advertising and Google Ads networks — we optimize for your results, not platform commissions.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6327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</a:t>
            </a:r>
            <a:pPr algn="l" indent="0" marL="0">
              <a:buNone/>
            </a:pPr>
            <a:r>
              <a:rPr lang="en-US" sz="800" spc="176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DIGITAL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362895" y="6327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58368"/>
            <a:ext cx="9509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spc="-40" kern="0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Premier Partner Networks. Tailored to Your Specific Goals.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0728655" cy="548640"/>
          </a:xfrm>
          <a:prstGeom prst="roundRect">
            <a:avLst>
              <a:gd name="adj" fmla="val 8333"/>
            </a:avLst>
          </a:prstGeom>
          <a:solidFill>
            <a:srgbClr val="0F8140"/>
          </a:solidFill>
          <a:ln/>
        </p:spPr>
      </p:sp>
      <p:sp>
        <p:nvSpPr>
          <p:cNvPr id="4" name="Text 2"/>
          <p:cNvSpPr/>
          <p:nvPr/>
        </p:nvSpPr>
        <p:spPr>
          <a:xfrm>
            <a:off x="3383280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Advertising CTV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52360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/ YouTube Premier CTV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072865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468880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83280" y="246888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Roku, Max, Hulu, Disney+, Paramount+, Pluto TV, Sling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52360" y="246888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Select, YouTube TV, Disney+, Max, Paramount+, Hulu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3401568"/>
            <a:ext cx="10728655" cy="932688"/>
          </a:xfrm>
          <a:prstGeom prst="rect">
            <a:avLst/>
          </a:prstGeom>
          <a:solidFill>
            <a:srgbClr val="F4F7F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401568"/>
            <a:ext cx="10728655" cy="7315"/>
          </a:xfrm>
          <a:prstGeom prst="rect">
            <a:avLst/>
          </a:prstGeom>
          <a:solidFill>
            <a:srgbClr val="DEE6DE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401568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Advantage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3401568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In-market intent signals, LinkedIn household demographics, CPCV bidding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52360" y="3401568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Google Search &amp; Maps intent, unified frequency capping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334256"/>
            <a:ext cx="1072865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334256"/>
            <a:ext cx="10728655" cy="7315"/>
          </a:xfrm>
          <a:prstGeom prst="rect">
            <a:avLst/>
          </a:prstGeom>
          <a:solidFill>
            <a:srgbClr val="DEE6DE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4334256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4334256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IMBR retargets TV viewers across Bing Search, Display &amp; Native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52360" y="4334256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integration with Demand Gen and Google Search PPC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5266944"/>
            <a:ext cx="10728655" cy="7315"/>
          </a:xfrm>
          <a:prstGeom prst="rect">
            <a:avLst/>
          </a:prstGeom>
          <a:solidFill>
            <a:srgbClr val="DEE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394960"/>
            <a:ext cx="10728655" cy="786384"/>
          </a:xfrm>
          <a:prstGeom prst="roundRect">
            <a:avLst>
              <a:gd name="adj" fmla="val 5814"/>
            </a:avLst>
          </a:prstGeom>
          <a:solidFill>
            <a:srgbClr val="0F8140"/>
          </a:solidFill>
          <a:ln/>
        </p:spPr>
      </p:sp>
      <p:sp>
        <p:nvSpPr>
          <p:cNvPr id="22" name="Text 20"/>
          <p:cNvSpPr/>
          <p:nvPr/>
        </p:nvSpPr>
        <p:spPr>
          <a:xfrm>
            <a:off x="1042416" y="5449824"/>
            <a:ext cx="1010686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CAMP is platform-agnostic, we build the strategy around your business model — not around a single ecosystem's incentives.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6327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</a:t>
            </a:r>
            <a:pPr algn="l" indent="0" marL="0">
              <a:buNone/>
            </a:pPr>
            <a:r>
              <a:rPr lang="en-US" sz="800" spc="176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DIGITAL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362895" y="6327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58368"/>
            <a:ext cx="9509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spc="-40" kern="0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Reaching Homeowners Before Emergency Breakdowns Happen.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6720840" cy="3602736"/>
          </a:xfrm>
          <a:prstGeom prst="roundRect">
            <a:avLst>
              <a:gd name="adj" fmla="val 1269"/>
            </a:avLst>
          </a:prstGeom>
          <a:solidFill>
            <a:srgbClr val="F4F7F2"/>
          </a:solidFill>
          <a:ln w="9525">
            <a:solidFill>
              <a:srgbClr val="DEE6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6484" y="2798064"/>
            <a:ext cx="1243584" cy="124358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8140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A">
                <a:alpha val="7000"/>
              </a:srgbClr>
            </a:outerShdw>
          </a:effectLst>
        </p:spPr>
      </p:sp>
      <p:pic>
        <p:nvPicPr>
          <p:cNvPr id="5" name="Image 0" descr="/tmp/claude-0/-home-user-creekside/d78d82c2-fe4b-52a2-a814-7e317a81d374/scratchpad/deck/ico/search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1995" y="3183575"/>
            <a:ext cx="472562" cy="4725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0452" y="4261104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Homeowner Search</a:t>
            </a:r>
            <a:endParaRPr lang="en-US" sz="1100" dirty="0"/>
          </a:p>
        </p:txBody>
      </p:sp>
      <p:pic>
        <p:nvPicPr>
          <p:cNvPr id="7" name="Image 1" descr="/tmp/claude-0/-home-user-creekside/d78d82c2-fe4b-52a2-a814-7e317a81d374/scratchpad/deck/ico/arrow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236" y="3300984"/>
            <a:ext cx="237744" cy="2377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70148" y="2798064"/>
            <a:ext cx="1243584" cy="124358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8140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A">
                <a:alpha val="7000"/>
              </a:srgbClr>
            </a:outerShdw>
          </a:effectLst>
        </p:spPr>
      </p:sp>
      <p:pic>
        <p:nvPicPr>
          <p:cNvPr id="9" name="Image 2" descr="/tmp/claude-0/-home-user-creekside/d78d82c2-fe4b-52a2-a814-7e317a81d374/scratchpad/deck/ico/bars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659" y="3183575"/>
            <a:ext cx="472562" cy="4725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14116" y="4261104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Signal Captured</a:t>
            </a:r>
            <a:endParaRPr lang="en-US" sz="1100" dirty="0"/>
          </a:p>
        </p:txBody>
      </p:sp>
      <p:pic>
        <p:nvPicPr>
          <p:cNvPr id="11" name="Image 3" descr="/tmp/claude-0/-home-user-creekside/d78d82c2-fe4b-52a2-a814-7e317a81d374/scratchpad/deck/ico/arrow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3300984"/>
            <a:ext cx="237744" cy="2377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353812" y="2798064"/>
            <a:ext cx="1243584" cy="124358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8140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A">
                <a:alpha val="7000"/>
              </a:srgbClr>
            </a:outerShdw>
          </a:effectLst>
        </p:spPr>
      </p:sp>
      <p:pic>
        <p:nvPicPr>
          <p:cNvPr id="13" name="Image 4" descr="/tmp/claude-0/-home-user-creekside/d78d82c2-fe4b-52a2-a814-7e317a81d374/scratchpad/deck/ico/tv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9323" y="3183575"/>
            <a:ext cx="472562" cy="4725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97780" y="4261104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Room TV Ad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7818120" y="221284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Basic IP Targeting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7818120" y="2578608"/>
            <a:ext cx="3639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TV buys target generic age groups. CAMP targets </a:t>
            </a:r>
            <a:pPr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home service intent</a:t>
            </a:r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households already searching for solutions online.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7818120" y="3858768"/>
            <a:ext cx="3639312" cy="7315"/>
          </a:xfrm>
          <a:prstGeom prst="rect">
            <a:avLst/>
          </a:prstGeom>
          <a:solidFill>
            <a:srgbClr val="DEE6DE"/>
          </a:solidFill>
          <a:ln/>
        </p:spPr>
      </p:sp>
      <p:sp>
        <p:nvSpPr>
          <p:cNvPr id="18" name="Text 11"/>
          <p:cNvSpPr/>
          <p:nvPr/>
        </p:nvSpPr>
        <p:spPr>
          <a:xfrm>
            <a:off x="7818120" y="411480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Pre-Need Brand Familiarity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7818120" y="4480560"/>
            <a:ext cx="36393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trust </a:t>
            </a:r>
            <a:pPr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emergency breakdown occurs. When a pipe bursts at midnight, your brand is the first name they call — because they've already seen you on TV.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731520" y="6327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</a:t>
            </a:r>
            <a:pPr algn="l" indent="0" marL="0">
              <a:buNone/>
            </a:pPr>
            <a:r>
              <a:rPr lang="en-US" sz="800" spc="176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DIGITAL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10362895" y="6327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58368"/>
            <a:ext cx="9509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spc="-40" kern="0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Brand Demand to Lower Your PPC Cost-Per-Lead.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792224"/>
            <a:ext cx="5577840" cy="4261104"/>
          </a:xfrm>
          <a:prstGeom prst="roundRect">
            <a:avLst>
              <a:gd name="adj" fmla="val 1073"/>
            </a:avLst>
          </a:prstGeom>
          <a:solidFill>
            <a:srgbClr val="F4F7F2"/>
          </a:solidFill>
          <a:ln w="9525">
            <a:solidFill>
              <a:srgbClr val="DEE6DE"/>
            </a:solidFill>
            <a:prstDash val="solid"/>
          </a:ln>
        </p:spPr>
      </p:sp>
      <p:pic>
        <p:nvPicPr>
          <p:cNvPr id="4" name="Image 0" descr="/tmp/claude-0/-home-user-creekside/d78d82c2-fe4b-52a2-a814-7e317a81d374/scratchpad/deck/assets/flywhe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77528"/>
            <a:ext cx="4114800" cy="38904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03136" y="2103120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TV Working Together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03136" y="2468880"/>
            <a:ext cx="4654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 creates top-of-mind trust. Search PPC captures the appointment when the repair is needed. Together, they compound your results.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803136" y="3602736"/>
            <a:ext cx="4654296" cy="7315"/>
          </a:xfrm>
          <a:prstGeom prst="rect">
            <a:avLst/>
          </a:prstGeom>
          <a:solidFill>
            <a:srgbClr val="DEE6DE"/>
          </a:solidFill>
          <a:ln/>
        </p:spPr>
      </p:sp>
      <p:sp>
        <p:nvSpPr>
          <p:cNvPr id="8" name="Text 5"/>
          <p:cNvSpPr/>
          <p:nvPr/>
        </p:nvSpPr>
        <p:spPr>
          <a:xfrm>
            <a:off x="6803136" y="3840480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Cross-Channel Retargeting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30568" y="4352544"/>
            <a:ext cx="77724" cy="77724"/>
          </a:xfrm>
          <a:prstGeom prst="ellipse">
            <a:avLst/>
          </a:prstGeom>
          <a:solidFill>
            <a:srgbClr val="0F8140"/>
          </a:solidFill>
          <a:ln/>
        </p:spPr>
      </p:sp>
      <p:sp>
        <p:nvSpPr>
          <p:cNvPr id="10" name="Text 7"/>
          <p:cNvSpPr/>
          <p:nvPr/>
        </p:nvSpPr>
        <p:spPr>
          <a:xfrm>
            <a:off x="7059168" y="4261104"/>
            <a:ext cx="43982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IMBR: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Retarget TV viewers with follow-up Search, Native, or Display ads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30568" y="5212080"/>
            <a:ext cx="77724" cy="77724"/>
          </a:xfrm>
          <a:prstGeom prst="ellipse">
            <a:avLst/>
          </a:prstGeom>
          <a:solidFill>
            <a:srgbClr val="0F8140"/>
          </a:solidFill>
          <a:ln/>
        </p:spPr>
      </p:sp>
      <p:sp>
        <p:nvSpPr>
          <p:cNvPr id="12" name="Text 9"/>
          <p:cNvSpPr/>
          <p:nvPr/>
        </p:nvSpPr>
        <p:spPr>
          <a:xfrm>
            <a:off x="7059168" y="5120640"/>
            <a:ext cx="43982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Demand Gen: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Re-engage warm streaming audiences across YouTube Shorts, Gmail, and Discover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6327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</a:t>
            </a:r>
            <a:pPr algn="l" indent="0" marL="0">
              <a:buNone/>
            </a:pPr>
            <a:r>
              <a:rPr lang="en-US" sz="800" spc="176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DIGITAL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362895" y="6327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reekside/d78d82c2-fe4b-52a2-a814-7e317a81d374/scratchpad/deck/assets/tech_hom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0368" y="731520"/>
            <a:ext cx="6227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5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Proof: High-Impact Local Reach at Unbeatable CPMs.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230368" y="1975104"/>
            <a:ext cx="3712464" cy="310896"/>
          </a:xfrm>
          <a:prstGeom prst="roundRect">
            <a:avLst>
              <a:gd name="adj" fmla="val 41176"/>
            </a:avLst>
          </a:prstGeom>
          <a:solidFill>
            <a:srgbClr val="0B4526"/>
          </a:solidFill>
          <a:ln w="9525">
            <a:solidFill>
              <a:srgbClr val="1A5E3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30368" y="197510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27-DAY ALPHA FLIGHT — PRONTO PLUMBING PILOT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230368" y="2615184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986K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230368" y="331012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Impressions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30368" y="3584448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A8C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inside the core service territory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458200" y="2615184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$8.80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458200" y="331012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 CPM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58200" y="3584448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A8C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$15–$25 industry benchmark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230368" y="4407408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92.4%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230368" y="510235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Big-Screen Spend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30368" y="5376672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A8C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 on living room connected TVs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458200" y="4407408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98.5%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8458200" y="510235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Precision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458200" y="5376672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A8C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 delivered within the active service footprint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230368" y="6327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</a:t>
            </a:r>
            <a:pPr algn="l" indent="0" marL="0">
              <a:buNone/>
            </a:pPr>
            <a:r>
              <a:rPr lang="en-US" sz="800" spc="176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DIGITAL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362895" y="6327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58368"/>
            <a:ext cx="9509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spc="-40" kern="0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Working Media. Zero Hidden Tech Taxes.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975104"/>
            <a:ext cx="5212080" cy="3108960"/>
          </a:xfrm>
          <a:prstGeom prst="roundRect">
            <a:avLst>
              <a:gd name="adj" fmla="val 1765"/>
            </a:avLst>
          </a:prstGeom>
          <a:solidFill>
            <a:srgbClr val="F4F7F2"/>
          </a:solidFill>
          <a:ln w="9525">
            <a:solidFill>
              <a:srgbClr val="DEE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" y="2304288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Marked-Up Agency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2875788"/>
            <a:ext cx="82296" cy="82296"/>
          </a:xfrm>
          <a:prstGeom prst="ellipse">
            <a:avLst/>
          </a:prstGeom>
          <a:solidFill>
            <a:srgbClr val="A9B5B0"/>
          </a:solidFill>
          <a:ln/>
        </p:spPr>
      </p:sp>
      <p:sp>
        <p:nvSpPr>
          <p:cNvPr id="6" name="Text 4"/>
          <p:cNvSpPr/>
          <p:nvPr/>
        </p:nvSpPr>
        <p:spPr>
          <a:xfrm>
            <a:off x="1353312" y="2798064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Percentage-of-spend management fees (8%–15%)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97280" y="3424428"/>
            <a:ext cx="82296" cy="82296"/>
          </a:xfrm>
          <a:prstGeom prst="ellipse">
            <a:avLst/>
          </a:prstGeom>
          <a:solidFill>
            <a:srgbClr val="A9B5B0"/>
          </a:solidFill>
          <a:ln/>
        </p:spPr>
      </p:sp>
      <p:sp>
        <p:nvSpPr>
          <p:cNvPr id="8" name="Text 6"/>
          <p:cNvSpPr/>
          <p:nvPr/>
        </p:nvSpPr>
        <p:spPr>
          <a:xfrm>
            <a:off x="1353312" y="3346704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CPM markups layered on top of publisher rates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97280" y="3973068"/>
            <a:ext cx="82296" cy="82296"/>
          </a:xfrm>
          <a:prstGeom prst="ellipse">
            <a:avLst/>
          </a:prstGeom>
          <a:solidFill>
            <a:srgbClr val="A9B5B0"/>
          </a:solidFill>
          <a:ln/>
        </p:spPr>
      </p:sp>
      <p:sp>
        <p:nvSpPr>
          <p:cNvPr id="10" name="Text 8"/>
          <p:cNvSpPr/>
          <p:nvPr/>
        </p:nvSpPr>
        <p:spPr>
          <a:xfrm>
            <a:off x="1353312" y="3895344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Incentivized to grow your media spend, not your ROI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97280" y="4521708"/>
            <a:ext cx="82296" cy="82296"/>
          </a:xfrm>
          <a:prstGeom prst="ellipse">
            <a:avLst/>
          </a:prstGeom>
          <a:solidFill>
            <a:srgbClr val="A9B5B0"/>
          </a:solidFill>
          <a:ln/>
        </p:spPr>
      </p:sp>
      <p:sp>
        <p:nvSpPr>
          <p:cNvPr id="12" name="Text 10"/>
          <p:cNvSpPr/>
          <p:nvPr/>
        </p:nvSpPr>
        <p:spPr>
          <a:xfrm>
            <a:off x="1353312" y="4443984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reporting — you never see the real CPM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45352" y="1975104"/>
            <a:ext cx="5212080" cy="3108960"/>
          </a:xfrm>
          <a:prstGeom prst="roundRect">
            <a:avLst>
              <a:gd name="adj" fmla="val 1765"/>
            </a:avLst>
          </a:prstGeom>
          <a:solidFill>
            <a:srgbClr val="EEF5E4"/>
          </a:solidFill>
          <a:ln w="9525">
            <a:solidFill>
              <a:srgbClr val="CFE2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2304288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 Flat-Fee Transparent Model</a:t>
            </a:r>
            <a:endParaRPr lang="en-US" sz="1300" dirty="0"/>
          </a:p>
        </p:txBody>
      </p:sp>
      <p:pic>
        <p:nvPicPr>
          <p:cNvPr id="15" name="Image 0" descr="/tmp/claude-0/-home-user-creekside/d78d82c2-fe4b-52a2-a814-7e317a81d374/scratchpad/deck/ico/check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36" y="2825496"/>
            <a:ext cx="173736" cy="17373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867144" y="2798064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4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publisher CPMs — the exact rate charged by the ad exchange</a:t>
            </a:r>
            <a:endParaRPr lang="en-US" sz="1050" dirty="0"/>
          </a:p>
        </p:txBody>
      </p:sp>
      <p:pic>
        <p:nvPicPr>
          <p:cNvPr id="17" name="Image 1" descr="/tmp/claude-0/-home-user-creekside/d78d82c2-fe4b-52a2-a814-7e317a81d374/scratchpad/deck/ico/check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3374136"/>
            <a:ext cx="173736" cy="1737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67144" y="3346704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4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monthly management fee with no media spend cut</a:t>
            </a:r>
            <a:endParaRPr lang="en-US" sz="1050" dirty="0"/>
          </a:p>
        </p:txBody>
      </p:sp>
      <p:pic>
        <p:nvPicPr>
          <p:cNvPr id="19" name="Image 2" descr="/tmp/claude-0/-home-user-creekside/d78d82c2-fe4b-52a2-a814-7e317a81d374/scratchpad/deck/ico/check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922776"/>
            <a:ext cx="173736" cy="1737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67144" y="3895344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4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account minimums with no multi-month lock-in</a:t>
            </a:r>
            <a:endParaRPr lang="en-US" sz="1050" dirty="0"/>
          </a:p>
        </p:txBody>
      </p:sp>
      <p:pic>
        <p:nvPicPr>
          <p:cNvPr id="21" name="Image 3" descr="/tmp/claude-0/-home-user-creekside/d78d82c2-fe4b-52a2-a814-7e317a81d374/scratchpad/deck/ico/check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471416"/>
            <a:ext cx="173736" cy="1737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67144" y="4443984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4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spend visibility across every channel and placement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31520" y="5303520"/>
            <a:ext cx="10728655" cy="822960"/>
          </a:xfrm>
          <a:prstGeom prst="roundRect">
            <a:avLst>
              <a:gd name="adj" fmla="val 5556"/>
            </a:avLst>
          </a:prstGeom>
          <a:solidFill>
            <a:srgbClr val="0F8140"/>
          </a:solidFill>
          <a:ln/>
        </p:spPr>
      </p:sp>
      <p:sp>
        <p:nvSpPr>
          <p:cNvPr id="24" name="Text 18"/>
          <p:cNvSpPr/>
          <p:nvPr/>
        </p:nvSpPr>
        <p:spPr>
          <a:xfrm>
            <a:off x="1042416" y="5358384"/>
            <a:ext cx="10106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incentive is making your campaign work — not burning media budget to inflate a commission check.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31520" y="6327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</a:t>
            </a:r>
            <a:pPr algn="l" indent="0" marL="0">
              <a:buNone/>
            </a:pPr>
            <a:r>
              <a:rPr lang="en-US" sz="800" spc="176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DIGITAL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0362895" y="6327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58368"/>
            <a:ext cx="9509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spc="-40" kern="0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Reporting Built for Service Business Accountability.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975104"/>
            <a:ext cx="5943600" cy="3657600"/>
          </a:xfrm>
          <a:prstGeom prst="roundRect">
            <a:avLst>
              <a:gd name="adj" fmla="val 1500"/>
            </a:avLst>
          </a:prstGeom>
          <a:solidFill>
            <a:srgbClr val="F4F7F2"/>
          </a:solidFill>
          <a:ln/>
        </p:spPr>
      </p:sp>
      <p:pic>
        <p:nvPicPr>
          <p:cNvPr id="4" name="Image 0" descr="/tmp/claude-0/-home-user-creekside/d78d82c2-fe4b-52a2-a814-7e317a81d374/scratchpad/deck/assets/dash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975104"/>
            <a:ext cx="59436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67728" y="1975104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Placement Visibility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967728" y="2322576"/>
            <a:ext cx="44897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reporting on exact streaming networks — Hulu, Roku, Max, Tubi, and more — with CPMs and Video Completion Rates (VCR) broken out by placement.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967728" y="3291840"/>
            <a:ext cx="4489704" cy="7315"/>
          </a:xfrm>
          <a:prstGeom prst="rect">
            <a:avLst/>
          </a:prstGeom>
          <a:solidFill>
            <a:srgbClr val="DEE6DE"/>
          </a:solidFill>
          <a:ln/>
        </p:spPr>
      </p:sp>
      <p:sp>
        <p:nvSpPr>
          <p:cNvPr id="8" name="Text 5"/>
          <p:cNvSpPr/>
          <p:nvPr/>
        </p:nvSpPr>
        <p:spPr>
          <a:xfrm>
            <a:off x="6967728" y="345643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Placement Filtering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67728" y="3803904"/>
            <a:ext cx="44897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optimization excludes non-video display, mobile app clutter, and low-value gaming impressions — keeping 100% of spend on living room TV screens.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67728" y="4773168"/>
            <a:ext cx="4489704" cy="7315"/>
          </a:xfrm>
          <a:prstGeom prst="rect">
            <a:avLst/>
          </a:prstGeom>
          <a:solidFill>
            <a:srgbClr val="DEE6DE"/>
          </a:solidFill>
          <a:ln/>
        </p:spPr>
      </p:sp>
      <p:sp>
        <p:nvSpPr>
          <p:cNvPr id="11" name="Text 8"/>
          <p:cNvSpPr/>
          <p:nvPr/>
        </p:nvSpPr>
        <p:spPr>
          <a:xfrm>
            <a:off x="6967728" y="4937760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Brand Lift Tracking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967728" y="5285232"/>
            <a:ext cx="44897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increases in branded search volume, direct website traffic, and view-through lead conversions.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6327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</a:t>
            </a:r>
            <a:pPr algn="l" indent="0" marL="0">
              <a:buNone/>
            </a:pPr>
            <a:r>
              <a:rPr lang="en-US" sz="800" spc="176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DIGITAL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362895" y="6327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58368"/>
            <a:ext cx="9509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spc="-40" kern="0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the Right Network to Your Local Market Goals.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5175504" cy="457200"/>
          </a:xfrm>
          <a:prstGeom prst="roundRect">
            <a:avLst>
              <a:gd name="adj" fmla="val 10000"/>
            </a:avLst>
          </a:prstGeom>
          <a:solidFill>
            <a:srgbClr val="EEF5E4"/>
          </a:solidFill>
          <a:ln w="9525">
            <a:solidFill>
              <a:srgbClr val="CDE8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2070202"/>
            <a:ext cx="74981" cy="74981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046074" y="2070202"/>
            <a:ext cx="74981" cy="74981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165299"/>
            <a:ext cx="74981" cy="74981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046074" y="2165299"/>
            <a:ext cx="74981" cy="74981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Text 6"/>
          <p:cNvSpPr/>
          <p:nvPr/>
        </p:nvSpPr>
        <p:spPr>
          <a:xfrm>
            <a:off x="1243584" y="1920240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MICROSOFT ADS CTV WHEN…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EEF5E4"/>
          </a:solidFill>
          <a:ln w="11430">
            <a:solidFill>
              <a:srgbClr val="CFE2B8"/>
            </a:solidFill>
            <a:prstDash val="solid"/>
          </a:ln>
        </p:spPr>
      </p:sp>
      <p:pic>
        <p:nvPicPr>
          <p:cNvPr id="10" name="Image 0" descr="/tmp/claude-0/-home-user-creekside/d78d82c2-fe4b-52a2-a814-7e317a81d374/scratchpad/deck/ico/bars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88036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89888" y="277977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Completed View Volume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89888" y="3090672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Completed View (CPCV) bidding drives efficient full-watch delivery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" y="3767328"/>
            <a:ext cx="5175504" cy="7315"/>
          </a:xfrm>
          <a:prstGeom prst="rect">
            <a:avLst/>
          </a:prstGeom>
          <a:solidFill>
            <a:srgbClr val="DEE6DE"/>
          </a:solidFill>
          <a:ln/>
        </p:spPr>
      </p:sp>
      <p:sp>
        <p:nvSpPr>
          <p:cNvPr id="14" name="Shape 1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EEF5E4"/>
          </a:solidFill>
          <a:ln w="11430">
            <a:solidFill>
              <a:srgbClr val="CFE2B8"/>
            </a:solidFill>
            <a:prstDash val="solid"/>
          </a:ln>
        </p:spPr>
      </p:sp>
      <p:pic>
        <p:nvPicPr>
          <p:cNvPr id="15" name="Image 1" descr="/tmp/claude-0/-home-user-creekside/d78d82c2-fe4b-52a2-a814-7e317a81d374/scratchpad/deck/ico/arrow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069080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89888" y="396849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Cross-Channel Retargeting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389888" y="4279392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Re-engage TV viewers across Bing Search and Display via Impression-Based Remarketing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31520" y="4956048"/>
            <a:ext cx="5175504" cy="7315"/>
          </a:xfrm>
          <a:prstGeom prst="rect">
            <a:avLst/>
          </a:prstGeom>
          <a:solidFill>
            <a:srgbClr val="DEE6DE"/>
          </a:solidFill>
          <a:ln/>
        </p:spPr>
      </p:sp>
      <p:sp>
        <p:nvSpPr>
          <p:cNvPr id="19" name="Shape 15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EEF5E4"/>
          </a:solidFill>
          <a:ln w="11430">
            <a:solidFill>
              <a:srgbClr val="CFE2B8"/>
            </a:solidFill>
            <a:prstDash val="solid"/>
          </a:ln>
        </p:spPr>
      </p:sp>
      <p:pic>
        <p:nvPicPr>
          <p:cNvPr id="20" name="Image 2" descr="/tmp/claude-0/-home-user-creekside/d78d82c2-fe4b-52a2-a814-7e317a81d374/scratchpad/deck/ico/home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5780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89888" y="515721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Higher-Income Homeowner Targeting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389888" y="5468112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household demographics pinpoint specific residential ownership profiles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281928" y="1920240"/>
            <a:ext cx="5175504" cy="457200"/>
          </a:xfrm>
          <a:prstGeom prst="roundRect">
            <a:avLst>
              <a:gd name="adj" fmla="val 10000"/>
            </a:avLst>
          </a:prstGeom>
          <a:solidFill>
            <a:srgbClr val="EEF5E4"/>
          </a:solidFill>
          <a:ln w="9525">
            <a:solidFill>
              <a:srgbClr val="CDE8DE"/>
            </a:solidFill>
            <a:prstDash val="solid"/>
          </a:ln>
        </p:spPr>
      </p:sp>
      <p:pic>
        <p:nvPicPr>
          <p:cNvPr id="24" name="Image 3" descr="/tmp/claude-0/-home-user-creekside/d78d82c2-fe4b-52a2-a814-7e317a81d374/scratchpad/deck/assets/google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2066544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93992" y="1920240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GOOGLE PREMIER CTV WHEN…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281928" y="2743200"/>
            <a:ext cx="457200" cy="457200"/>
          </a:xfrm>
          <a:prstGeom prst="ellipse">
            <a:avLst/>
          </a:prstGeom>
          <a:solidFill>
            <a:srgbClr val="EEF5E4"/>
          </a:solidFill>
          <a:ln w="11430">
            <a:solidFill>
              <a:srgbClr val="CFE2B8"/>
            </a:solidFill>
            <a:prstDash val="solid"/>
          </a:ln>
        </p:spPr>
      </p:sp>
      <p:pic>
        <p:nvPicPr>
          <p:cNvPr id="27" name="Image 4" descr="/tmp/claude-0/-home-user-creekside/d78d82c2-fe4b-52a2-a814-7e317a81d374/scratchpad/deck/ico/tv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880360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40296" y="277977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Living-Room Dominance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940296" y="3090672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TV and YouTube Select (top 1% channels) deliver premium connected TV reach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81928" y="3767328"/>
            <a:ext cx="5175504" cy="7315"/>
          </a:xfrm>
          <a:prstGeom prst="rect">
            <a:avLst/>
          </a:prstGeom>
          <a:solidFill>
            <a:srgbClr val="DEE6DE"/>
          </a:solidFill>
          <a:ln/>
        </p:spPr>
      </p:sp>
      <p:sp>
        <p:nvSpPr>
          <p:cNvPr id="31" name="Shape 24"/>
          <p:cNvSpPr/>
          <p:nvPr/>
        </p:nvSpPr>
        <p:spPr>
          <a:xfrm>
            <a:off x="6281928" y="3931920"/>
            <a:ext cx="457200" cy="457200"/>
          </a:xfrm>
          <a:prstGeom prst="ellipse">
            <a:avLst/>
          </a:prstGeom>
          <a:solidFill>
            <a:srgbClr val="EEF5E4"/>
          </a:solidFill>
          <a:ln w="11430">
            <a:solidFill>
              <a:srgbClr val="CFE2B8"/>
            </a:solidFill>
            <a:prstDash val="solid"/>
          </a:ln>
        </p:spPr>
      </p:sp>
      <p:pic>
        <p:nvPicPr>
          <p:cNvPr id="32" name="Image 5" descr="/tmp/claude-0/-home-user-creekside/d78d82c2-fe4b-52a2-a814-7e317a81d374/scratchpad/deck/ico/layers-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069080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40296" y="396849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Google Ecosystem Pairing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940296" y="4279392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integration with Demand Gen, Google Maps, and Search PPC campaigns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281928" y="4956048"/>
            <a:ext cx="5175504" cy="7315"/>
          </a:xfrm>
          <a:prstGeom prst="rect">
            <a:avLst/>
          </a:prstGeom>
          <a:solidFill>
            <a:srgbClr val="DEE6DE"/>
          </a:solidFill>
          <a:ln/>
        </p:spPr>
      </p:sp>
      <p:sp>
        <p:nvSpPr>
          <p:cNvPr id="36" name="Shape 28"/>
          <p:cNvSpPr/>
          <p:nvPr/>
        </p:nvSpPr>
        <p:spPr>
          <a:xfrm>
            <a:off x="6281928" y="5120640"/>
            <a:ext cx="457200" cy="457200"/>
          </a:xfrm>
          <a:prstGeom prst="ellipse">
            <a:avLst/>
          </a:prstGeom>
          <a:solidFill>
            <a:srgbClr val="EEF5E4"/>
          </a:solidFill>
          <a:ln w="11430">
            <a:solidFill>
              <a:srgbClr val="CFE2B8"/>
            </a:solidFill>
            <a:prstDash val="solid"/>
          </a:ln>
        </p:spPr>
      </p:sp>
      <p:pic>
        <p:nvPicPr>
          <p:cNvPr id="37" name="Image 6" descr="/tmp/claude-0/-home-user-creekside/d78d82c2-fe4b-52a2-a814-7e317a81d374/scratchpad/deck/ico/search-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5257800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940296" y="515721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Search Intent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6940296" y="5468112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active Google searchers across local markets with unified frequency control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731520" y="6327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</a:t>
            </a:r>
            <a:pPr algn="l" indent="0" marL="0">
              <a:buNone/>
            </a:pPr>
            <a:r>
              <a:rPr lang="en-US" sz="800" spc="176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DIGITAL</a:t>
            </a:r>
            <a:endParaRPr lang="en-US" sz="800" dirty="0"/>
          </a:p>
        </p:txBody>
      </p:sp>
      <p:sp>
        <p:nvSpPr>
          <p:cNvPr id="41" name="Text 32"/>
          <p:cNvSpPr/>
          <p:nvPr/>
        </p:nvSpPr>
        <p:spPr>
          <a:xfrm>
            <a:off x="10362895" y="6327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58368"/>
            <a:ext cx="9509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spc="-40" kern="0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Market Analysis to Living Room Screens in 4 Steps.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956816"/>
            <a:ext cx="10728655" cy="2670048"/>
          </a:xfrm>
          <a:prstGeom prst="roundRect">
            <a:avLst>
              <a:gd name="adj" fmla="val 1712"/>
            </a:avLst>
          </a:prstGeom>
          <a:solidFill>
            <a:srgbClr val="F4F7F2"/>
          </a:solidFill>
          <a:ln w="9525">
            <a:solidFill>
              <a:srgbClr val="DEE6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5680" y="2395728"/>
            <a:ext cx="1225296" cy="12252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8140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A">
                <a:alpha val="7000"/>
              </a:srgbClr>
            </a:outerShdw>
          </a:effectLst>
        </p:spPr>
      </p:sp>
      <p:pic>
        <p:nvPicPr>
          <p:cNvPr id="5" name="Image 0" descr="/tmp/claude-0/-home-user-creekside/d78d82c2-fe4b-52a2-a814-7e317a81d374/scratchpad/deck/ico/map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5521" y="2775570"/>
            <a:ext cx="465612" cy="465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1360" y="385876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Audit</a:t>
            </a:r>
            <a:endParaRPr lang="en-US" sz="1150" dirty="0"/>
          </a:p>
        </p:txBody>
      </p:sp>
      <p:pic>
        <p:nvPicPr>
          <p:cNvPr id="7" name="Image 1" descr="/tmp/claude-0/-home-user-creekside/d78d82c2-fe4b-52a2-a814-7e317a81d374/scratchpad/deck/ico/arrow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152" y="2880360"/>
            <a:ext cx="256032" cy="2560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477360" y="2395728"/>
            <a:ext cx="1225296" cy="12252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8140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A">
                <a:alpha val="7000"/>
              </a:srgbClr>
            </a:outerShdw>
          </a:effectLst>
        </p:spPr>
      </p:sp>
      <p:pic>
        <p:nvPicPr>
          <p:cNvPr id="9" name="Image 2" descr="/tmp/claude-0/-home-user-creekside/d78d82c2-fe4b-52a2-a814-7e317a81d374/scratchpad/deck/ico/bars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201" y="2775570"/>
            <a:ext cx="465612" cy="4656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03040" y="385876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Check</a:t>
            </a:r>
            <a:endParaRPr lang="en-US" sz="1150" dirty="0"/>
          </a:p>
        </p:txBody>
      </p:sp>
      <p:pic>
        <p:nvPicPr>
          <p:cNvPr id="11" name="Image 3" descr="/tmp/claude-0/-home-user-creekside/d78d82c2-fe4b-52a2-a814-7e317a81d374/scratchpad/deck/ico/arrow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832" y="2880360"/>
            <a:ext cx="256032" cy="25603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489040" y="2395728"/>
            <a:ext cx="1225296" cy="12252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8140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A">
                <a:alpha val="7000"/>
              </a:srgbClr>
            </a:outerShdw>
          </a:effectLst>
        </p:spPr>
      </p:sp>
      <p:pic>
        <p:nvPicPr>
          <p:cNvPr id="13" name="Image 4" descr="/tmp/claude-0/-home-user-creekside/d78d82c2-fe4b-52a2-a814-7e317a81d374/scratchpad/deck/ico/video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881" y="2775570"/>
            <a:ext cx="465612" cy="4656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14720" y="385876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Align</a:t>
            </a:r>
            <a:endParaRPr lang="en-US" sz="1150" dirty="0"/>
          </a:p>
        </p:txBody>
      </p:sp>
      <p:pic>
        <p:nvPicPr>
          <p:cNvPr id="15" name="Image 5" descr="/tmp/claude-0/-home-user-creekside/d78d82c2-fe4b-52a2-a814-7e317a81d374/scratchpad/deck/ico/arrow-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9512" y="2880360"/>
            <a:ext cx="256032" cy="256032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8500720" y="2395728"/>
            <a:ext cx="1225296" cy="12252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8140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A">
                <a:alpha val="7000"/>
              </a:srgbClr>
            </a:outerShdw>
          </a:effectLst>
        </p:spPr>
      </p:sp>
      <p:pic>
        <p:nvPicPr>
          <p:cNvPr id="17" name="Image 6" descr="/tmp/claude-0/-home-user-creekside/d78d82c2-fe4b-52a2-a814-7e317a81d374/scratchpad/deck/ico/rocket-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0561" y="2775570"/>
            <a:ext cx="465612" cy="46561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226400" y="385876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&amp; Measure</a:t>
            </a:r>
            <a:endParaRPr lang="en-US" sz="1150" dirty="0"/>
          </a:p>
        </p:txBody>
      </p:sp>
      <p:sp>
        <p:nvSpPr>
          <p:cNvPr id="19" name="Shape 10"/>
          <p:cNvSpPr/>
          <p:nvPr/>
        </p:nvSpPr>
        <p:spPr>
          <a:xfrm>
            <a:off x="731520" y="5029200"/>
            <a:ext cx="10728655" cy="914400"/>
          </a:xfrm>
          <a:prstGeom prst="roundRect">
            <a:avLst>
              <a:gd name="adj" fmla="val 5000"/>
            </a:avLst>
          </a:prstGeom>
          <a:solidFill>
            <a:srgbClr val="0F8140"/>
          </a:solidFill>
          <a:ln/>
        </p:spPr>
      </p:sp>
      <p:sp>
        <p:nvSpPr>
          <p:cNvPr id="20" name="Text 11"/>
          <p:cNvSpPr/>
          <p:nvPr/>
        </p:nvSpPr>
        <p:spPr>
          <a:xfrm>
            <a:off x="1042416" y="5084064"/>
            <a:ext cx="1010686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existing video creative, CAMP can validate your market's streaming inventory and launch a hyper-targeted campaign in days — no months-long production cycle required.</a:t>
            </a:r>
            <a:endParaRPr lang="en-US" sz="1100" dirty="0"/>
          </a:p>
        </p:txBody>
      </p:sp>
      <p:sp>
        <p:nvSpPr>
          <p:cNvPr id="21" name="Text 12"/>
          <p:cNvSpPr/>
          <p:nvPr/>
        </p:nvSpPr>
        <p:spPr>
          <a:xfrm>
            <a:off x="731520" y="6327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</a:t>
            </a:r>
            <a:pPr algn="l" indent="0" marL="0">
              <a:buNone/>
            </a:pPr>
            <a:r>
              <a:rPr lang="en-US" sz="800" spc="176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DIGITAL</a:t>
            </a:r>
            <a:endParaRPr lang="en-US" sz="800" dirty="0"/>
          </a:p>
        </p:txBody>
      </p:sp>
      <p:sp>
        <p:nvSpPr>
          <p:cNvPr id="22" name="Text 13"/>
          <p:cNvSpPr/>
          <p:nvPr/>
        </p:nvSpPr>
        <p:spPr>
          <a:xfrm>
            <a:off x="10362895" y="6327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0F8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reekside/d78d82c2-fe4b-52a2-a814-7e317a81d374/scratchpad/deck/assets/cou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0368" y="731520"/>
            <a:ext cx="6227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Own the Big Screen in Your Service Territory?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30368" y="1883664"/>
            <a:ext cx="622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8C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</a:t>
            </a:r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complimentary local CTV audit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8C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commitment required. Here's what you'll receive: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0368" y="2487168"/>
            <a:ext cx="3026664" cy="1554480"/>
          </a:xfrm>
          <a:prstGeom prst="roundRect">
            <a:avLst>
              <a:gd name="adj" fmla="val 3529"/>
            </a:avLst>
          </a:prstGeom>
          <a:solidFill>
            <a:srgbClr val="0B4526"/>
          </a:solidFill>
          <a:ln w="9525">
            <a:solidFill>
              <a:srgbClr val="1A5E3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0" y="2688336"/>
            <a:ext cx="384048" cy="384048"/>
          </a:xfrm>
          <a:prstGeom prst="ellipse">
            <a:avLst/>
          </a:prstGeom>
          <a:solidFill>
            <a:srgbClr val="0B4526"/>
          </a:solidFill>
          <a:ln w="11430">
            <a:solidFill>
              <a:srgbClr val="A9C63C"/>
            </a:solidFill>
            <a:prstDash val="solid"/>
          </a:ln>
        </p:spPr>
      </p:sp>
      <p:pic>
        <p:nvPicPr>
          <p:cNvPr id="7" name="Image 1" descr="/tmp/claude-0/-home-user-creekside/d78d82c2-fe4b-52a2-a814-7e317a81d374/scratchpad/deck/ico/pin-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614" y="2803550"/>
            <a:ext cx="153619" cy="1536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0" y="32004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 Forecast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0" y="349300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8C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streaming volume for your exact service zip codes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8430768" y="2487168"/>
            <a:ext cx="3026664" cy="1554480"/>
          </a:xfrm>
          <a:prstGeom prst="roundRect">
            <a:avLst>
              <a:gd name="adj" fmla="val 3529"/>
            </a:avLst>
          </a:prstGeom>
          <a:solidFill>
            <a:srgbClr val="0B4526"/>
          </a:solidFill>
          <a:ln w="9525">
            <a:solidFill>
              <a:srgbClr val="1A5E34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86800" y="2688336"/>
            <a:ext cx="384048" cy="384048"/>
          </a:xfrm>
          <a:prstGeom prst="ellipse">
            <a:avLst/>
          </a:prstGeom>
          <a:solidFill>
            <a:srgbClr val="0B4526"/>
          </a:solidFill>
          <a:ln w="11430">
            <a:solidFill>
              <a:srgbClr val="A9C63C"/>
            </a:solidFill>
            <a:prstDash val="solid"/>
          </a:ln>
        </p:spPr>
      </p:sp>
      <p:pic>
        <p:nvPicPr>
          <p:cNvPr id="12" name="Image 2" descr="/tmp/claude-0/-home-user-creekside/d78d82c2-fe4b-52a2-a814-7e317a81d374/scratchpad/deck/ico/scale-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2014" y="2803550"/>
            <a:ext cx="153619" cy="1536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0" y="32004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Allocation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686800" y="349300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8C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Google vs. Microsoft mix for your trade and territory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230368" y="4206240"/>
            <a:ext cx="6227064" cy="1060704"/>
          </a:xfrm>
          <a:prstGeom prst="roundRect">
            <a:avLst>
              <a:gd name="adj" fmla="val 5172"/>
            </a:avLst>
          </a:prstGeom>
          <a:solidFill>
            <a:srgbClr val="0B4526"/>
          </a:solidFill>
          <a:ln w="9525">
            <a:solidFill>
              <a:srgbClr val="1A5E3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0" y="4416552"/>
            <a:ext cx="384048" cy="384048"/>
          </a:xfrm>
          <a:prstGeom prst="ellipse">
            <a:avLst/>
          </a:prstGeom>
          <a:solidFill>
            <a:srgbClr val="0B4526"/>
          </a:solidFill>
          <a:ln w="11430">
            <a:solidFill>
              <a:srgbClr val="A9C63C"/>
            </a:solidFill>
            <a:prstDash val="solid"/>
          </a:ln>
        </p:spPr>
      </p:sp>
      <p:pic>
        <p:nvPicPr>
          <p:cNvPr id="17" name="Image 3" descr="/tmp/claude-0/-home-user-creekside/d78d82c2-fe4b-52a2-a814-7e317a81d374/scratchpad/deck/ico/dollar-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614" y="4531766"/>
            <a:ext cx="153619" cy="1536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16752" y="4443984"/>
            <a:ext cx="5184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CPMs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016752" y="4718304"/>
            <a:ext cx="5184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8C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local CPMs and completed view counts before you commit a dollar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230368" y="5431536"/>
            <a:ext cx="6227064" cy="786384"/>
          </a:xfrm>
          <a:prstGeom prst="roundRect">
            <a:avLst>
              <a:gd name="adj" fmla="val 5814"/>
            </a:avLst>
          </a:prstGeom>
          <a:solidFill>
            <a:srgbClr val="A9C63C"/>
          </a:solidFill>
          <a:ln/>
        </p:spPr>
      </p:sp>
      <p:sp>
        <p:nvSpPr>
          <p:cNvPr id="21" name="Text 15"/>
          <p:cNvSpPr/>
          <p:nvPr/>
        </p:nvSpPr>
        <p:spPr>
          <a:xfrm>
            <a:off x="5522976" y="5477256"/>
            <a:ext cx="5641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b="1" dirty="0">
                <a:solidFill>
                  <a:srgbClr val="063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your CAMP Digital strategist today to build your custom CTV strategy — and see your market's inventory before spending a single dollar.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230368" y="63825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800" b="1" spc="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</a:t>
            </a:r>
            <a:pPr algn="l" indent="0" marL="0">
              <a:buNone/>
            </a:pPr>
            <a:r>
              <a:rPr lang="en-US" sz="800" spc="176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DIGITAL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0362895" y="6382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A9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CAMP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TV Advertising. Direct Publisher Costs. Zero Markups.</dc:title>
  <dc:subject>PptxGenJS Presentation</dc:subject>
  <dc:creator>CAMP Digital</dc:creator>
  <cp:lastModifiedBy>CAMP Digital</cp:lastModifiedBy>
  <cp:revision>1</cp:revision>
  <dcterms:created xsi:type="dcterms:W3CDTF">2026-08-17T02:58:51Z</dcterms:created>
  <dcterms:modified xsi:type="dcterms:W3CDTF">2026-08-17T02:58:51Z</dcterms:modified>
</cp:coreProperties>
</file>