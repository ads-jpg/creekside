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ter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C5F878-439A-4895-AF18-97C3BA531A98}">
  <a:tblStyle styleId="{F6C5F878-439A-4895-AF18-97C3BA531A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94942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94942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49c98d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849c98d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49c98d5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49c98d5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49c98d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49c98d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94942ce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794942ce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94942ce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794942c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94942ce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794942ce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94942ce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794942ce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794942ce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794942ce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94942ce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794942ce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794942cee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794942ce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794942cee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794942cee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84f4335b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84f4335b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849c98d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f849c98d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849c98d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849c98d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849c98d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849c98d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Monarch Home - Media Plan worksheet. In-market line: 1,800,000 impressions / $18,000 (row 6). Remarketing line: 100,000 impressions / $2,000 (row 9). Workbook TOTAL cell M18 reads $20,000, which agrees with the sum of both line items. Implied CPMs are derived, not quoted in the workbook.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849c98d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f849c98d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Key change vs. a smaller plan: at an estimated 1.9M impressions in a 30-day window the campaign clears the ~1.5M threshold the Ad Effectiveness Study requires, so both added-value components are available from the first flight rather than at a later scale step.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849c98d5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f849c98d5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5d10e23a_7_0)">
  <p:cSld name="Generated (g3f65d10e23a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12932" l="5389" r="5094" t="44"/>
          <a:stretch/>
        </p:blipFill>
        <p:spPr>
          <a:xfrm>
            <a:off x="0" y="0"/>
            <a:ext cx="3440400" cy="447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3857625" y="642938"/>
            <a:ext cx="4786425" cy="3929175"/>
            <a:chOff x="5143500" y="857250"/>
            <a:chExt cx="6381900" cy="5238900"/>
          </a:xfrm>
        </p:grpSpPr>
        <p:grpSp>
          <p:nvGrpSpPr>
            <p:cNvPr id="57" name="Google Shape;57;p14"/>
            <p:cNvGrpSpPr/>
            <p:nvPr/>
          </p:nvGrpSpPr>
          <p:grpSpPr>
            <a:xfrm>
              <a:off x="8953500" y="857250"/>
              <a:ext cx="2571900" cy="285900"/>
              <a:chOff x="0" y="0"/>
              <a:chExt cx="2571900" cy="2859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25719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chemeClr val="lt1"/>
                    </a:solidFill>
                    <a:highlight>
                      <a:srgbClr val="A7C142"/>
                    </a:highlight>
                  </a:rPr>
                  <a:t>CAMPAIGN PERFORMANCE REVIEW</a:t>
                </a:r>
                <a:endParaRPr b="1" sz="700">
                  <a:solidFill>
                    <a:schemeClr val="lt1"/>
                  </a:solidFill>
                  <a:highlight>
                    <a:srgbClr val="A7C142"/>
                  </a:highlight>
                </a:endParaRPr>
              </a:p>
            </p:txBody>
          </p:sp>
        </p:grpSp>
        <p:sp>
          <p:nvSpPr>
            <p:cNvPr id="60" name="Google Shape;60;p14"/>
            <p:cNvSpPr txBox="1"/>
            <p:nvPr/>
          </p:nvSpPr>
          <p:spPr>
            <a:xfrm>
              <a:off x="5143500" y="180975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A7C142"/>
                  </a:solidFill>
                </a:rPr>
                <a:t>CAMP DIGITAL PREMIUM STREAMING OPTIMIZATION</a:t>
              </a:r>
              <a:endParaRPr b="1" sz="700">
                <a:solidFill>
                  <a:srgbClr val="A7C142"/>
                </a:solidFill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5143500" y="2190750"/>
              <a:ext cx="638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</a:rPr>
                <a:t>Happy Camper Home Services</a:t>
              </a:r>
              <a:endParaRPr b="1" sz="2400">
                <a:solidFill>
                  <a:srgbClr val="FFFFFF"/>
                </a:solidFill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5143500" y="2857500"/>
              <a:ext cx="638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A7C142"/>
                  </a:solidFill>
                </a:rPr>
                <a:t>Premium Streaming (OTT / CTV) Campaign Review</a:t>
              </a:r>
              <a:endParaRPr b="1" sz="1800">
                <a:solidFill>
                  <a:srgbClr val="A7C142"/>
                </a:solidFill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143500" y="400050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A7C142"/>
                  </a:solidFill>
                </a:rPr>
                <a:t>Full Month Performance Report (July 1 – July 31)</a:t>
              </a:r>
              <a:endParaRPr b="1" sz="900">
                <a:solidFill>
                  <a:srgbClr val="A7C142"/>
                </a:solidFill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143500" y="4476750"/>
              <a:ext cx="6381900" cy="14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143500" y="46672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Prepared by:</a:t>
              </a:r>
              <a:r>
                <a:rPr lang="en" sz="800">
                  <a:solidFill>
                    <a:srgbClr val="FFFFFF"/>
                  </a:solidFill>
                </a:rPr>
                <a:t> CAMP Digital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Platform:</a:t>
              </a:r>
              <a:r>
                <a:rPr lang="en" sz="800">
                  <a:solidFill>
                    <a:srgbClr val="FFFFFF"/>
                  </a:solidFill>
                </a:rPr>
                <a:t> Microsoft Advertising Network — Connected TV &amp; Premium OTT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Core Market:</a:t>
              </a:r>
              <a:r>
                <a:rPr lang="en" sz="800">
                  <a:solidFill>
                    <a:srgbClr val="FFFFFF"/>
                  </a:solidFill>
                </a:rPr>
                <a:t> Harrisburg-Lancaster-Lebanon-York, PA DMA</a:t>
              </a:r>
              <a:endParaRPr sz="8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2874" r="2884" t="0"/>
          <a:stretch/>
        </p:blipFill>
        <p:spPr>
          <a:xfrm>
            <a:off x="5524500" y="0"/>
            <a:ext cx="36195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5"/>
          <p:cNvGrpSpPr/>
          <p:nvPr/>
        </p:nvGrpSpPr>
        <p:grpSpPr>
          <a:xfrm>
            <a:off x="476250" y="428625"/>
            <a:ext cx="4762500" cy="1143000"/>
            <a:chOff x="0" y="0"/>
            <a:chExt cx="4762500" cy="11430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Same Big-Screen Placements as National Brands. Zero Middlemen.</a:t>
              </a:r>
              <a:endParaRPr b="1" sz="240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476250" y="1714500"/>
            <a:ext cx="2286000" cy="1762200"/>
            <a:chOff x="0" y="0"/>
            <a:chExt cx="2286000" cy="17622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0"/>
              <a:ext cx="22860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0" y="0"/>
              <a:ext cx="228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Premium Publisher Access</a:t>
              </a:r>
              <a:endParaRPr b="1" sz="125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Full-screen, non-skippable living-room TV ads across Max, Hulu, Disney+, Roku, Paramount+, YouTube TV, Peacock, Samsung TV+, Sling, and Tubi.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2952750" y="1714500"/>
            <a:ext cx="2286000" cy="1762200"/>
            <a:chOff x="0" y="0"/>
            <a:chExt cx="2286000" cy="17622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22860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0" y="0"/>
              <a:ext cx="2286000" cy="17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Zip-Code &amp; DMA Precision</a:t>
              </a:r>
              <a:endParaRPr b="1" sz="125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Hyper-local targeting ensures your ads only air inside your active plumbing, HVAC, or electrical service footprint.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76250" y="3667125"/>
            <a:ext cx="4762500" cy="1047900"/>
            <a:chOff x="0" y="0"/>
            <a:chExt cx="4762500" cy="10479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47625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0" y="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Unbiased Platform Access</a:t>
              </a:r>
              <a:endParaRPr b="1" sz="125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Agnostic placement across both Microsoft Advertising and Google Ads networks — we optimize for your results, not platform commissions.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476250" y="285750"/>
            <a:ext cx="1238400" cy="209700"/>
            <a:chOff x="0" y="0"/>
            <a:chExt cx="1238400" cy="209700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1238400" cy="209700"/>
            </a:xfrm>
            <a:prstGeom prst="roundRect">
              <a:avLst>
                <a:gd fmla="val 1818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0" y="0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INVENTORY ACCESS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476250" y="571500"/>
            <a:ext cx="8191500" cy="762150"/>
            <a:chOff x="0" y="0"/>
            <a:chExt cx="8191500" cy="762150"/>
          </a:xfrm>
        </p:grpSpPr>
        <p:sp>
          <p:nvSpPr>
            <p:cNvPr id="91" name="Google Shape;91;p16"/>
            <p:cNvSpPr txBox="1"/>
            <p:nvPr/>
          </p:nvSpPr>
          <p:spPr>
            <a:xfrm>
              <a:off x="0" y="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The Same Big-Screen Placements as National Brands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0" y="400050"/>
              <a:ext cx="8191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Direct access to premium streaming inventory — full-screen, non-skippable, sound-on advertising delivered on television screens inside premium content environments.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476250" y="1476375"/>
            <a:ext cx="1162200" cy="695400"/>
            <a:chOff x="0" y="0"/>
            <a:chExt cx="1162200" cy="695400"/>
          </a:xfrm>
        </p:grpSpPr>
        <p:sp>
          <p:nvSpPr>
            <p:cNvPr id="94" name="Google Shape;94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YouTube Select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1733550" y="1476375"/>
            <a:ext cx="1162200" cy="695400"/>
            <a:chOff x="0" y="0"/>
            <a:chExt cx="1162200" cy="6954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Hulu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2990850" y="1476375"/>
            <a:ext cx="1162200" cy="695400"/>
            <a:chOff x="0" y="0"/>
            <a:chExt cx="1162200" cy="6954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Disney+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248150" y="1476375"/>
            <a:ext cx="1162200" cy="695400"/>
            <a:chOff x="0" y="0"/>
            <a:chExt cx="1162200" cy="6954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476250" y="2266950"/>
            <a:ext cx="1162200" cy="695400"/>
            <a:chOff x="0" y="0"/>
            <a:chExt cx="1162200" cy="6954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Paramount+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1733550" y="2266950"/>
            <a:ext cx="1162200" cy="695400"/>
            <a:chOff x="0" y="0"/>
            <a:chExt cx="1162200" cy="695400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Peacock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6"/>
          <p:cNvGrpSpPr/>
          <p:nvPr/>
        </p:nvGrpSpPr>
        <p:grpSpPr>
          <a:xfrm>
            <a:off x="2990850" y="2266950"/>
            <a:ext cx="1162200" cy="695400"/>
            <a:chOff x="0" y="0"/>
            <a:chExt cx="1162200" cy="695400"/>
          </a:xfrm>
        </p:grpSpPr>
        <p:sp>
          <p:nvSpPr>
            <p:cNvPr id="112" name="Google Shape;112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Roku Channel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4248150" y="2266950"/>
            <a:ext cx="1162200" cy="695400"/>
            <a:chOff x="0" y="0"/>
            <a:chExt cx="1162200" cy="6954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Samsung TV Plus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76250" y="3057525"/>
            <a:ext cx="1162200" cy="695400"/>
            <a:chOff x="0" y="0"/>
            <a:chExt cx="1162200" cy="695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Pluto TV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1733550" y="3057525"/>
            <a:ext cx="1162200" cy="695400"/>
            <a:chOff x="0" y="0"/>
            <a:chExt cx="1162200" cy="6954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Tubi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2990850" y="3057525"/>
            <a:ext cx="1162200" cy="695400"/>
            <a:chOff x="0" y="0"/>
            <a:chExt cx="1162200" cy="6954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ESPN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4248150" y="3057525"/>
            <a:ext cx="1162200" cy="695400"/>
            <a:chOff x="0" y="0"/>
            <a:chExt cx="1162200" cy="695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1622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0" y="0"/>
              <a:ext cx="11622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Prime Video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5619750" y="1476375"/>
            <a:ext cx="3048000" cy="695400"/>
            <a:chOff x="0" y="0"/>
            <a:chExt cx="3048000" cy="6954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1F6E9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Hyper-local by design</a:t>
              </a:r>
              <a:endParaRPr b="1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Delivery is confined to your active service footprint — down to specific cities and ZIP codes, not the whole DMA.</a:t>
              </a:r>
              <a:endParaRPr b="0" sz="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5619750" y="2266950"/>
            <a:ext cx="3048000" cy="695400"/>
            <a:chOff x="0" y="0"/>
            <a:chExt cx="3048000" cy="6954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Unbiased placement</a:t>
              </a:r>
              <a:endParaRPr b="1" sz="925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Options across both the Microsoft and Google networks, chosen on performance rather than on which inventory we happen to resell.</a:t>
              </a:r>
              <a:endParaRPr b="0" sz="74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5619750" y="3057525"/>
            <a:ext cx="3048000" cy="695400"/>
            <a:chOff x="0" y="0"/>
            <a:chExt cx="3048000" cy="695400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3048000" cy="695400"/>
            </a:xfrm>
            <a:prstGeom prst="roundRect">
              <a:avLst>
                <a:gd fmla="val 82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0" y="0"/>
              <a:ext cx="3048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Television-grade recall</a:t>
              </a:r>
              <a:endParaRPr b="1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Full-screen, sound-on exposure on the household TV builds significantly stronger recall than mobile advertising alone.</a:t>
              </a:r>
              <a:endParaRPr b="0" sz="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476250" y="3905250"/>
            <a:ext cx="8191500" cy="571500"/>
            <a:chOff x="0" y="0"/>
            <a:chExt cx="8191500" cy="5715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8191500" cy="571500"/>
            </a:xfrm>
            <a:prstGeom prst="roundRect">
              <a:avLst>
                <a:gd fmla="val 666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0" y="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BOUGHT DIRECT, NOT RESOLD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Every environment above is purchased through the Microsoft or Google engines at publisher cost — the same inventory national advertisers buy, without a reseller standing between Tri Peaks and the impression.</a:t>
              </a:r>
              <a:endParaRPr b="0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476250" y="4667250"/>
            <a:ext cx="8191650" cy="190500"/>
            <a:chOff x="0" y="0"/>
            <a:chExt cx="8191650" cy="190500"/>
          </a:xfrm>
        </p:grpSpPr>
        <p:sp>
          <p:nvSpPr>
            <p:cNvPr id="142" name="Google Shape;142;p16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Tri Peaks Air · </a:t>
              </a:r>
              <a:r>
                <a:rPr lang="en" sz="800">
                  <a:solidFill>
                    <a:srgbClr val="94A3B8"/>
                  </a:solidFill>
                </a:rPr>
                <a:t>September</a:t>
              </a:r>
              <a:r>
                <a:rPr b="0"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2026</a:t>
              </a:r>
              <a:endParaRPr b="0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79057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476250" y="428625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Building Brand Demand to Lower Your PPC Cost-Per-Lead.</a:t>
            </a:r>
            <a:endParaRPr b="1" sz="222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790575" y="1076325"/>
            <a:ext cx="3752850" cy="3371850"/>
            <a:chOff x="790575" y="1076325"/>
            <a:chExt cx="3752850" cy="3371850"/>
          </a:xfrm>
        </p:grpSpPr>
        <p:sp>
          <p:nvSpPr>
            <p:cNvPr id="150" name="Google Shape;150;p17"/>
            <p:cNvSpPr/>
            <p:nvPr/>
          </p:nvSpPr>
          <p:spPr>
            <a:xfrm>
              <a:off x="1885950" y="107632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943100" y="113347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2552700" y="1285875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2000250" y="1571625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CTV Awareness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(top-of-mind brand trust on living room screens)</a:t>
              </a:r>
              <a:endParaRPr b="0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790575" y="288607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47725" y="294322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476375" y="3095625"/>
              <a:ext cx="190500" cy="1620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904875" y="33337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Lower CPL and Higher PPC Conversion Rates</a:t>
              </a:r>
              <a:endParaRPr b="1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(higher CTR, lower acquisition cost)</a:t>
              </a:r>
              <a:endParaRPr b="0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981325" y="2886075"/>
              <a:ext cx="1562100" cy="1562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038475" y="2943225"/>
              <a:ext cx="1447800" cy="1447800"/>
            </a:xfrm>
            <a:prstGeom prst="ellipse">
              <a:avLst/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3667125" y="3095625"/>
              <a:ext cx="190500" cy="209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32727"/>
                  </a:lnTo>
                  <a:lnTo>
                    <a:pt x="120000" y="87273"/>
                  </a:lnTo>
                  <a:lnTo>
                    <a:pt x="60000" y="120000"/>
                  </a:lnTo>
                  <a:lnTo>
                    <a:pt x="0" y="87273"/>
                  </a:lnTo>
                  <a:lnTo>
                    <a:pt x="0" y="32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3095625" y="3381375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Branded Searches</a:t>
              </a:r>
              <a:endParaRPr b="1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(homeowners search your name directly)</a:t>
              </a:r>
              <a:endParaRPr b="0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1666875" y="2047875"/>
              <a:ext cx="619200" cy="7620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cubicBezTo>
                    <a:pt x="27692" y="60000"/>
                    <a:pt x="73846" y="15000"/>
                    <a:pt x="12000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1809750" y="235267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048000" y="2047875"/>
              <a:ext cx="619200" cy="7620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46154" y="15000"/>
                    <a:pt x="92308" y="60000"/>
                    <a:pt x="120000" y="12000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429000" y="235267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2190750" y="3952875"/>
              <a:ext cx="952500" cy="954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cubicBezTo>
                    <a:pt x="84000" y="120000"/>
                    <a:pt x="36000" y="120000"/>
                    <a:pt x="0" y="0"/>
                  </a:cubicBez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2619375" y="3971925"/>
              <a:ext cx="95400" cy="95400"/>
            </a:xfrm>
            <a:prstGeom prst="ellipse">
              <a:avLst/>
            </a:prstGeom>
            <a:solidFill>
              <a:srgbClr val="003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4953000" y="1381125"/>
            <a:ext cx="3714900" cy="3095475"/>
            <a:chOff x="4953000" y="1381125"/>
            <a:chExt cx="3714900" cy="3095475"/>
          </a:xfrm>
        </p:grpSpPr>
        <p:sp>
          <p:nvSpPr>
            <p:cNvPr id="169" name="Google Shape;169;p17"/>
            <p:cNvSpPr/>
            <p:nvPr/>
          </p:nvSpPr>
          <p:spPr>
            <a:xfrm>
              <a:off x="4953000" y="1381125"/>
              <a:ext cx="3714900" cy="1285800"/>
            </a:xfrm>
            <a:prstGeom prst="roundRect">
              <a:avLst>
                <a:gd fmla="val 5925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5143500" y="1524000"/>
              <a:ext cx="33339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Search &amp; TV Working Together</a:t>
              </a:r>
              <a:endParaRPr b="1" sz="13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CTV creates top-of-mind trust. Search PPC captures the appointment when the repair is needed. Together, they compound your results.</a:t>
              </a:r>
              <a:endParaRPr b="0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4953000" y="2857500"/>
              <a:ext cx="37149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5143500" y="3000375"/>
              <a:ext cx="3333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Cross-Channel Retargeting</a:t>
              </a:r>
              <a:endParaRPr b="1" sz="13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9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Microsoft IMBR: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Retarget TV viewers with follow-up Search, Native, or Display ads</a:t>
              </a:r>
              <a:endParaRPr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950">
                  <a:solidFill>
                    <a:srgbClr val="003726"/>
                  </a:solidFill>
                  <a:latin typeface="Arial"/>
                  <a:ea typeface="Arial"/>
                  <a:cs typeface="Arial"/>
                  <a:sym typeface="Arial"/>
                </a:rPr>
                <a:t>Google Demand Gen:</a:t>
              </a:r>
              <a:r>
                <a:rPr lang="en" sz="9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Re-engage warm streaming audiences across YouTube Shorts, Gmail, and Discover</a:t>
              </a:r>
              <a:endParaRPr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8"/>
          <p:cNvGrpSpPr/>
          <p:nvPr/>
        </p:nvGrpSpPr>
        <p:grpSpPr>
          <a:xfrm>
            <a:off x="500063" y="400050"/>
            <a:ext cx="1386000" cy="178650"/>
            <a:chOff x="0" y="0"/>
            <a:chExt cx="1848000" cy="2382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CAMPAIGN STATUS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180" name="Google Shape;180;p18"/>
          <p:cNvSpPr txBox="1"/>
          <p:nvPr/>
        </p:nvSpPr>
        <p:spPr>
          <a:xfrm>
            <a:off x="500063" y="671513"/>
            <a:ext cx="8143800" cy="67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66666"/>
                </a:solidFill>
              </a:rPr>
              <a:t>Premium Streaming Pilot: Establishing the Local Baseline</a:t>
            </a:r>
            <a:endParaRPr b="1" sz="2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Our July campaign successfully positioned Happy Camper Home Services as the dominant local plumbing brand on big-screen TVs across the Harrisburg-Lancaster-Lebanon-York DMA.</a:t>
            </a:r>
            <a:endParaRPr sz="800">
              <a:solidFill>
                <a:srgbClr val="666666"/>
              </a:solidFill>
            </a:endParaRPr>
          </a:p>
        </p:txBody>
      </p:sp>
      <p:grpSp>
        <p:nvGrpSpPr>
          <p:cNvPr id="181" name="Google Shape;181;p18"/>
          <p:cNvGrpSpPr/>
          <p:nvPr/>
        </p:nvGrpSpPr>
        <p:grpSpPr>
          <a:xfrm>
            <a:off x="500063" y="1464469"/>
            <a:ext cx="4029075" cy="1014525"/>
            <a:chOff x="0" y="0"/>
            <a:chExt cx="5372100" cy="13527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TOTAL BUDGET INVESTED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$10,000.00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100% budget utilization; $19.26 overspend credited back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4614863" y="1464469"/>
            <a:ext cx="4029075" cy="1014525"/>
            <a:chOff x="0" y="0"/>
            <a:chExt cx="5372100" cy="13527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TOTAL AD IMPRESSIONS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1,127,322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Exceeded 1.1M video views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500063" y="2578894"/>
            <a:ext cx="4029075" cy="1014525"/>
            <a:chOff x="0" y="0"/>
            <a:chExt cx="5372100" cy="13527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BLENDED CAMPAIGN CPM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3726"/>
                  </a:solidFill>
                </a:rPr>
                <a:t>$8.89</a:t>
              </a:r>
              <a:endParaRPr b="1" sz="2600">
                <a:solidFill>
                  <a:srgbClr val="003726"/>
                </a:solidFill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vs. $20.00–$40.00 industry average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4614863" y="2578894"/>
            <a:ext cx="4029075" cy="1014525"/>
            <a:chOff x="0" y="0"/>
            <a:chExt cx="5372100" cy="13527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5372100" cy="1352700"/>
            </a:xfrm>
            <a:prstGeom prst="roundRect">
              <a:avLst>
                <a:gd fmla="val 46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71450" y="133350"/>
              <a:ext cx="502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CORE DMA DELIVERY</a:t>
              </a:r>
              <a:endParaRPr b="1" sz="700">
                <a:solidFill>
                  <a:srgbClr val="666666"/>
                </a:solidFill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171450" y="342900"/>
              <a:ext cx="50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98.6%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71450" y="990600"/>
              <a:ext cx="5029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Harrisburg-Lancaster-Lebanon-York DMA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500075" y="3693323"/>
            <a:ext cx="8143875" cy="678584"/>
            <a:chOff x="0" y="0"/>
            <a:chExt cx="10858500" cy="13812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10858500" cy="1381200"/>
            </a:xfrm>
            <a:prstGeom prst="roundRect">
              <a:avLst>
                <a:gd fmla="val 4599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3" name="Google Shape;20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400" y="190500"/>
              <a:ext cx="190500" cy="152400"/>
            </a:xfrm>
            <a:prstGeom prst="rect">
              <a:avLst/>
            </a:prstGeom>
            <a:noFill/>
            <a:ln cap="flat" cmpd="sng" w="9525">
              <a:solidFill>
                <a:srgbClr val="006A4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04" name="Google Shape;204;p18"/>
            <p:cNvSpPr txBox="1"/>
            <p:nvPr/>
          </p:nvSpPr>
          <p:spPr>
            <a:xfrm>
              <a:off x="485775" y="152400"/>
              <a:ext cx="102204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726"/>
                  </a:solidFill>
                </a:rPr>
                <a:t>KEY STRATEGIC TAKEAWAY</a:t>
              </a:r>
              <a:endParaRPr b="1" sz="900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003726"/>
                  </a:solidFill>
                </a:rPr>
                <a:t>July achieved our primary objective of establishing a high-volume, cost-efficient local streaming baseline, securing over 1.1 million views at an efficient $8.89 CPM, demonstrating local saturation while preserving budget room to bid up for higher-tier premium placements in August.</a:t>
              </a:r>
              <a:endParaRPr i="1" sz="900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9"/>
          <p:cNvGrpSpPr/>
          <p:nvPr/>
        </p:nvGrpSpPr>
        <p:grpSpPr>
          <a:xfrm>
            <a:off x="500063" y="321469"/>
            <a:ext cx="1500075" cy="185850"/>
            <a:chOff x="0" y="0"/>
            <a:chExt cx="2000100" cy="247800"/>
          </a:xfrm>
        </p:grpSpPr>
        <p:sp>
          <p:nvSpPr>
            <p:cNvPr id="210" name="Google Shape;210;p19"/>
            <p:cNvSpPr/>
            <p:nvPr/>
          </p:nvSpPr>
          <p:spPr>
            <a:xfrm>
              <a:off x="0" y="0"/>
              <a:ext cx="2000100" cy="247800"/>
            </a:xfrm>
            <a:prstGeom prst="roundRect">
              <a:avLst>
                <a:gd fmla="val 21769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0" y="0"/>
              <a:ext cx="2000100" cy="247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MARKETPLACE STANDARDS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12" name="Google Shape;212;p19"/>
          <p:cNvSpPr txBox="1"/>
          <p:nvPr/>
        </p:nvSpPr>
        <p:spPr>
          <a:xfrm>
            <a:off x="500063" y="642938"/>
            <a:ext cx="8143800" cy="7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</a:rPr>
              <a:t>Beating Industry &amp; Marketplace Standards</a:t>
            </a:r>
            <a:endParaRPr b="1" sz="24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By leveraging CAMP Digital’s premium programmatic bidding strategies, Happy Camper Home Services achieved a significantly lower CPM than national and network benchmarks.</a:t>
            </a:r>
            <a:endParaRPr b="1" sz="900">
              <a:solidFill>
                <a:srgbClr val="666666"/>
              </a:solidFill>
            </a:endParaRPr>
          </a:p>
        </p:txBody>
      </p:sp>
      <p:grpSp>
        <p:nvGrpSpPr>
          <p:cNvPr id="213" name="Google Shape;213;p19"/>
          <p:cNvGrpSpPr/>
          <p:nvPr/>
        </p:nvGrpSpPr>
        <p:grpSpPr>
          <a:xfrm>
            <a:off x="500063" y="1643063"/>
            <a:ext cx="3729038" cy="1678781"/>
            <a:chOff x="0" y="0"/>
            <a:chExt cx="4972050" cy="2238375"/>
          </a:xfrm>
        </p:grpSpPr>
        <p:grpSp>
          <p:nvGrpSpPr>
            <p:cNvPr id="214" name="Google Shape;214;p19"/>
            <p:cNvGrpSpPr/>
            <p:nvPr/>
          </p:nvGrpSpPr>
          <p:grpSpPr>
            <a:xfrm>
              <a:off x="0" y="0"/>
              <a:ext cx="4972050" cy="809700"/>
              <a:chOff x="0" y="0"/>
              <a:chExt cx="4972050" cy="809700"/>
            </a:xfrm>
          </p:grpSpPr>
          <p:sp>
            <p:nvSpPr>
              <p:cNvPr id="215" name="Google Shape;215;p19"/>
              <p:cNvSpPr/>
              <p:nvPr/>
            </p:nvSpPr>
            <p:spPr>
              <a:xfrm>
                <a:off x="0" y="0"/>
                <a:ext cx="57300" cy="809700"/>
              </a:xfrm>
              <a:prstGeom prst="roundRect">
                <a:avLst>
                  <a:gd fmla="val 50000" name="adj"/>
                </a:avLst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9"/>
              <p:cNvSpPr txBox="1"/>
              <p:nvPr/>
            </p:nvSpPr>
            <p:spPr>
              <a:xfrm>
                <a:off x="209550" y="0"/>
                <a:ext cx="4762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800">
                    <a:solidFill>
                      <a:srgbClr val="003726"/>
                    </a:solidFill>
                  </a:rPr>
                  <a:t>COST EFFICIENCY</a:t>
                </a:r>
                <a:endParaRPr b="1" i="0" sz="800">
                  <a:solidFill>
                    <a:srgbClr val="003726"/>
                  </a:solidFill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i="0" lang="en" sz="900">
                    <a:solidFill>
                      <a:srgbClr val="666666"/>
                    </a:solidFill>
                  </a:rPr>
                  <a:t>Delivered </a:t>
                </a:r>
                <a:r>
                  <a:rPr b="1" i="0" lang="en" sz="900">
                    <a:solidFill>
                      <a:srgbClr val="003726"/>
                    </a:solidFill>
                  </a:rPr>
                  <a:t>56%–78% more impressions</a:t>
                </a:r>
                <a:r>
                  <a:rPr i="0" lang="en" sz="900">
                    <a:solidFill>
                      <a:srgbClr val="666666"/>
                    </a:solidFill>
                  </a:rPr>
                  <a:t> per dollar than standard marketplace resellers.</a:t>
                </a:r>
                <a:endParaRPr b="1" i="0" sz="800">
                  <a:solidFill>
                    <a:srgbClr val="006A49"/>
                  </a:solidFill>
                </a:endParaRPr>
              </a:p>
            </p:txBody>
          </p:sp>
        </p:grpSp>
        <p:grpSp>
          <p:nvGrpSpPr>
            <p:cNvPr id="217" name="Google Shape;217;p19"/>
            <p:cNvGrpSpPr/>
            <p:nvPr/>
          </p:nvGrpSpPr>
          <p:grpSpPr>
            <a:xfrm>
              <a:off x="0" y="1095375"/>
              <a:ext cx="4972050" cy="1143000"/>
              <a:chOff x="0" y="0"/>
              <a:chExt cx="4972050" cy="1143000"/>
            </a:xfrm>
          </p:grpSpPr>
          <p:sp>
            <p:nvSpPr>
              <p:cNvPr id="218" name="Google Shape;218;p19"/>
              <p:cNvSpPr/>
              <p:nvPr/>
            </p:nvSpPr>
            <p:spPr>
              <a:xfrm>
                <a:off x="0" y="0"/>
                <a:ext cx="573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9"/>
              <p:cNvSpPr txBox="1"/>
              <p:nvPr/>
            </p:nvSpPr>
            <p:spPr>
              <a:xfrm>
                <a:off x="209550" y="0"/>
                <a:ext cx="4762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3726"/>
                    </a:solidFill>
                  </a:rPr>
                  <a:t>STRATEGIC IMPLICATION</a:t>
                </a:r>
                <a:endParaRPr b="1" sz="800">
                  <a:solidFill>
                    <a:srgbClr val="003726"/>
                  </a:solidFill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666666"/>
                    </a:solidFill>
                  </a:rPr>
                  <a:t>Operating below benchmark proves our targeting is clean and gives us the exact leverage needed to increase bids in August for premium Tier-1 inventory </a:t>
                </a:r>
                <a:r>
                  <a:rPr b="1" lang="en" sz="900">
                    <a:solidFill>
                      <a:srgbClr val="003726"/>
                    </a:solidFill>
                  </a:rPr>
                  <a:t>without blowing out the budget</a:t>
                </a:r>
                <a:r>
                  <a:rPr lang="en" sz="900">
                    <a:solidFill>
                      <a:srgbClr val="003726"/>
                    </a:solidFill>
                  </a:rPr>
                  <a:t>.</a:t>
                </a:r>
                <a:endParaRPr sz="900">
                  <a:solidFill>
                    <a:srgbClr val="003726"/>
                  </a:solidFill>
                </a:endParaRPr>
              </a:p>
            </p:txBody>
          </p:sp>
        </p:grpSp>
      </p:grpSp>
      <p:sp>
        <p:nvSpPr>
          <p:cNvPr id="220" name="Google Shape;220;p19"/>
          <p:cNvSpPr/>
          <p:nvPr/>
        </p:nvSpPr>
        <p:spPr>
          <a:xfrm>
            <a:off x="4643438" y="1643063"/>
            <a:ext cx="4000500" cy="1750200"/>
          </a:xfrm>
          <a:prstGeom prst="roundRect">
            <a:avLst>
              <a:gd fmla="val 2718" name="adj"/>
            </a:avLst>
          </a:prstGeom>
          <a:solidFill>
            <a:srgbClr val="FFFFFF"/>
          </a:solidFill>
          <a:ln cap="flat" cmpd="sng" w="10725">
            <a:solidFill>
              <a:srgbClr val="B2E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9"/>
          <p:cNvGrpSpPr/>
          <p:nvPr/>
        </p:nvGrpSpPr>
        <p:grpSpPr>
          <a:xfrm>
            <a:off x="500025" y="3535976"/>
            <a:ext cx="8143875" cy="786010"/>
            <a:chOff x="0" y="0"/>
            <a:chExt cx="10858500" cy="12858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10858500" cy="1285800"/>
            </a:xfrm>
            <a:prstGeom prst="roundRect">
              <a:avLst>
                <a:gd fmla="val 4933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0" y="0"/>
              <a:ext cx="76200" cy="1285800"/>
            </a:xfrm>
            <a:prstGeom prst="roundRect">
              <a:avLst>
                <a:gd fmla="val 5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285750" y="190500"/>
              <a:ext cx="10287000" cy="904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726"/>
                  </a:solidFill>
                </a:rPr>
                <a:t>KEY PERFORMANCE TAKEAWAY</a:t>
              </a:r>
              <a:endParaRPr b="1" sz="900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0" lang="en" sz="900">
                  <a:solidFill>
                    <a:srgbClr val="003726"/>
                  </a:solidFill>
                </a:rPr>
                <a:t>Operating significantly below marketplace benchmarks validates CAMP Digital's premium </a:t>
              </a:r>
              <a:r>
                <a:rPr lang="en" sz="900">
                  <a:solidFill>
                    <a:srgbClr val="003726"/>
                  </a:solidFill>
                </a:rPr>
                <a:t>CTV approach</a:t>
              </a:r>
              <a:r>
                <a:rPr i="0" lang="en" sz="900">
                  <a:solidFill>
                    <a:srgbClr val="003726"/>
                  </a:solidFill>
                </a:rPr>
                <a:t>. This cost efficiency establishes a highly optimized baseline, securing the strategic budget flexibility required to aggressively capture premium Tier-1 inventory in August without risk of overspending.</a:t>
              </a:r>
              <a:endParaRPr i="0" sz="900">
                <a:solidFill>
                  <a:srgbClr val="003726"/>
                </a:solidFill>
              </a:endParaRPr>
            </a:p>
          </p:txBody>
        </p:sp>
      </p:grpSp>
      <p:graphicFrame>
        <p:nvGraphicFramePr>
          <p:cNvPr id="225" name="Google Shape;225;p19"/>
          <p:cNvGraphicFramePr/>
          <p:nvPr/>
        </p:nvGraphicFramePr>
        <p:xfrm>
          <a:off x="4643438" y="164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{F6C5F878-439A-4895-AF18-97C3BA531A98}</a:tableStyleId>
              </a:tblPr>
              <a:tblGrid>
                <a:gridCol w="1571625"/>
                <a:gridCol w="1071575"/>
                <a:gridCol w="1357325"/>
              </a:tblGrid>
              <a:tr h="39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Market Benchmark</a:t>
                      </a:r>
                      <a:endParaRPr b="1" sz="800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Avg CTV CPM</a:t>
                      </a:r>
                      <a:endParaRPr b="1" sz="800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highlight>
                            <a:srgbClr val="003726"/>
                          </a:highlight>
                        </a:rPr>
                        <a:t>Happy Camper Advantage</a:t>
                      </a:r>
                      <a:endParaRPr b="1" sz="800">
                        <a:solidFill>
                          <a:srgbClr val="FFFFFF"/>
                        </a:solidFill>
                        <a:highlight>
                          <a:srgbClr val="003726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Traditional Industry Avg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$20.00 to $40.00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56% to 78% Lower</a:t>
                      </a:r>
                      <a:endParaRPr sz="90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726"/>
                          </a:solidFill>
                        </a:rPr>
                        <a:t>Happy Camper Home Services (July Final)</a:t>
                      </a:r>
                      <a:endParaRPr b="1" sz="900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726"/>
                          </a:solidFill>
                        </a:rPr>
                        <a:t>$8.89</a:t>
                      </a:r>
                      <a:endParaRPr b="1" sz="900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726"/>
                          </a:solidFill>
                        </a:rPr>
                        <a:t>Baseline Established ✓</a:t>
                      </a:r>
                      <a:endParaRPr b="1" sz="900">
                        <a:solidFill>
                          <a:srgbClr val="003726"/>
                        </a:solidFill>
                      </a:endParaRPr>
                    </a:p>
                  </a:txBody>
                  <a:tcPr marT="85725" marB="85725" marR="85725" marL="85725">
                    <a:lnL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37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0"/>
          <p:cNvGrpSpPr/>
          <p:nvPr/>
        </p:nvGrpSpPr>
        <p:grpSpPr>
          <a:xfrm>
            <a:off x="500063" y="400050"/>
            <a:ext cx="1386000" cy="178650"/>
            <a:chOff x="0" y="0"/>
            <a:chExt cx="1848000" cy="238200"/>
          </a:xfrm>
        </p:grpSpPr>
        <p:sp>
          <p:nvSpPr>
            <p:cNvPr id="231" name="Google Shape;231;p20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AUDIENCE TARGETING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33" name="Google Shape;233;p20"/>
          <p:cNvSpPr txBox="1"/>
          <p:nvPr/>
        </p:nvSpPr>
        <p:spPr>
          <a:xfrm>
            <a:off x="500063" y="671513"/>
            <a:ext cx="81438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66666"/>
                </a:solidFill>
              </a:rPr>
              <a:t>Pinpoint Accuracy: Reaching Mature Local Homeowners</a:t>
            </a:r>
            <a:endParaRPr b="1" sz="2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Demographic targeting successfully locked in on active, mature homeowners who own property and require plumbing services.</a:t>
            </a:r>
            <a:endParaRPr sz="800">
              <a:solidFill>
                <a:srgbClr val="666666"/>
              </a:solidFill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500045" y="2100229"/>
            <a:ext cx="3768341" cy="719444"/>
            <a:chOff x="666750" y="2952750"/>
            <a:chExt cx="5238900" cy="1000200"/>
          </a:xfrm>
        </p:grpSpPr>
        <p:sp>
          <p:nvSpPr>
            <p:cNvPr id="235" name="Google Shape;235;p20"/>
            <p:cNvSpPr/>
            <p:nvPr/>
          </p:nvSpPr>
          <p:spPr>
            <a:xfrm>
              <a:off x="666750" y="2952750"/>
              <a:ext cx="5238900" cy="1000200"/>
            </a:xfrm>
            <a:prstGeom prst="roundRect">
              <a:avLst>
                <a:gd fmla="val 6341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857250" y="3048000"/>
              <a:ext cx="1238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2">
                  <a:solidFill>
                    <a:srgbClr val="00823D"/>
                  </a:solidFill>
                </a:rPr>
                <a:t>92.1%</a:t>
              </a:r>
              <a:endParaRPr b="1" sz="2302">
                <a:solidFill>
                  <a:srgbClr val="00823D"/>
                </a:solidFill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2286000" y="3048000"/>
              <a:ext cx="3429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666666"/>
                  </a:solidFill>
                </a:rPr>
                <a:t>35+ Age Concentration</a:t>
              </a:r>
              <a:endParaRPr b="1" sz="767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192"/>
                </a:spcAft>
                <a:buNone/>
              </a:pPr>
              <a:r>
                <a:rPr b="1" lang="en" sz="767">
                  <a:solidFill>
                    <a:srgbClr val="000000"/>
                  </a:solidFill>
                </a:rPr>
                <a:t>863,615 impressions</a:t>
              </a:r>
              <a:r>
                <a:rPr lang="en" sz="767">
                  <a:solidFill>
                    <a:srgbClr val="666666"/>
                  </a:solidFill>
                </a:rPr>
                <a:t> reached active, mature adults aged 35 and older.</a:t>
              </a:r>
              <a:endParaRPr b="1"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38" name="Google Shape;238;p20"/>
          <p:cNvGrpSpPr/>
          <p:nvPr/>
        </p:nvGrpSpPr>
        <p:grpSpPr>
          <a:xfrm>
            <a:off x="500045" y="1278069"/>
            <a:ext cx="3768341" cy="719444"/>
            <a:chOff x="666750" y="1809750"/>
            <a:chExt cx="5238900" cy="1000200"/>
          </a:xfrm>
        </p:grpSpPr>
        <p:sp>
          <p:nvSpPr>
            <p:cNvPr id="239" name="Google Shape;239;p20"/>
            <p:cNvSpPr/>
            <p:nvPr/>
          </p:nvSpPr>
          <p:spPr>
            <a:xfrm>
              <a:off x="666750" y="1809750"/>
              <a:ext cx="5238900" cy="1000200"/>
            </a:xfrm>
            <a:prstGeom prst="roundRect">
              <a:avLst>
                <a:gd fmla="val 6341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857250" y="1905000"/>
              <a:ext cx="1238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10">
                  <a:solidFill>
                    <a:srgbClr val="00823D"/>
                  </a:solidFill>
                </a:rPr>
                <a:t>99.9%</a:t>
              </a:r>
              <a:endParaRPr b="1" sz="2110">
                <a:solidFill>
                  <a:srgbClr val="00823D"/>
                </a:solidFill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2286000" y="1905000"/>
              <a:ext cx="3429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666666"/>
                  </a:solidFill>
                </a:rPr>
                <a:t>25+ Prime Homeowners</a:t>
              </a:r>
              <a:endParaRPr b="1" sz="767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192"/>
                </a:spcAft>
                <a:buNone/>
              </a:pPr>
              <a:r>
                <a:rPr lang="en" sz="767">
                  <a:solidFill>
                    <a:srgbClr val="666666"/>
                  </a:solidFill>
                </a:rPr>
                <a:t>Targeted impressions successfully reached adults 25+; the </a:t>
              </a:r>
              <a:r>
                <a:rPr b="1" lang="en" sz="767">
                  <a:solidFill>
                    <a:srgbClr val="000000"/>
                  </a:solidFill>
                </a:rPr>
                <a:t>18–24 demographic was explicitly excluded</a:t>
              </a:r>
              <a:r>
                <a:rPr lang="en" sz="767">
                  <a:solidFill>
                    <a:srgbClr val="666666"/>
                  </a:solidFill>
                </a:rPr>
                <a:t>.</a:t>
              </a:r>
              <a:endParaRPr b="1"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500045" y="2922389"/>
            <a:ext cx="3768341" cy="719444"/>
            <a:chOff x="666750" y="4095750"/>
            <a:chExt cx="5238900" cy="1000200"/>
          </a:xfrm>
        </p:grpSpPr>
        <p:sp>
          <p:nvSpPr>
            <p:cNvPr id="243" name="Google Shape;243;p20"/>
            <p:cNvSpPr/>
            <p:nvPr/>
          </p:nvSpPr>
          <p:spPr>
            <a:xfrm>
              <a:off x="666750" y="4095750"/>
              <a:ext cx="5238900" cy="1000200"/>
            </a:xfrm>
            <a:prstGeom prst="roundRect">
              <a:avLst>
                <a:gd fmla="val 6342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857250" y="4191000"/>
              <a:ext cx="1238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10">
                  <a:solidFill>
                    <a:srgbClr val="666666"/>
                  </a:solidFill>
                </a:rPr>
                <a:t>16.8%</a:t>
              </a:r>
              <a:endParaRPr b="1" sz="2110">
                <a:solidFill>
                  <a:srgbClr val="666666"/>
                </a:solidFill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286000" y="4191000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666666"/>
                  </a:solidFill>
                </a:rPr>
                <a:t>Unknown Category (CTV Privacy)</a:t>
              </a:r>
              <a:endParaRPr b="1" sz="767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0"/>
                </a:spcAft>
                <a:buNone/>
              </a:pPr>
              <a:r>
                <a:rPr b="1" lang="en" sz="767">
                  <a:solidFill>
                    <a:srgbClr val="000000"/>
                  </a:solidFill>
                </a:rPr>
                <a:t>189,681 impressions</a:t>
              </a:r>
              <a:r>
                <a:rPr lang="en" sz="767">
                  <a:solidFill>
                    <a:srgbClr val="666666"/>
                  </a:solidFill>
                </a:rPr>
                <a:t> fell into privacy-protected unknown buckets, typical for CTV household identity graphs.</a:t>
              </a:r>
              <a:endParaRPr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4473817" y="1278069"/>
            <a:ext cx="3836746" cy="2363764"/>
            <a:chOff x="6191250" y="1809750"/>
            <a:chExt cx="5334000" cy="3286200"/>
          </a:xfrm>
        </p:grpSpPr>
        <p:sp>
          <p:nvSpPr>
            <p:cNvPr id="247" name="Google Shape;247;p20"/>
            <p:cNvSpPr/>
            <p:nvPr/>
          </p:nvSpPr>
          <p:spPr>
            <a:xfrm>
              <a:off x="6191250" y="1809750"/>
              <a:ext cx="5334000" cy="3286200"/>
            </a:xfrm>
            <a:prstGeom prst="roundRect">
              <a:avLst>
                <a:gd fmla="val 1930" name="adj"/>
              </a:avLst>
            </a:prstGeom>
            <a:solidFill>
              <a:srgbClr val="FFFFFF"/>
            </a:solidFill>
            <a:ln cap="flat" cmpd="sng" w="102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" name="Google Shape;248;p20"/>
            <p:cNvGrpSpPr/>
            <p:nvPr/>
          </p:nvGrpSpPr>
          <p:grpSpPr>
            <a:xfrm>
              <a:off x="6429375" y="2000250"/>
              <a:ext cx="2857500" cy="238200"/>
              <a:chOff x="0" y="0"/>
              <a:chExt cx="2857500" cy="2382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0" y="0"/>
                <a:ext cx="2857500" cy="238200"/>
              </a:xfrm>
              <a:prstGeom prst="roundRect">
                <a:avLst>
                  <a:gd fmla="val 22640" name="adj"/>
                </a:avLst>
              </a:prstGeom>
              <a:solidFill>
                <a:srgbClr val="CCFFE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 txBox="1"/>
              <p:nvPr/>
            </p:nvSpPr>
            <p:spPr>
              <a:xfrm>
                <a:off x="0" y="0"/>
                <a:ext cx="2857500" cy="238200"/>
              </a:xfrm>
              <a:prstGeom prst="rect">
                <a:avLst/>
              </a:prstGeom>
              <a:solidFill>
                <a:srgbClr val="A7C14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71">
                    <a:solidFill>
                      <a:schemeClr val="lt1"/>
                    </a:solidFill>
                  </a:rPr>
                  <a:t>REACH &amp; FREQUENCY MODEL</a:t>
                </a:r>
                <a:endParaRPr b="1" sz="671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51" name="Google Shape;251;p20"/>
            <p:cNvSpPr txBox="1"/>
            <p:nvPr/>
          </p:nvSpPr>
          <p:spPr>
            <a:xfrm>
              <a:off x="6429375" y="2428875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1">
                  <a:solidFill>
                    <a:srgbClr val="666666"/>
                  </a:solidFill>
                </a:rPr>
                <a:t>EST. UNIQUE REACH</a:t>
              </a:r>
              <a:endParaRPr b="1" sz="671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671"/>
                </a:spcBef>
                <a:spcAft>
                  <a:spcPts val="0"/>
                </a:spcAft>
                <a:buNone/>
              </a:pPr>
              <a:r>
                <a:rPr b="1" lang="en" sz="2781">
                  <a:solidFill>
                    <a:srgbClr val="00823D"/>
                  </a:solidFill>
                </a:rPr>
                <a:t>~128K</a:t>
              </a:r>
              <a:endParaRPr b="1" sz="2781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88"/>
                </a:spcBef>
                <a:spcAft>
                  <a:spcPts val="0"/>
                </a:spcAft>
                <a:buNone/>
              </a:pPr>
              <a:r>
                <a:rPr b="1" lang="en" sz="863"/>
                <a:t>Unique Devices</a:t>
              </a:r>
              <a:endParaRPr b="1" sz="86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767"/>
                </a:spcBef>
                <a:spcAft>
                  <a:spcPts val="0"/>
                </a:spcAft>
                <a:buNone/>
              </a:pPr>
              <a:r>
                <a:rPr lang="en" sz="767">
                  <a:solidFill>
                    <a:srgbClr val="666666"/>
                  </a:solidFill>
                </a:rPr>
                <a:t>Represents approximately </a:t>
              </a:r>
              <a:r>
                <a:rPr b="1" lang="en" sz="767"/>
                <a:t>80K </a:t>
              </a:r>
              <a:r>
                <a:rPr b="1" lang="en" sz="767">
                  <a:solidFill>
                    <a:srgbClr val="000000"/>
                  </a:solidFill>
                </a:rPr>
                <a:t>Households </a:t>
              </a:r>
              <a:r>
                <a:rPr lang="en" sz="767">
                  <a:solidFill>
                    <a:srgbClr val="666666"/>
                  </a:solidFill>
                </a:rPr>
                <a:t>across target areas </a:t>
              </a:r>
              <a:endParaRPr sz="767">
                <a:solidFill>
                  <a:srgbClr val="666666"/>
                </a:solidFill>
              </a:endParaRPr>
            </a:p>
          </p:txBody>
        </p:sp>
        <p:pic>
          <p:nvPicPr>
            <p:cNvPr id="252" name="Google Shape;25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48725" y="2571750"/>
              <a:ext cx="19200" cy="2095500"/>
            </a:xfrm>
            <a:prstGeom prst="rect">
              <a:avLst/>
            </a:prstGeom>
            <a:noFill/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3" name="Google Shape;253;p20"/>
            <p:cNvSpPr txBox="1"/>
            <p:nvPr/>
          </p:nvSpPr>
          <p:spPr>
            <a:xfrm>
              <a:off x="9096375" y="2428875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71">
                  <a:solidFill>
                    <a:srgbClr val="666666"/>
                  </a:solidFill>
                </a:rPr>
                <a:t>AVG. AD FREQUENCY</a:t>
              </a:r>
              <a:endParaRPr b="1" sz="671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671"/>
                </a:spcBef>
                <a:spcAft>
                  <a:spcPts val="0"/>
                </a:spcAft>
                <a:buNone/>
              </a:pPr>
              <a:r>
                <a:rPr b="1" lang="en" sz="2781">
                  <a:solidFill>
                    <a:srgbClr val="00823D"/>
                  </a:solidFill>
                </a:rPr>
                <a:t>8.8x</a:t>
              </a:r>
              <a:endParaRPr b="1" sz="2781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88"/>
                </a:spcBef>
                <a:spcAft>
                  <a:spcPts val="0"/>
                </a:spcAft>
                <a:buNone/>
              </a:pPr>
              <a:r>
                <a:rPr b="1" lang="en" sz="863"/>
                <a:t>Per Unique Device</a:t>
              </a:r>
              <a:r>
                <a:rPr b="1" lang="en" sz="863">
                  <a:solidFill>
                    <a:srgbClr val="000000"/>
                  </a:solidFill>
                </a:rPr>
                <a:t>/Month</a:t>
              </a:r>
              <a:endParaRPr b="1" sz="86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767"/>
                </a:spcBef>
                <a:spcAft>
                  <a:spcPts val="0"/>
                </a:spcAft>
                <a:buNone/>
              </a:pPr>
              <a:r>
                <a:rPr lang="en" sz="767">
                  <a:solidFill>
                    <a:srgbClr val="666666"/>
                  </a:solidFill>
                </a:rPr>
                <a:t>The optimal frequency sweet spot to establish </a:t>
              </a:r>
              <a:r>
                <a:rPr b="1" lang="en" sz="767">
                  <a:solidFill>
                    <a:srgbClr val="000000"/>
                  </a:solidFill>
                </a:rPr>
                <a:t>maximum local brand recall</a:t>
              </a:r>
              <a:r>
                <a:rPr lang="en" sz="767">
                  <a:solidFill>
                    <a:srgbClr val="666666"/>
                  </a:solidFill>
                </a:rPr>
                <a:t>.</a:t>
              </a:r>
              <a:endParaRPr sz="767">
                <a:solidFill>
                  <a:srgbClr val="666666"/>
                </a:solidFill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500057" y="3717231"/>
            <a:ext cx="7810519" cy="719503"/>
            <a:chOff x="666750" y="5238750"/>
            <a:chExt cx="10858500" cy="1095300"/>
          </a:xfrm>
        </p:grpSpPr>
        <p:sp>
          <p:nvSpPr>
            <p:cNvPr id="255" name="Google Shape;255;p20"/>
            <p:cNvSpPr/>
            <p:nvPr/>
          </p:nvSpPr>
          <p:spPr>
            <a:xfrm>
              <a:off x="666750" y="5238750"/>
              <a:ext cx="10858500" cy="1095300"/>
            </a:xfrm>
            <a:prstGeom prst="roundRect">
              <a:avLst>
                <a:gd fmla="val 579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904875" y="5429250"/>
              <a:ext cx="285900" cy="285900"/>
              <a:chOff x="0" y="0"/>
              <a:chExt cx="285900" cy="285900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6A4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85725" y="10477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71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" name="Google Shape;259;p20"/>
            <p:cNvSpPr txBox="1"/>
            <p:nvPr/>
          </p:nvSpPr>
          <p:spPr>
            <a:xfrm>
              <a:off x="1333500" y="5381625"/>
              <a:ext cx="10001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3">
                  <a:solidFill>
                    <a:srgbClr val="003726"/>
                  </a:solidFill>
                </a:rPr>
                <a:t>STRATEGIC VALUE</a:t>
              </a:r>
              <a:endParaRPr b="1" sz="863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192"/>
                </a:spcBef>
                <a:spcAft>
                  <a:spcPts val="0"/>
                </a:spcAft>
                <a:buNone/>
              </a:pPr>
              <a:r>
                <a:rPr i="1" lang="en" sz="863">
                  <a:solidFill>
                    <a:srgbClr val="003726"/>
                  </a:solidFill>
                </a:rPr>
                <a:t>A 8.8x frequency is a starting point for brand recall—ensuring when a pipe bursts or a water heater fails, </a:t>
              </a:r>
              <a:r>
                <a:rPr b="1" lang="en" sz="863">
                  <a:solidFill>
                    <a:srgbClr val="003726"/>
                  </a:solidFill>
                </a:rPr>
                <a:t>Happy Camper Home Services</a:t>
              </a:r>
              <a:r>
                <a:rPr i="1" lang="en" sz="863">
                  <a:solidFill>
                    <a:srgbClr val="003726"/>
                  </a:solidFill>
                </a:rPr>
                <a:t> is top-of-mind. Projections modeled from identity-matched CTV sample data (38.3k impressions) across 1.12M total delivered campaign impressions.</a:t>
              </a:r>
              <a:endParaRPr i="1" sz="863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0" y="0"/>
            <a:ext cx="9144000" cy="449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1"/>
          <p:cNvGrpSpPr/>
          <p:nvPr/>
        </p:nvGrpSpPr>
        <p:grpSpPr>
          <a:xfrm>
            <a:off x="500063" y="285750"/>
            <a:ext cx="4714875" cy="1035900"/>
            <a:chOff x="0" y="0"/>
            <a:chExt cx="6286500" cy="138120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0" y="0"/>
              <a:ext cx="1467000" cy="238200"/>
              <a:chOff x="0" y="0"/>
              <a:chExt cx="1467000" cy="238200"/>
            </a:xfrm>
          </p:grpSpPr>
          <p:sp>
            <p:nvSpPr>
              <p:cNvPr id="267" name="Google Shape;267;p21"/>
              <p:cNvSpPr/>
              <p:nvPr/>
            </p:nvSpPr>
            <p:spPr>
              <a:xfrm>
                <a:off x="0" y="0"/>
                <a:ext cx="1467000" cy="238200"/>
              </a:xfrm>
              <a:prstGeom prst="roundRect">
                <a:avLst>
                  <a:gd fmla="val 2264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1"/>
              <p:cNvSpPr txBox="1"/>
              <p:nvPr/>
            </p:nvSpPr>
            <p:spPr>
              <a:xfrm>
                <a:off x="0" y="0"/>
                <a:ext cx="1467000" cy="2382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00">
                    <a:solidFill>
                      <a:schemeClr val="lt1"/>
                    </a:solidFill>
                  </a:rPr>
                  <a:t>DEVICE BREAKDOWN</a:t>
                </a:r>
                <a:endParaRPr b="1" i="0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69" name="Google Shape;269;p21"/>
            <p:cNvSpPr txBox="1"/>
            <p:nvPr/>
          </p:nvSpPr>
          <p:spPr>
            <a:xfrm>
              <a:off x="0" y="381000"/>
              <a:ext cx="62865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666666"/>
                  </a:solidFill>
                </a:rPr>
                <a:t>Prioritizing High-Impact Sight, Sound, and Motion</a:t>
              </a:r>
              <a:endParaRPr b="1" sz="15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666666"/>
                  </a:solidFill>
                </a:rPr>
                <a:t>Streaming ads delivered almost exclusively on Connected TVs in the living room, ensuring maximum brand recall and household engagement.</a:t>
              </a:r>
              <a:endParaRPr sz="700">
                <a:solidFill>
                  <a:srgbClr val="666666"/>
                </a:solidFill>
              </a:endParaRPr>
            </a:p>
          </p:txBody>
        </p:sp>
      </p:grpSp>
      <p:grpSp>
        <p:nvGrpSpPr>
          <p:cNvPr id="270" name="Google Shape;270;p21"/>
          <p:cNvGrpSpPr/>
          <p:nvPr/>
        </p:nvGrpSpPr>
        <p:grpSpPr>
          <a:xfrm>
            <a:off x="500075" y="1106875"/>
            <a:ext cx="4627493" cy="1086704"/>
            <a:chOff x="0" y="0"/>
            <a:chExt cx="6286500" cy="1476300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6286500" cy="1476300"/>
            </a:xfrm>
            <a:prstGeom prst="roundRect">
              <a:avLst>
                <a:gd fmla="val 4303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190500" y="142875"/>
              <a:ext cx="59055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0">
                  <a:solidFill>
                    <a:srgbClr val="000000"/>
                  </a:solidFill>
                </a:rPr>
                <a:t>📺 Connected TV (CTV)</a:t>
              </a:r>
              <a:endParaRPr b="1" sz="1080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b="1" lang="en" sz="883">
                  <a:solidFill>
                    <a:srgbClr val="666666"/>
                  </a:solidFill>
                </a:rPr>
                <a:t>Spend: </a:t>
              </a:r>
              <a:r>
                <a:rPr lang="en" sz="883">
                  <a:solidFill>
                    <a:srgbClr val="666666"/>
                  </a:solidFill>
                </a:rPr>
                <a:t>$9,284.71</a:t>
              </a:r>
              <a:r>
                <a:rPr b="1" lang="en" sz="883">
                  <a:solidFill>
                    <a:srgbClr val="000000"/>
                  </a:solidFill>
                </a:rPr>
                <a:t> </a:t>
              </a:r>
              <a:r>
                <a:rPr b="1" lang="en" sz="883">
                  <a:solidFill>
                    <a:srgbClr val="666666"/>
                  </a:solidFill>
                </a:rPr>
                <a:t>| 92.7% share</a:t>
              </a:r>
              <a:endParaRPr b="1" sz="88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196"/>
                </a:spcBef>
                <a:spcAft>
                  <a:spcPts val="0"/>
                </a:spcAft>
                <a:buNone/>
              </a:pPr>
              <a:r>
                <a:rPr lang="en" sz="883">
                  <a:solidFill>
                    <a:srgbClr val="666666"/>
                  </a:solidFill>
                </a:rPr>
                <a:t>1,054,439 impressions (93.5% Share) at </a:t>
              </a:r>
              <a:r>
                <a:rPr b="1" lang="en" sz="883">
                  <a:solidFill>
                    <a:srgbClr val="00823D"/>
                  </a:solidFill>
                </a:rPr>
                <a:t>$8.80 CTV CPM</a:t>
              </a:r>
              <a:endParaRPr b="1" sz="883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i="1" lang="en" sz="785">
                  <a:solidFill>
                    <a:srgbClr val="888888"/>
                  </a:solidFill>
                </a:rPr>
                <a:t>High-definition, unskippable ads delivered directly on home television screens.</a:t>
              </a:r>
              <a:endParaRPr i="1" sz="785">
                <a:solidFill>
                  <a:srgbClr val="888888"/>
                </a:solidFill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500075" y="2298770"/>
            <a:ext cx="4627493" cy="1016701"/>
            <a:chOff x="0" y="0"/>
            <a:chExt cx="6286500" cy="13812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6286500" cy="1381200"/>
            </a:xfrm>
            <a:prstGeom prst="roundRect">
              <a:avLst>
                <a:gd fmla="val 4599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190500" y="142875"/>
              <a:ext cx="5905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0">
                  <a:solidFill>
                    <a:srgbClr val="000000"/>
                  </a:solidFill>
                </a:rPr>
                <a:t>🖥️ Desktop &amp; Computers</a:t>
              </a:r>
              <a:endParaRPr b="1" sz="1080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b="1" lang="en" sz="883">
                  <a:solidFill>
                    <a:srgbClr val="666666"/>
                  </a:solidFill>
                </a:rPr>
                <a:t>Spend: </a:t>
              </a:r>
              <a:r>
                <a:rPr lang="en" sz="883">
                  <a:solidFill>
                    <a:srgbClr val="666666"/>
                  </a:solidFill>
                </a:rPr>
                <a:t>$473.29</a:t>
              </a:r>
              <a:r>
                <a:rPr b="1" lang="en" sz="883">
                  <a:solidFill>
                    <a:srgbClr val="000000"/>
                  </a:solidFill>
                </a:rPr>
                <a:t> </a:t>
              </a:r>
              <a:r>
                <a:rPr b="1" lang="en" sz="883">
                  <a:solidFill>
                    <a:srgbClr val="666666"/>
                  </a:solidFill>
                </a:rPr>
                <a:t>| 4.7% share</a:t>
              </a:r>
              <a:endParaRPr b="1" sz="88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196"/>
                </a:spcBef>
                <a:spcAft>
                  <a:spcPts val="0"/>
                </a:spcAft>
                <a:buNone/>
              </a:pPr>
              <a:r>
                <a:rPr lang="en" sz="883">
                  <a:solidFill>
                    <a:srgbClr val="666666"/>
                  </a:solidFill>
                </a:rPr>
                <a:t>72,380 impressions at </a:t>
              </a:r>
              <a:r>
                <a:rPr b="1" lang="en" sz="883">
                  <a:solidFill>
                    <a:srgbClr val="00823D"/>
                  </a:solidFill>
                </a:rPr>
                <a:t>$6.54 CPM</a:t>
              </a:r>
              <a:endParaRPr b="1" sz="883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i="1" lang="en" sz="785">
                  <a:solidFill>
                    <a:srgbClr val="888888"/>
                  </a:solidFill>
                </a:rPr>
                <a:t>Secondary cross-device touchpoints across local computer screens.</a:t>
              </a:r>
              <a:endParaRPr i="1" sz="785">
                <a:solidFill>
                  <a:srgbClr val="888888"/>
                </a:solidFill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500075" y="3420553"/>
            <a:ext cx="4627493" cy="1016701"/>
            <a:chOff x="0" y="0"/>
            <a:chExt cx="6286500" cy="138120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6286500" cy="1381200"/>
            </a:xfrm>
            <a:prstGeom prst="roundRect">
              <a:avLst>
                <a:gd fmla="val 4599" name="adj"/>
              </a:avLst>
            </a:prstGeom>
            <a:solidFill>
              <a:srgbClr val="FFFFFF"/>
            </a:solidFill>
            <a:ln cap="flat" cmpd="sng" w="10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190500" y="142875"/>
              <a:ext cx="5905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0">
                  <a:solidFill>
                    <a:srgbClr val="000000"/>
                  </a:solidFill>
                </a:rPr>
                <a:t>📱 Smartphones &amp; Tablets</a:t>
              </a:r>
              <a:endParaRPr b="1" sz="1080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b="1" lang="en" sz="883">
                  <a:solidFill>
                    <a:srgbClr val="666666"/>
                  </a:solidFill>
                </a:rPr>
                <a:t>Spend: </a:t>
              </a:r>
              <a:r>
                <a:rPr lang="en" sz="883">
                  <a:solidFill>
                    <a:srgbClr val="666666"/>
                  </a:solidFill>
                </a:rPr>
                <a:t>$261.26</a:t>
              </a:r>
              <a:r>
                <a:rPr b="1" lang="en" sz="883">
                  <a:solidFill>
                    <a:srgbClr val="000000"/>
                  </a:solidFill>
                </a:rPr>
                <a:t> </a:t>
              </a:r>
              <a:r>
                <a:rPr b="1" lang="en" sz="883">
                  <a:solidFill>
                    <a:srgbClr val="666666"/>
                  </a:solidFill>
                </a:rPr>
                <a:t>| 2.6% share</a:t>
              </a:r>
              <a:endParaRPr b="1" sz="883">
                <a:solidFill>
                  <a:srgbClr val="000000"/>
                </a:solidFill>
              </a:endParaRPr>
            </a:p>
            <a:p>
              <a:pPr indent="0" lvl="0" marL="0" rtl="0" algn="l">
                <a:spcBef>
                  <a:spcPts val="196"/>
                </a:spcBef>
                <a:spcAft>
                  <a:spcPts val="0"/>
                </a:spcAft>
                <a:buNone/>
              </a:pPr>
              <a:r>
                <a:rPr lang="en" sz="883">
                  <a:solidFill>
                    <a:srgbClr val="666666"/>
                  </a:solidFill>
                </a:rPr>
                <a:t>503 impressions — CPM: </a:t>
              </a:r>
              <a:r>
                <a:rPr b="1" lang="en" sz="883">
                  <a:solidFill>
                    <a:srgbClr val="00823D"/>
                  </a:solidFill>
                </a:rPr>
                <a:t>N/A</a:t>
              </a:r>
              <a:endParaRPr b="1" sz="883">
                <a:solidFill>
                  <a:srgbClr val="00823D"/>
                </a:solidFill>
              </a:endParaRPr>
            </a:p>
            <a:p>
              <a:pPr indent="0" lvl="0" marL="0" rtl="0" algn="l">
                <a:spcBef>
                  <a:spcPts val="294"/>
                </a:spcBef>
                <a:spcAft>
                  <a:spcPts val="0"/>
                </a:spcAft>
                <a:buNone/>
              </a:pPr>
              <a:r>
                <a:rPr i="1" lang="en" sz="785">
                  <a:solidFill>
                    <a:srgbClr val="888888"/>
                  </a:solidFill>
                </a:rPr>
                <a:t>Kept minimal by design to avoid small-screen ad fatigue and wasteful clicks.</a:t>
              </a:r>
              <a:endParaRPr i="1" sz="785">
                <a:solidFill>
                  <a:srgbClr val="888888"/>
                </a:solidFill>
              </a:endParaRPr>
            </a:p>
          </p:txBody>
        </p:sp>
      </p:grpSp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 b="9467" l="8427" r="2684" t="-9019"/>
          <a:stretch/>
        </p:blipFill>
        <p:spPr>
          <a:xfrm>
            <a:off x="5715000" y="-64710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2"/>
          <p:cNvGrpSpPr/>
          <p:nvPr/>
        </p:nvGrpSpPr>
        <p:grpSpPr>
          <a:xfrm>
            <a:off x="496106" y="487412"/>
            <a:ext cx="1388250" cy="182925"/>
            <a:chOff x="0" y="0"/>
            <a:chExt cx="1851000" cy="243900"/>
          </a:xfrm>
        </p:grpSpPr>
        <p:sp>
          <p:nvSpPr>
            <p:cNvPr id="285" name="Google Shape;285;p22"/>
            <p:cNvSpPr/>
            <p:nvPr/>
          </p:nvSpPr>
          <p:spPr>
            <a:xfrm>
              <a:off x="0" y="0"/>
              <a:ext cx="1851000" cy="243900"/>
            </a:xfrm>
            <a:prstGeom prst="roundRect">
              <a:avLst>
                <a:gd fmla="val 2212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95250" y="47625"/>
              <a:ext cx="1660500" cy="148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>
                  <a:solidFill>
                    <a:schemeClr val="lt1"/>
                  </a:solidFill>
                </a:rPr>
                <a:t>NETWORK PERFORMANCE</a:t>
              </a:r>
              <a:endParaRPr b="1" i="0" sz="700">
                <a:solidFill>
                  <a:schemeClr val="lt1"/>
                </a:solidFill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496106" y="711324"/>
            <a:ext cx="8151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666666"/>
                </a:solidFill>
              </a:rPr>
              <a:t>High-Quality Local Broadcast Partnerships</a:t>
            </a:r>
            <a:endParaRPr b="1" i="0" sz="2400">
              <a:solidFill>
                <a:srgbClr val="666666"/>
              </a:solidFill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96106" y="1333574"/>
            <a:ext cx="39288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>
                <a:solidFill>
                  <a:srgbClr val="666666"/>
                </a:solidFill>
              </a:rPr>
              <a:t>Ads aired across premium, family-friendly streaming platforms and living room apps.</a:t>
            </a:r>
            <a:endParaRPr i="0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000000"/>
                </a:solidFill>
              </a:rPr>
              <a:t>Volume Leader</a:t>
            </a:r>
            <a:endParaRPr b="1" i="0"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Sling TV </a:t>
            </a:r>
            <a:r>
              <a:rPr i="0" lang="en" sz="900">
                <a:solidFill>
                  <a:srgbClr val="666666"/>
                </a:solidFill>
              </a:rPr>
              <a:t>generated 345,912 impressions at an ultra-efficient $6.21 CPM.</a:t>
            </a:r>
            <a:endParaRPr i="0" sz="9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000000"/>
                </a:solidFill>
              </a:rPr>
              <a:t>Big Screen Scale</a:t>
            </a:r>
            <a:endParaRPr b="1" i="0"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" sz="900">
                <a:solidFill>
                  <a:srgbClr val="666666"/>
                </a:solidFill>
              </a:rPr>
              <a:t>Roku and Samsung TV Plus combined for $4,240.74 (42% of budget), driving massive living room penetration.</a:t>
            </a:r>
            <a:endParaRPr i="0" sz="900">
              <a:solidFill>
                <a:srgbClr val="666666"/>
              </a:solidFill>
            </a:endParaRPr>
          </a:p>
        </p:txBody>
      </p:sp>
      <p:grpSp>
        <p:nvGrpSpPr>
          <p:cNvPr id="289" name="Google Shape;289;p22"/>
          <p:cNvGrpSpPr/>
          <p:nvPr/>
        </p:nvGrpSpPr>
        <p:grpSpPr>
          <a:xfrm>
            <a:off x="4718447" y="1246584"/>
            <a:ext cx="3939750" cy="2407500"/>
            <a:chOff x="0" y="0"/>
            <a:chExt cx="5253000" cy="3210000"/>
          </a:xfrm>
        </p:grpSpPr>
        <p:sp>
          <p:nvSpPr>
            <p:cNvPr id="290" name="Google Shape;290;p22"/>
            <p:cNvSpPr/>
            <p:nvPr/>
          </p:nvSpPr>
          <p:spPr>
            <a:xfrm>
              <a:off x="0" y="0"/>
              <a:ext cx="5253000" cy="3210000"/>
            </a:xfrm>
            <a:prstGeom prst="roundRect">
              <a:avLst>
                <a:gd fmla="val 1976" name="adj"/>
              </a:avLst>
            </a:prstGeom>
            <a:solidFill>
              <a:srgbClr val="FFFFFF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4763" y="4048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4763" y="80486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763" y="12049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4763" y="160496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4763" y="20050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4763" y="240506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4763" y="2805113"/>
              <a:ext cx="5243400" cy="9600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22"/>
          <p:cNvGrpSpPr/>
          <p:nvPr/>
        </p:nvGrpSpPr>
        <p:grpSpPr>
          <a:xfrm>
            <a:off x="4847034" y="1318022"/>
            <a:ext cx="3679144" cy="178650"/>
            <a:chOff x="171450" y="95250"/>
            <a:chExt cx="4905525" cy="238200"/>
          </a:xfrm>
        </p:grpSpPr>
        <p:sp>
          <p:nvSpPr>
            <p:cNvPr id="299" name="Google Shape;299;p22"/>
            <p:cNvSpPr txBox="1"/>
            <p:nvPr/>
          </p:nvSpPr>
          <p:spPr>
            <a:xfrm>
              <a:off x="171450" y="95250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Platform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1790700" y="9525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Spend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264795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Impressions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3695700" y="95250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Avg CPM</a:t>
              </a:r>
              <a:endParaRPr b="1" sz="800">
                <a:solidFill>
                  <a:srgbClr val="666666"/>
                </a:solidFill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4600575" y="95250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VCR</a:t>
              </a:r>
              <a:endParaRPr b="1"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04" name="Google Shape;304;p22"/>
          <p:cNvGrpSpPr/>
          <p:nvPr/>
        </p:nvGrpSpPr>
        <p:grpSpPr>
          <a:xfrm>
            <a:off x="4847034" y="1614488"/>
            <a:ext cx="3679144" cy="178650"/>
            <a:chOff x="171450" y="85725"/>
            <a:chExt cx="4905525" cy="238200"/>
          </a:xfrm>
        </p:grpSpPr>
        <p:sp>
          <p:nvSpPr>
            <p:cNvPr id="305" name="Google Shape;305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Roku Ecosystem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$2,239.83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233,700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$9.58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99.0%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10" name="Google Shape;310;p22"/>
          <p:cNvGrpSpPr/>
          <p:nvPr/>
        </p:nvGrpSpPr>
        <p:grpSpPr>
          <a:xfrm>
            <a:off x="4847034" y="1914525"/>
            <a:ext cx="3679144" cy="178650"/>
            <a:chOff x="171450" y="85725"/>
            <a:chExt cx="4905525" cy="238200"/>
          </a:xfrm>
        </p:grpSpPr>
        <p:sp>
          <p:nvSpPr>
            <p:cNvPr id="311" name="Google Shape;311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Sling TV Ecosystem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$2,148.02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345,912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823D"/>
                  </a:solidFill>
                </a:rPr>
                <a:t>$6.21</a:t>
              </a:r>
              <a:endParaRPr b="1" sz="800">
                <a:solidFill>
                  <a:srgbClr val="00823D"/>
                </a:solidFill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98.4%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4847034" y="2214563"/>
            <a:ext cx="3679144" cy="178650"/>
            <a:chOff x="171450" y="85725"/>
            <a:chExt cx="4905525" cy="238200"/>
          </a:xfrm>
        </p:grpSpPr>
        <p:sp>
          <p:nvSpPr>
            <p:cNvPr id="317" name="Google Shape;317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Samsung TV Plus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$2,000.91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200,731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$9.97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98.3%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22" name="Google Shape;322;p22"/>
          <p:cNvGrpSpPr/>
          <p:nvPr/>
        </p:nvGrpSpPr>
        <p:grpSpPr>
          <a:xfrm>
            <a:off x="4847034" y="2514600"/>
            <a:ext cx="3679144" cy="178650"/>
            <a:chOff x="171450" y="85725"/>
            <a:chExt cx="4905525" cy="238200"/>
          </a:xfrm>
        </p:grpSpPr>
        <p:sp>
          <p:nvSpPr>
            <p:cNvPr id="323" name="Google Shape;323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Paramount+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4" name="Google Shape;324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$679.66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50,523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$13.45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27" name="Google Shape;327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98.6%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28" name="Google Shape;328;p22"/>
          <p:cNvGrpSpPr/>
          <p:nvPr/>
        </p:nvGrpSpPr>
        <p:grpSpPr>
          <a:xfrm>
            <a:off x="4847034" y="2814638"/>
            <a:ext cx="3679144" cy="178650"/>
            <a:chOff x="171450" y="85725"/>
            <a:chExt cx="4905525" cy="238200"/>
          </a:xfrm>
        </p:grpSpPr>
        <p:sp>
          <p:nvSpPr>
            <p:cNvPr id="329" name="Google Shape;329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Vizio WatchFree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$660.55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47,622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$13.87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3" name="Google Shape;333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99.3%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34" name="Google Shape;334;p22"/>
          <p:cNvGrpSpPr/>
          <p:nvPr/>
        </p:nvGrpSpPr>
        <p:grpSpPr>
          <a:xfrm>
            <a:off x="4847034" y="3114675"/>
            <a:ext cx="3679144" cy="178650"/>
            <a:chOff x="171450" y="85725"/>
            <a:chExt cx="4905525" cy="238200"/>
          </a:xfrm>
        </p:grpSpPr>
        <p:sp>
          <p:nvSpPr>
            <p:cNvPr id="335" name="Google Shape;335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Hulu Plus Roku TV (com.hulu.plus.roku)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$562.48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40,666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8" name="Google Shape;338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$13.83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39" name="Google Shape;339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99.5%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40" name="Google Shape;340;p22"/>
          <p:cNvGrpSpPr/>
          <p:nvPr/>
        </p:nvGrpSpPr>
        <p:grpSpPr>
          <a:xfrm>
            <a:off x="4847034" y="3414713"/>
            <a:ext cx="3679144" cy="178650"/>
            <a:chOff x="171450" y="85725"/>
            <a:chExt cx="4905525" cy="238200"/>
          </a:xfrm>
        </p:grpSpPr>
        <p:sp>
          <p:nvSpPr>
            <p:cNvPr id="341" name="Google Shape;341;p22"/>
            <p:cNvSpPr txBox="1"/>
            <p:nvPr/>
          </p:nvSpPr>
          <p:spPr>
            <a:xfrm>
              <a:off x="171450" y="85725"/>
              <a:ext cx="1524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lang="en" sz="800">
                  <a:solidFill>
                    <a:srgbClr val="666666"/>
                  </a:solidFill>
                </a:rPr>
                <a:t>Tubi TV Ecosystem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1790700" y="8572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$202.89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2647950" y="85725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21,341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4" name="Google Shape;344;p22"/>
            <p:cNvSpPr txBox="1"/>
            <p:nvPr/>
          </p:nvSpPr>
          <p:spPr>
            <a:xfrm>
              <a:off x="3695700" y="85725"/>
              <a:ext cx="80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$9.51</a:t>
              </a:r>
              <a:endParaRPr sz="800">
                <a:solidFill>
                  <a:srgbClr val="666666"/>
                </a:solidFill>
              </a:endParaRPr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4600575" y="85725"/>
              <a:ext cx="47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99.1%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496119" y="3762379"/>
            <a:ext cx="2648925" cy="678375"/>
            <a:chOff x="0" y="0"/>
            <a:chExt cx="3531900" cy="904500"/>
          </a:xfrm>
        </p:grpSpPr>
        <p:sp>
          <p:nvSpPr>
            <p:cNvPr id="347" name="Google Shape;347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49" name="Google Shape;349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chemeClr val="lt1"/>
                    </a:solidFill>
                  </a:rPr>
                  <a:t>Best CPM</a:t>
                </a:r>
                <a:endParaRPr b="1" i="0" sz="12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51" name="Google Shape;351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52" name="Google Shape;352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666666"/>
                    </a:solidFill>
                  </a:rPr>
                  <a:t>Sling TV Ecosystem</a:t>
                </a:r>
                <a:r>
                  <a:rPr i="0" lang="en" sz="900">
                    <a:solidFill>
                      <a:srgbClr val="666666"/>
                    </a:solidFill>
                  </a:rPr>
                  <a:t> at </a:t>
                </a:r>
                <a:r>
                  <a:rPr b="1" i="0" lang="en" sz="900">
                    <a:solidFill>
                      <a:srgbClr val="003726"/>
                    </a:solidFill>
                  </a:rPr>
                  <a:t>$6.21</a:t>
                </a:r>
                <a:endParaRPr i="0" sz="900">
                  <a:solidFill>
                    <a:srgbClr val="003726"/>
                  </a:solidFill>
                </a:endParaRPr>
              </a:p>
            </p:txBody>
          </p:sp>
        </p:grpSp>
      </p:grpSp>
      <p:grpSp>
        <p:nvGrpSpPr>
          <p:cNvPr id="354" name="Google Shape;354;p22"/>
          <p:cNvGrpSpPr/>
          <p:nvPr/>
        </p:nvGrpSpPr>
        <p:grpSpPr>
          <a:xfrm>
            <a:off x="3247433" y="3762379"/>
            <a:ext cx="2648925" cy="678375"/>
            <a:chOff x="0" y="0"/>
            <a:chExt cx="3531900" cy="904500"/>
          </a:xfrm>
        </p:grpSpPr>
        <p:sp>
          <p:nvSpPr>
            <p:cNvPr id="355" name="Google Shape;355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chemeClr val="lt1"/>
                    </a:solidFill>
                  </a:rPr>
                  <a:t>Most Impressions</a:t>
                </a:r>
                <a:endParaRPr b="1" i="0" sz="12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59" name="Google Shape;359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60" name="Google Shape;360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666666"/>
                    </a:solidFill>
                  </a:rPr>
                  <a:t>Sling TV Ecosystem</a:t>
                </a:r>
                <a:r>
                  <a:rPr i="0" lang="en" sz="900">
                    <a:solidFill>
                      <a:srgbClr val="666666"/>
                    </a:solidFill>
                  </a:rPr>
                  <a:t>: </a:t>
                </a:r>
                <a:r>
                  <a:rPr b="1" i="0" lang="en" sz="900">
                    <a:solidFill>
                      <a:srgbClr val="003726"/>
                    </a:solidFill>
                  </a:rPr>
                  <a:t>345,912</a:t>
                </a:r>
                <a:endParaRPr i="0" sz="900">
                  <a:solidFill>
                    <a:srgbClr val="003726"/>
                  </a:solidFill>
                </a:endParaRPr>
              </a:p>
            </p:txBody>
          </p:sp>
        </p:grpSp>
      </p:grpSp>
      <p:grpSp>
        <p:nvGrpSpPr>
          <p:cNvPr id="362" name="Google Shape;362;p22"/>
          <p:cNvGrpSpPr/>
          <p:nvPr/>
        </p:nvGrpSpPr>
        <p:grpSpPr>
          <a:xfrm>
            <a:off x="5998755" y="3762379"/>
            <a:ext cx="2648925" cy="678375"/>
            <a:chOff x="0" y="0"/>
            <a:chExt cx="3531900" cy="904500"/>
          </a:xfrm>
        </p:grpSpPr>
        <p:sp>
          <p:nvSpPr>
            <p:cNvPr id="363" name="Google Shape;363;p22"/>
            <p:cNvSpPr/>
            <p:nvPr/>
          </p:nvSpPr>
          <p:spPr>
            <a:xfrm>
              <a:off x="0" y="0"/>
              <a:ext cx="3531900" cy="904500"/>
            </a:xfrm>
            <a:prstGeom prst="roundRect">
              <a:avLst>
                <a:gd fmla="val 7458" name="adj"/>
              </a:avLst>
            </a:prstGeom>
            <a:solidFill>
              <a:srgbClr val="A7C142"/>
            </a:solidFill>
            <a:ln cap="flat" cmpd="sng" w="7150">
              <a:solidFill>
                <a:srgbClr val="B2E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22"/>
            <p:cNvGrpSpPr/>
            <p:nvPr/>
          </p:nvGrpSpPr>
          <p:grpSpPr>
            <a:xfrm>
              <a:off x="166973" y="166973"/>
              <a:ext cx="3198000" cy="251100"/>
              <a:chOff x="0" y="0"/>
              <a:chExt cx="3198000" cy="251100"/>
            </a:xfrm>
          </p:grpSpPr>
          <p:sp>
            <p:nvSpPr>
              <p:cNvPr id="365" name="Google Shape;365;p22"/>
              <p:cNvSpPr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2"/>
              <p:cNvSpPr txBox="1"/>
              <p:nvPr/>
            </p:nvSpPr>
            <p:spPr>
              <a:xfrm>
                <a:off x="0" y="0"/>
                <a:ext cx="3198000" cy="2511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00">
                    <a:solidFill>
                      <a:schemeClr val="lt1"/>
                    </a:solidFill>
                  </a:rPr>
                  <a:t>Largest Spend</a:t>
                </a:r>
                <a:endParaRPr b="1" i="0" sz="12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67" name="Google Shape;367;p22"/>
            <p:cNvGrpSpPr/>
            <p:nvPr/>
          </p:nvGrpSpPr>
          <p:grpSpPr>
            <a:xfrm>
              <a:off x="166973" y="499872"/>
              <a:ext cx="3198000" cy="237600"/>
              <a:chOff x="0" y="0"/>
              <a:chExt cx="3198000" cy="237600"/>
            </a:xfrm>
          </p:grpSpPr>
          <p:sp>
            <p:nvSpPr>
              <p:cNvPr id="368" name="Google Shape;368;p22"/>
              <p:cNvSpPr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2"/>
              <p:cNvSpPr txBox="1"/>
              <p:nvPr/>
            </p:nvSpPr>
            <p:spPr>
              <a:xfrm>
                <a:off x="0" y="0"/>
                <a:ext cx="3198000" cy="2376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" sz="900">
                    <a:solidFill>
                      <a:srgbClr val="666666"/>
                    </a:solidFill>
                  </a:rPr>
                  <a:t>Roku Ecosystem: </a:t>
                </a:r>
                <a:r>
                  <a:rPr b="1" i="0" lang="en" sz="900">
                    <a:solidFill>
                      <a:srgbClr val="003726"/>
                    </a:solidFill>
                  </a:rPr>
                  <a:t>$2,239.83</a:t>
                </a:r>
                <a:endParaRPr i="0" sz="900">
                  <a:solidFill>
                    <a:srgbClr val="003726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3"/>
          <p:cNvGrpSpPr/>
          <p:nvPr/>
        </p:nvGrpSpPr>
        <p:grpSpPr>
          <a:xfrm>
            <a:off x="496106" y="250031"/>
            <a:ext cx="1350000" cy="182925"/>
            <a:chOff x="0" y="0"/>
            <a:chExt cx="1800000" cy="243900"/>
          </a:xfrm>
        </p:grpSpPr>
        <p:sp>
          <p:nvSpPr>
            <p:cNvPr id="375" name="Google Shape;375;p23"/>
            <p:cNvSpPr/>
            <p:nvPr/>
          </p:nvSpPr>
          <p:spPr>
            <a:xfrm>
              <a:off x="0" y="0"/>
              <a:ext cx="1800000" cy="243900"/>
            </a:xfrm>
            <a:prstGeom prst="roundRect">
              <a:avLst>
                <a:gd fmla="val 2212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3"/>
            <p:cNvSpPr txBox="1"/>
            <p:nvPr/>
          </p:nvSpPr>
          <p:spPr>
            <a:xfrm>
              <a:off x="95250" y="0"/>
              <a:ext cx="1609500" cy="2439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GEOGRAPHIC TARGETING</a:t>
              </a:r>
              <a:endParaRPr b="1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7" name="Google Shape;377;p23"/>
          <p:cNvSpPr txBox="1"/>
          <p:nvPr/>
        </p:nvSpPr>
        <p:spPr>
          <a:xfrm>
            <a:off x="496106" y="500063"/>
            <a:ext cx="8151000" cy="53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666666"/>
                </a:solidFill>
              </a:rPr>
              <a:t>Saturating the Core Service Area</a:t>
            </a:r>
            <a:endParaRPr b="1" sz="21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By enforcing strict geographical boundaries, </a:t>
            </a:r>
            <a:r>
              <a:rPr b="1" lang="en" sz="900">
                <a:solidFill>
                  <a:srgbClr val="00823D"/>
                </a:solidFill>
              </a:rPr>
              <a:t>98.6% of campaign dollars</a:t>
            </a:r>
            <a:r>
              <a:rPr lang="en" sz="900">
                <a:solidFill>
                  <a:srgbClr val="666666"/>
                </a:solidFill>
              </a:rPr>
              <a:t> remained directly inside Happy Camper Home Services’ core market territory.</a:t>
            </a:r>
            <a:endParaRPr sz="900">
              <a:solidFill>
                <a:srgbClr val="666666"/>
              </a:solidFill>
            </a:endParaRPr>
          </a:p>
        </p:txBody>
      </p:sp>
      <p:pic>
        <p:nvPicPr>
          <p:cNvPr descr="A professional, clean infographic diagram showing a central hub labeled &quot;Emberfall-Timberline-Pinecone-Kindleford DMA&quot; connected with dotted lines to five surrounding circular nodes labeled &quot;Emberfall MN&quot;, &quot;Timberline MN&quot;, &quot;Pinecone Pass MN&quot;, &quot;Kindleford MN&quot;, and &quot;Cedar Bluff MN&quot;. Elegant flat vector business style, teal and dark gray palette, white background." id="378" name="Google Shape;3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975" y="1107275"/>
            <a:ext cx="2607900" cy="260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23"/>
          <p:cNvGrpSpPr/>
          <p:nvPr/>
        </p:nvGrpSpPr>
        <p:grpSpPr>
          <a:xfrm>
            <a:off x="4714875" y="1643063"/>
            <a:ext cx="3929175" cy="1821600"/>
            <a:chOff x="0" y="0"/>
            <a:chExt cx="5238900" cy="2428800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5238900" cy="2428800"/>
            </a:xfrm>
            <a:prstGeom prst="roundRect">
              <a:avLst>
                <a:gd fmla="val 2776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1" name="Google Shape;381;p23"/>
            <p:cNvGrpSpPr/>
            <p:nvPr/>
          </p:nvGrpSpPr>
          <p:grpSpPr>
            <a:xfrm>
              <a:off x="190500" y="95250"/>
              <a:ext cx="4857900" cy="319200"/>
              <a:chOff x="190500" y="95250"/>
              <a:chExt cx="4857900" cy="319200"/>
            </a:xfrm>
          </p:grpSpPr>
          <p:sp>
            <p:nvSpPr>
              <p:cNvPr id="382" name="Google Shape;382;p23"/>
              <p:cNvSpPr txBox="1"/>
              <p:nvPr/>
            </p:nvSpPr>
            <p:spPr>
              <a:xfrm>
                <a:off x="190500" y="95250"/>
                <a:ext cx="1619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CITY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23"/>
              <p:cNvSpPr txBox="1"/>
              <p:nvPr/>
            </p:nvSpPr>
            <p:spPr>
              <a:xfrm>
                <a:off x="1905000" y="95250"/>
                <a:ext cx="952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SPEND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23"/>
              <p:cNvSpPr txBox="1"/>
              <p:nvPr/>
            </p:nvSpPr>
            <p:spPr>
              <a:xfrm>
                <a:off x="2952750" y="95250"/>
                <a:ext cx="123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IMPRESSIONS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23"/>
              <p:cNvSpPr txBox="1"/>
              <p:nvPr/>
            </p:nvSpPr>
            <p:spPr>
              <a:xfrm>
                <a:off x="4286250" y="95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CPM</a:t>
                </a:r>
                <a:endParaRPr b="1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23"/>
              <p:cNvSpPr/>
              <p:nvPr/>
            </p:nvSpPr>
            <p:spPr>
              <a:xfrm>
                <a:off x="190500" y="400050"/>
                <a:ext cx="4857900" cy="14400"/>
              </a:xfrm>
              <a:prstGeom prst="rect">
                <a:avLst/>
              </a:prstGeom>
              <a:solidFill>
                <a:srgbClr val="B2E5D5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" name="Google Shape;387;p23"/>
            <p:cNvGrpSpPr/>
            <p:nvPr/>
          </p:nvGrpSpPr>
          <p:grpSpPr>
            <a:xfrm>
              <a:off x="190500" y="428625"/>
              <a:ext cx="4857900" cy="381075"/>
              <a:chOff x="190500" y="0"/>
              <a:chExt cx="4857900" cy="381075"/>
            </a:xfrm>
          </p:grpSpPr>
          <p:sp>
            <p:nvSpPr>
              <p:cNvPr id="388" name="Google Shape;388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Emberfall,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89" name="Google Shape;389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$1,454.00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0" name="Google Shape;390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155,000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1" name="Google Shape;391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$9.38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392" name="Google Shape;392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23"/>
            <p:cNvGrpSpPr/>
            <p:nvPr/>
          </p:nvGrpSpPr>
          <p:grpSpPr>
            <a:xfrm>
              <a:off x="190500" y="809625"/>
              <a:ext cx="4857900" cy="381075"/>
              <a:chOff x="190500" y="0"/>
              <a:chExt cx="4857900" cy="381075"/>
            </a:xfrm>
          </p:grpSpPr>
          <p:sp>
            <p:nvSpPr>
              <p:cNvPr id="394" name="Google Shape;394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Timberline,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5" name="Google Shape;395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$1,217.00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6" name="Google Shape;396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146,000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397" name="Google Shape;397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$8.34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9" name="Google Shape;399;p23"/>
            <p:cNvGrpSpPr/>
            <p:nvPr/>
          </p:nvGrpSpPr>
          <p:grpSpPr>
            <a:xfrm>
              <a:off x="190500" y="1190625"/>
              <a:ext cx="4857900" cy="381075"/>
              <a:chOff x="190500" y="0"/>
              <a:chExt cx="4857900" cy="381075"/>
            </a:xfrm>
          </p:grpSpPr>
          <p:sp>
            <p:nvSpPr>
              <p:cNvPr id="400" name="Google Shape;400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Pinecone Pass,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1" name="Google Shape;401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$1,115.00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2" name="Google Shape;402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128,000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3" name="Google Shape;403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$8.71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5" name="Google Shape;405;p23"/>
            <p:cNvGrpSpPr/>
            <p:nvPr/>
          </p:nvGrpSpPr>
          <p:grpSpPr>
            <a:xfrm>
              <a:off x="190500" y="1571625"/>
              <a:ext cx="4857900" cy="381075"/>
              <a:chOff x="190500" y="0"/>
              <a:chExt cx="4857900" cy="381075"/>
            </a:xfrm>
          </p:grpSpPr>
          <p:sp>
            <p:nvSpPr>
              <p:cNvPr id="406" name="Google Shape;406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Kindleford,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7" name="Google Shape;407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$447.00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8" name="Google Shape;408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51,000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09" name="Google Shape;409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$8.76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" name="Google Shape;411;p23"/>
            <p:cNvGrpSpPr/>
            <p:nvPr/>
          </p:nvGrpSpPr>
          <p:grpSpPr>
            <a:xfrm>
              <a:off x="190500" y="1952625"/>
              <a:ext cx="4857900" cy="381075"/>
              <a:chOff x="190500" y="0"/>
              <a:chExt cx="4857900" cy="381075"/>
            </a:xfrm>
          </p:grpSpPr>
          <p:sp>
            <p:nvSpPr>
              <p:cNvPr id="412" name="Google Shape;412;p23"/>
              <p:cNvSpPr txBox="1"/>
              <p:nvPr/>
            </p:nvSpPr>
            <p:spPr>
              <a:xfrm>
                <a:off x="190500" y="0"/>
                <a:ext cx="16191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666666"/>
                    </a:solidFill>
                  </a:rPr>
                  <a:t>Cedar Bluff, MN</a:t>
                </a:r>
                <a:endParaRPr b="1"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13" name="Google Shape;413;p23"/>
              <p:cNvSpPr txBox="1"/>
              <p:nvPr/>
            </p:nvSpPr>
            <p:spPr>
              <a:xfrm>
                <a:off x="1905000" y="0"/>
                <a:ext cx="952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$441.00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14" name="Google Shape;414;p23"/>
              <p:cNvSpPr txBox="1"/>
              <p:nvPr/>
            </p:nvSpPr>
            <p:spPr>
              <a:xfrm>
                <a:off x="2952750" y="0"/>
                <a:ext cx="12384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</a:rPr>
                  <a:t>47,000</a:t>
                </a:r>
                <a:endParaRPr sz="800">
                  <a:solidFill>
                    <a:srgbClr val="666666"/>
                  </a:solidFill>
                </a:endParaRPr>
              </a:p>
            </p:txBody>
          </p:sp>
          <p:sp>
            <p:nvSpPr>
              <p:cNvPr id="415" name="Google Shape;415;p23"/>
              <p:cNvSpPr txBox="1"/>
              <p:nvPr/>
            </p:nvSpPr>
            <p:spPr>
              <a:xfrm>
                <a:off x="4286250" y="0"/>
                <a:ext cx="762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23D"/>
                    </a:solidFill>
                  </a:rPr>
                  <a:t>$9.38</a:t>
                </a:r>
                <a:endParaRPr b="1" sz="800">
                  <a:solidFill>
                    <a:srgbClr val="00823D"/>
                  </a:solidFill>
                </a:endParaRPr>
              </a:p>
            </p:txBody>
          </p:sp>
          <p:sp>
            <p:nvSpPr>
              <p:cNvPr id="416" name="Google Shape;416;p23"/>
              <p:cNvSpPr/>
              <p:nvPr/>
            </p:nvSpPr>
            <p:spPr>
              <a:xfrm>
                <a:off x="190500" y="371475"/>
                <a:ext cx="4857900" cy="9600"/>
              </a:xfrm>
              <a:prstGeom prst="rect">
                <a:avLst/>
              </a:prstGeom>
              <a:solidFill>
                <a:srgbClr val="E5F7F2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7" name="Google Shape;417;p23"/>
          <p:cNvGrpSpPr/>
          <p:nvPr/>
        </p:nvGrpSpPr>
        <p:grpSpPr>
          <a:xfrm>
            <a:off x="496272" y="4035320"/>
            <a:ext cx="2693475" cy="377775"/>
            <a:chOff x="0" y="0"/>
            <a:chExt cx="3591300" cy="503700"/>
          </a:xfrm>
        </p:grpSpPr>
        <p:sp>
          <p:nvSpPr>
            <p:cNvPr id="418" name="Google Shape;418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Zero Budget Waste</a:t>
              </a:r>
              <a:endParaRPr b="1" sz="7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66666"/>
                  </a:solidFill>
                </a:rPr>
                <a:t>0% spent outside the service area</a:t>
              </a:r>
              <a:endParaRPr sz="600">
                <a:solidFill>
                  <a:srgbClr val="666666"/>
                </a:solidFill>
              </a:endParaRPr>
            </a:p>
          </p:txBody>
        </p:sp>
      </p:grpSp>
      <p:grpSp>
        <p:nvGrpSpPr>
          <p:cNvPr id="420" name="Google Shape;420;p23"/>
          <p:cNvGrpSpPr/>
          <p:nvPr/>
        </p:nvGrpSpPr>
        <p:grpSpPr>
          <a:xfrm>
            <a:off x="3225262" y="4035320"/>
            <a:ext cx="2693475" cy="377775"/>
            <a:chOff x="0" y="0"/>
            <a:chExt cx="3591300" cy="503700"/>
          </a:xfrm>
        </p:grpSpPr>
        <p:sp>
          <p:nvSpPr>
            <p:cNvPr id="421" name="Google Shape;421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Homeowner Focus</a:t>
              </a:r>
              <a:endParaRPr b="1" sz="7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66666"/>
                  </a:solidFill>
                </a:rPr>
                <a:t>Core local demographic saturation</a:t>
              </a:r>
              <a:endParaRPr sz="600">
                <a:solidFill>
                  <a:srgbClr val="666666"/>
                </a:solidFill>
              </a:endParaRPr>
            </a:p>
          </p:txBody>
        </p:sp>
      </p:grpSp>
      <p:grpSp>
        <p:nvGrpSpPr>
          <p:cNvPr id="423" name="Google Shape;423;p23"/>
          <p:cNvGrpSpPr/>
          <p:nvPr/>
        </p:nvGrpSpPr>
        <p:grpSpPr>
          <a:xfrm>
            <a:off x="5954260" y="4035320"/>
            <a:ext cx="2693475" cy="377775"/>
            <a:chOff x="0" y="0"/>
            <a:chExt cx="3591300" cy="503700"/>
          </a:xfrm>
        </p:grpSpPr>
        <p:sp>
          <p:nvSpPr>
            <p:cNvPr id="424" name="Google Shape;424;p23"/>
            <p:cNvSpPr/>
            <p:nvPr/>
          </p:nvSpPr>
          <p:spPr>
            <a:xfrm>
              <a:off x="0" y="0"/>
              <a:ext cx="3591300" cy="503700"/>
            </a:xfrm>
            <a:prstGeom prst="roundRect">
              <a:avLst>
                <a:gd fmla="val 7879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3"/>
            <p:cNvSpPr txBox="1"/>
            <p:nvPr/>
          </p:nvSpPr>
          <p:spPr>
            <a:xfrm>
              <a:off x="107156" y="0"/>
              <a:ext cx="3376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666666"/>
                  </a:solidFill>
                </a:rPr>
                <a:t>High Frequency</a:t>
              </a:r>
              <a:endParaRPr b="1" sz="7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66666"/>
                  </a:solidFill>
                </a:rPr>
                <a:t>Repeated exposure across local households</a:t>
              </a:r>
              <a:endParaRPr sz="600">
                <a:solidFill>
                  <a:srgbClr val="666666"/>
                </a:solidFill>
              </a:endParaRPr>
            </a:p>
          </p:txBody>
        </p:sp>
      </p:grpSp>
      <p:sp>
        <p:nvSpPr>
          <p:cNvPr id="426" name="Google Shape;426;p23"/>
          <p:cNvSpPr txBox="1"/>
          <p:nvPr/>
        </p:nvSpPr>
        <p:spPr>
          <a:xfrm>
            <a:off x="4714875" y="1085850"/>
            <a:ext cx="3929100" cy="5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33333"/>
                </a:solidFill>
              </a:rPr>
              <a:t>Emberfall-Timberline-Pinecone-Kindleford, MN</a:t>
            </a:r>
            <a:endParaRPr b="1" sz="10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Impressions: </a:t>
            </a:r>
            <a:r>
              <a:rPr b="1" lang="en" sz="800">
                <a:solidFill>
                  <a:srgbClr val="00823D"/>
                </a:solidFill>
              </a:rPr>
              <a:t>1,112,365</a:t>
            </a:r>
            <a:r>
              <a:rPr lang="en" sz="800">
                <a:solidFill>
                  <a:srgbClr val="666666"/>
                </a:solidFill>
              </a:rPr>
              <a:t> (98.7% of total)  |  Spend: </a:t>
            </a:r>
            <a:r>
              <a:rPr b="1" lang="en" sz="800">
                <a:solidFill>
                  <a:srgbClr val="00823D"/>
                </a:solidFill>
              </a:rPr>
              <a:t>$9,874.28</a:t>
            </a:r>
            <a:r>
              <a:rPr lang="en" sz="800">
                <a:solidFill>
                  <a:srgbClr val="666666"/>
                </a:solidFill>
              </a:rPr>
              <a:t> @ </a:t>
            </a:r>
            <a:r>
              <a:rPr b="1" lang="en" sz="800">
                <a:solidFill>
                  <a:srgbClr val="00823D"/>
                </a:solidFill>
              </a:rPr>
              <a:t>$8.88 CPM</a:t>
            </a:r>
            <a:endParaRPr sz="800">
              <a:solidFill>
                <a:srgbClr val="0082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24"/>
          <p:cNvPicPr preferRelativeResize="0"/>
          <p:nvPr/>
        </p:nvPicPr>
        <p:blipFill rotWithShape="1">
          <a:blip r:embed="rId3">
            <a:alphaModFix/>
          </a:blip>
          <a:srcRect b="7055" l="0" r="0" t="0"/>
          <a:stretch/>
        </p:blipFill>
        <p:spPr>
          <a:xfrm>
            <a:off x="5286375" y="0"/>
            <a:ext cx="3857700" cy="4492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24"/>
          <p:cNvGrpSpPr/>
          <p:nvPr/>
        </p:nvGrpSpPr>
        <p:grpSpPr>
          <a:xfrm>
            <a:off x="500063" y="392906"/>
            <a:ext cx="1386000" cy="178650"/>
            <a:chOff x="0" y="0"/>
            <a:chExt cx="1848000" cy="238200"/>
          </a:xfrm>
        </p:grpSpPr>
        <p:sp>
          <p:nvSpPr>
            <p:cNvPr id="433" name="Google Shape;433;p24"/>
            <p:cNvSpPr/>
            <p:nvPr/>
          </p:nvSpPr>
          <p:spPr>
            <a:xfrm>
              <a:off x="0" y="0"/>
              <a:ext cx="1848000" cy="238200"/>
            </a:xfrm>
            <a:prstGeom prst="roundRect">
              <a:avLst>
                <a:gd fmla="val 22640" name="adj"/>
              </a:avLst>
            </a:prstGeom>
            <a:solidFill>
              <a:srgbClr val="CCF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 txBox="1"/>
            <p:nvPr/>
          </p:nvSpPr>
          <p:spPr>
            <a:xfrm>
              <a:off x="0" y="0"/>
              <a:ext cx="1848000" cy="2382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AUDIENCE STRATEGY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435" name="Google Shape;435;p24"/>
          <p:cNvSpPr txBox="1"/>
          <p:nvPr/>
        </p:nvSpPr>
        <p:spPr>
          <a:xfrm>
            <a:off x="500063" y="678656"/>
            <a:ext cx="45720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66666"/>
                </a:solidFill>
              </a:rPr>
              <a:t>Balancing Mass Market Awareness with Warm Lead Conversion</a:t>
            </a:r>
            <a:endParaRPr b="1" sz="2000">
              <a:solidFill>
                <a:srgbClr val="666666"/>
              </a:solidFill>
            </a:endParaRPr>
          </a:p>
        </p:txBody>
      </p:sp>
      <p:grpSp>
        <p:nvGrpSpPr>
          <p:cNvPr id="436" name="Google Shape;436;p24"/>
          <p:cNvGrpSpPr/>
          <p:nvPr/>
        </p:nvGrpSpPr>
        <p:grpSpPr>
          <a:xfrm>
            <a:off x="500063" y="1427344"/>
            <a:ext cx="2178900" cy="2071800"/>
            <a:chOff x="0" y="0"/>
            <a:chExt cx="2905200" cy="2762400"/>
          </a:xfrm>
        </p:grpSpPr>
        <p:sp>
          <p:nvSpPr>
            <p:cNvPr id="437" name="Google Shape;437;p24"/>
            <p:cNvSpPr/>
            <p:nvPr/>
          </p:nvSpPr>
          <p:spPr>
            <a:xfrm>
              <a:off x="0" y="0"/>
              <a:ext cx="2905200" cy="2762400"/>
            </a:xfrm>
            <a:prstGeom prst="roundRect">
              <a:avLst>
                <a:gd fmla="val 22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4"/>
            <p:cNvSpPr txBox="1"/>
            <p:nvPr/>
          </p:nvSpPr>
          <p:spPr>
            <a:xfrm>
              <a:off x="171450" y="171450"/>
              <a:ext cx="25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00823D"/>
                  </a:solidFill>
                </a:rPr>
                <a:t>IN-MARKET AUDIENCE</a:t>
              </a:r>
              <a:endParaRPr b="1" sz="700">
                <a:solidFill>
                  <a:srgbClr val="00823D"/>
                </a:solidFill>
              </a:endParaRPr>
            </a:p>
          </p:txBody>
        </p:sp>
        <p:sp>
          <p:nvSpPr>
            <p:cNvPr id="439" name="Google Shape;439;p24"/>
            <p:cNvSpPr txBox="1"/>
            <p:nvPr/>
          </p:nvSpPr>
          <p:spPr>
            <a:xfrm>
              <a:off x="171450" y="419100"/>
              <a:ext cx="25623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823D"/>
                  </a:solidFill>
                </a:rPr>
                <a:t>$8.55</a:t>
              </a:r>
              <a:endParaRPr b="1" sz="2600">
                <a:solidFill>
                  <a:srgbClr val="00823D"/>
                </a:solidFill>
              </a:endParaRPr>
            </a:p>
          </p:txBody>
        </p:sp>
        <p:sp>
          <p:nvSpPr>
            <p:cNvPr id="440" name="Google Shape;440;p24"/>
            <p:cNvSpPr txBox="1"/>
            <p:nvPr/>
          </p:nvSpPr>
          <p:spPr>
            <a:xfrm>
              <a:off x="171450" y="990600"/>
              <a:ext cx="2562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Highly efficient CPM</a:t>
              </a:r>
              <a:endParaRPr b="1" sz="800">
                <a:solidFill>
                  <a:srgbClr val="666666"/>
                </a:solidFill>
              </a:endParaRPr>
            </a:p>
          </p:txBody>
        </p:sp>
        <p:cxnSp>
          <p:nvCxnSpPr>
            <p:cNvPr id="441" name="Google Shape;441;p24"/>
            <p:cNvCxnSpPr/>
            <p:nvPr/>
          </p:nvCxnSpPr>
          <p:spPr>
            <a:xfrm>
              <a:off x="171450" y="1276350"/>
              <a:ext cx="2562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2" name="Google Shape;442;p24"/>
            <p:cNvSpPr txBox="1"/>
            <p:nvPr/>
          </p:nvSpPr>
          <p:spPr>
            <a:xfrm>
              <a:off x="171450" y="1419225"/>
              <a:ext cx="2562300" cy="1190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Drives bulk reach. Home &amp; Garden segment scales broad funnel awareness cost-effectively across active local households.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443" name="Google Shape;443;p24"/>
          <p:cNvGrpSpPr/>
          <p:nvPr/>
        </p:nvGrpSpPr>
        <p:grpSpPr>
          <a:xfrm>
            <a:off x="2893219" y="1427344"/>
            <a:ext cx="2178900" cy="2071800"/>
            <a:chOff x="0" y="0"/>
            <a:chExt cx="2905200" cy="2762400"/>
          </a:xfrm>
        </p:grpSpPr>
        <p:sp>
          <p:nvSpPr>
            <p:cNvPr id="444" name="Google Shape;444;p24"/>
            <p:cNvSpPr/>
            <p:nvPr/>
          </p:nvSpPr>
          <p:spPr>
            <a:xfrm>
              <a:off x="0" y="0"/>
              <a:ext cx="2905200" cy="2762400"/>
            </a:xfrm>
            <a:prstGeom prst="roundRect">
              <a:avLst>
                <a:gd fmla="val 2296" name="adj"/>
              </a:avLst>
            </a:prstGeom>
            <a:solidFill>
              <a:srgbClr val="FFFFFF"/>
            </a:solidFill>
            <a:ln cap="flat" cmpd="sng" w="1430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4"/>
            <p:cNvSpPr txBox="1"/>
            <p:nvPr/>
          </p:nvSpPr>
          <p:spPr>
            <a:xfrm>
              <a:off x="171450" y="171450"/>
              <a:ext cx="2562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00823D"/>
                  </a:solidFill>
                </a:rPr>
                <a:t>SITE REMARKETING POOL</a:t>
              </a:r>
              <a:endParaRPr b="1" sz="700">
                <a:solidFill>
                  <a:srgbClr val="00823D"/>
                </a:solidFill>
              </a:endParaRPr>
            </a:p>
          </p:txBody>
        </p:sp>
        <p:sp>
          <p:nvSpPr>
            <p:cNvPr id="446" name="Google Shape;446;p24"/>
            <p:cNvSpPr txBox="1"/>
            <p:nvPr/>
          </p:nvSpPr>
          <p:spPr>
            <a:xfrm>
              <a:off x="171450" y="419100"/>
              <a:ext cx="2562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666666"/>
                  </a:solidFill>
                </a:rPr>
                <a:t>$19.73</a:t>
              </a:r>
              <a:endParaRPr b="1" sz="2600">
                <a:solidFill>
                  <a:srgbClr val="666666"/>
                </a:solidFill>
              </a:endParaRPr>
            </a:p>
          </p:txBody>
        </p:sp>
        <p:sp>
          <p:nvSpPr>
            <p:cNvPr id="447" name="Google Shape;447;p24"/>
            <p:cNvSpPr txBox="1"/>
            <p:nvPr/>
          </p:nvSpPr>
          <p:spPr>
            <a:xfrm>
              <a:off x="171450" y="990600"/>
              <a:ext cx="25623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666666"/>
                  </a:solidFill>
                </a:rPr>
                <a:t>Precise target CPM</a:t>
              </a:r>
              <a:endParaRPr b="1" sz="800">
                <a:solidFill>
                  <a:srgbClr val="666666"/>
                </a:solidFill>
              </a:endParaRPr>
            </a:p>
          </p:txBody>
        </p:sp>
        <p:cxnSp>
          <p:nvCxnSpPr>
            <p:cNvPr id="448" name="Google Shape;448;p24"/>
            <p:cNvCxnSpPr/>
            <p:nvPr/>
          </p:nvCxnSpPr>
          <p:spPr>
            <a:xfrm>
              <a:off x="171450" y="1276350"/>
              <a:ext cx="2562300" cy="0"/>
            </a:xfrm>
            <a:prstGeom prst="straightConnector1">
              <a:avLst/>
            </a:prstGeom>
            <a:solidFill>
              <a:srgbClr val="FFFFFF"/>
            </a:solidFill>
            <a:ln cap="flat" cmpd="sng" w="7150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24"/>
            <p:cNvSpPr txBox="1"/>
            <p:nvPr/>
          </p:nvSpPr>
          <p:spPr>
            <a:xfrm>
              <a:off x="171450" y="1419225"/>
              <a:ext cx="2562300" cy="1190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666666"/>
                  </a:solidFill>
                </a:rPr>
                <a:t>Captures warm prospects and stays top-of-mind with past site visitors, building trust and accelerating conversion.</a:t>
              </a:r>
              <a:endParaRPr sz="800">
                <a:solidFill>
                  <a:srgbClr val="666666"/>
                </a:solidFill>
              </a:endParaRPr>
            </a:p>
          </p:txBody>
        </p:sp>
      </p:grpSp>
      <p:grpSp>
        <p:nvGrpSpPr>
          <p:cNvPr id="450" name="Google Shape;450;p24"/>
          <p:cNvGrpSpPr/>
          <p:nvPr/>
        </p:nvGrpSpPr>
        <p:grpSpPr>
          <a:xfrm>
            <a:off x="500063" y="3590944"/>
            <a:ext cx="4572000" cy="857250"/>
            <a:chOff x="0" y="-403200"/>
            <a:chExt cx="6096000" cy="1143000"/>
          </a:xfrm>
        </p:grpSpPr>
        <p:sp>
          <p:nvSpPr>
            <p:cNvPr id="451" name="Google Shape;451;p24"/>
            <p:cNvSpPr/>
            <p:nvPr/>
          </p:nvSpPr>
          <p:spPr>
            <a:xfrm>
              <a:off x="0" y="-403200"/>
              <a:ext cx="6096000" cy="1143000"/>
            </a:xfrm>
            <a:prstGeom prst="roundRect">
              <a:avLst>
                <a:gd fmla="val 555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169545" y="207645"/>
              <a:ext cx="171600" cy="171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6000" y="90000"/>
                  </a:moveTo>
                  <a:lnTo>
                    <a:pt x="54000" y="90000"/>
                  </a:lnTo>
                  <a:lnTo>
                    <a:pt x="54000" y="54000"/>
                  </a:lnTo>
                  <a:lnTo>
                    <a:pt x="66000" y="54000"/>
                  </a:lnTo>
                  <a:lnTo>
                    <a:pt x="66000" y="90000"/>
                  </a:lnTo>
                  <a:close/>
                  <a:moveTo>
                    <a:pt x="66000" y="42000"/>
                  </a:moveTo>
                  <a:lnTo>
                    <a:pt x="54000" y="42000"/>
                  </a:lnTo>
                  <a:lnTo>
                    <a:pt x="54000" y="30000"/>
                  </a:lnTo>
                  <a:lnTo>
                    <a:pt x="66000" y="30000"/>
                  </a:lnTo>
                  <a:lnTo>
                    <a:pt x="66000" y="42000"/>
                  </a:lnTo>
                  <a:close/>
                </a:path>
              </a:pathLst>
            </a:custGeom>
            <a:solidFill>
              <a:srgbClr val="006A4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4"/>
            <p:cNvSpPr txBox="1"/>
            <p:nvPr/>
          </p:nvSpPr>
          <p:spPr>
            <a:xfrm>
              <a:off x="485775" y="-250800"/>
              <a:ext cx="5419800" cy="857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726"/>
                  </a:solidFill>
                </a:rPr>
                <a:t>KEY TAKEAWAY</a:t>
              </a:r>
              <a:endParaRPr b="1" sz="900">
                <a:solidFill>
                  <a:srgbClr val="003726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003726"/>
                  </a:solidFill>
                </a:rPr>
                <a:t>The campaign utilized a two-tiered targeting strategy to capture top-of-funnel homeowner awareness while remarketing to recent website traffic.</a:t>
              </a:r>
              <a:endParaRPr i="1" sz="900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5"/>
          <p:cNvGrpSpPr/>
          <p:nvPr/>
        </p:nvGrpSpPr>
        <p:grpSpPr>
          <a:xfrm>
            <a:off x="500063" y="357188"/>
            <a:ext cx="1285875" cy="185850"/>
            <a:chOff x="0" y="0"/>
            <a:chExt cx="1714500" cy="247800"/>
          </a:xfrm>
        </p:grpSpPr>
        <p:sp>
          <p:nvSpPr>
            <p:cNvPr id="459" name="Google Shape;459;p25"/>
            <p:cNvSpPr/>
            <p:nvPr/>
          </p:nvSpPr>
          <p:spPr>
            <a:xfrm>
              <a:off x="0" y="0"/>
              <a:ext cx="1714500" cy="247800"/>
            </a:xfrm>
            <a:prstGeom prst="roundRect">
              <a:avLst>
                <a:gd fmla="val 21538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5"/>
            <p:cNvSpPr txBox="1"/>
            <p:nvPr/>
          </p:nvSpPr>
          <p:spPr>
            <a:xfrm>
              <a:off x="0" y="0"/>
              <a:ext cx="1714500" cy="2478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KEY TAKEAWAYS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461" name="Google Shape;461;p25"/>
          <p:cNvSpPr txBox="1"/>
          <p:nvPr/>
        </p:nvSpPr>
        <p:spPr>
          <a:xfrm>
            <a:off x="500100" y="642963"/>
            <a:ext cx="81438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</a:rPr>
              <a:t>Key Takeaways &amp; Next Steps</a:t>
            </a:r>
            <a:endParaRPr b="1" sz="2400">
              <a:solidFill>
                <a:srgbClr val="666666"/>
              </a:solidFill>
            </a:endParaRPr>
          </a:p>
        </p:txBody>
      </p:sp>
      <p:grpSp>
        <p:nvGrpSpPr>
          <p:cNvPr id="462" name="Google Shape;462;p25"/>
          <p:cNvGrpSpPr/>
          <p:nvPr/>
        </p:nvGrpSpPr>
        <p:grpSpPr>
          <a:xfrm>
            <a:off x="500063" y="1178719"/>
            <a:ext cx="3929175" cy="2357550"/>
            <a:chOff x="0" y="0"/>
            <a:chExt cx="5238900" cy="3143400"/>
          </a:xfrm>
        </p:grpSpPr>
        <p:sp>
          <p:nvSpPr>
            <p:cNvPr id="463" name="Google Shape;463;p25"/>
            <p:cNvSpPr/>
            <p:nvPr/>
          </p:nvSpPr>
          <p:spPr>
            <a:xfrm>
              <a:off x="0" y="0"/>
              <a:ext cx="5238900" cy="3143400"/>
            </a:xfrm>
            <a:prstGeom prst="roundRect">
              <a:avLst>
                <a:gd fmla="val 2121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5"/>
            <p:cNvSpPr txBox="1"/>
            <p:nvPr/>
          </p:nvSpPr>
          <p:spPr>
            <a:xfrm>
              <a:off x="190500" y="190500"/>
              <a:ext cx="4857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23D"/>
                  </a:solidFill>
                </a:rPr>
                <a:t>July Wins</a:t>
              </a:r>
              <a:endParaRPr b="1" sz="1200">
                <a:solidFill>
                  <a:srgbClr val="00823D"/>
                </a:solidFill>
              </a:endParaRPr>
            </a:p>
            <a:p>
              <a:pPr indent="-222250" lvl="0" marL="342900" rtl="0" algn="l">
                <a:spcBef>
                  <a:spcPts val="7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$8.90 CTV CPM, 40% to 64% below industry average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1.13M impressions with 97.96% video completion rate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92.1% of delivery reached homeowners 35+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98.6% of spend inside core DMA territory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50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About 128K unique households reached at 8.8x frequency</a:t>
              </a:r>
              <a:endParaRPr sz="900">
                <a:solidFill>
                  <a:srgbClr val="666666"/>
                </a:solidFill>
              </a:endParaRPr>
            </a:p>
          </p:txBody>
        </p:sp>
      </p:grpSp>
      <p:grpSp>
        <p:nvGrpSpPr>
          <p:cNvPr id="465" name="Google Shape;465;p25"/>
          <p:cNvGrpSpPr/>
          <p:nvPr/>
        </p:nvGrpSpPr>
        <p:grpSpPr>
          <a:xfrm>
            <a:off x="4714875" y="1178719"/>
            <a:ext cx="3929175" cy="2357550"/>
            <a:chOff x="0" y="0"/>
            <a:chExt cx="5238900" cy="3143400"/>
          </a:xfrm>
        </p:grpSpPr>
        <p:sp>
          <p:nvSpPr>
            <p:cNvPr id="466" name="Google Shape;466;p25"/>
            <p:cNvSpPr/>
            <p:nvPr/>
          </p:nvSpPr>
          <p:spPr>
            <a:xfrm>
              <a:off x="0" y="0"/>
              <a:ext cx="5238900" cy="3143400"/>
            </a:xfrm>
            <a:prstGeom prst="roundRect">
              <a:avLst>
                <a:gd fmla="val 2121" name="adj"/>
              </a:avLst>
            </a:prstGeom>
            <a:solidFill>
              <a:srgbClr val="FFFFFF"/>
            </a:solidFill>
            <a:ln cap="flat" cmpd="sng" w="107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5"/>
            <p:cNvSpPr txBox="1"/>
            <p:nvPr/>
          </p:nvSpPr>
          <p:spPr>
            <a:xfrm>
              <a:off x="190500" y="190500"/>
              <a:ext cx="48579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23D"/>
                  </a:solidFill>
                </a:rPr>
                <a:t>August Priorities</a:t>
              </a:r>
              <a:endParaRPr b="1" sz="1200">
                <a:solidFill>
                  <a:srgbClr val="00823D"/>
                </a:solidFill>
              </a:endParaRPr>
            </a:p>
            <a:p>
              <a:pPr indent="-222250" lvl="0" marL="342900" rtl="0" algn="l">
                <a:spcBef>
                  <a:spcPts val="7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Raise CPCV bids to $0.05 to $0.08 for Tier-1 access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Target more premium inventory with higher bids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Enforce 100% CTV big-screen delivery, no desktop remnants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Activate Microsoft Curated Package Beta for local home services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0"/>
                </a:spcAft>
                <a:buClr>
                  <a:srgbClr val="666666"/>
                </a:buClr>
                <a:buSzPts val="900"/>
                <a:buFont typeface="Arial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Maintain $322/day even pacing on $10,000 August budget</a:t>
              </a:r>
              <a:endParaRPr sz="900">
                <a:solidFill>
                  <a:srgbClr val="666666"/>
                </a:solidFill>
              </a:endParaRPr>
            </a:p>
            <a:p>
              <a:pPr indent="-222250" lvl="0" marL="342900" rtl="0" algn="l">
                <a:spcBef>
                  <a:spcPts val="500"/>
                </a:spcBef>
                <a:spcAft>
                  <a:spcPts val="500"/>
                </a:spcAft>
                <a:buClr>
                  <a:srgbClr val="666666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666666"/>
                  </a:solidFill>
                </a:rPr>
                <a:t>Maintain a frequency between 6–10 for remainder of month</a:t>
              </a:r>
              <a:endParaRPr sz="900">
                <a:solidFill>
                  <a:srgbClr val="666666"/>
                </a:solidFill>
              </a:endParaRPr>
            </a:p>
          </p:txBody>
        </p:sp>
      </p:grpSp>
      <p:grpSp>
        <p:nvGrpSpPr>
          <p:cNvPr id="468" name="Google Shape;468;p25"/>
          <p:cNvGrpSpPr/>
          <p:nvPr/>
        </p:nvGrpSpPr>
        <p:grpSpPr>
          <a:xfrm>
            <a:off x="500075" y="3679027"/>
            <a:ext cx="8143875" cy="636548"/>
            <a:chOff x="0" y="0"/>
            <a:chExt cx="10858500" cy="1190700"/>
          </a:xfrm>
        </p:grpSpPr>
        <p:sp>
          <p:nvSpPr>
            <p:cNvPr id="469" name="Google Shape;469;p25"/>
            <p:cNvSpPr/>
            <p:nvPr/>
          </p:nvSpPr>
          <p:spPr>
            <a:xfrm>
              <a:off x="0" y="0"/>
              <a:ext cx="10858500" cy="1190700"/>
            </a:xfrm>
            <a:prstGeom prst="roundRect">
              <a:avLst>
                <a:gd fmla="val 56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5"/>
            <p:cNvSpPr txBox="1"/>
            <p:nvPr/>
          </p:nvSpPr>
          <p:spPr>
            <a:xfrm>
              <a:off x="571500" y="171450"/>
              <a:ext cx="10096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lt1"/>
                  </a:solidFill>
                </a:rPr>
                <a:t>THE BOTTOM LINE</a:t>
              </a:r>
              <a:endParaRPr b="1" sz="9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</a:rPr>
                <a:t>July's results established a strong baseline. August builds on that foundation by trading CPM headroom for better placements and deeper household reach.</a:t>
              </a:r>
              <a:r>
                <a:rPr i="1" lang="en" sz="900">
                  <a:solidFill>
                    <a:srgbClr val="003726"/>
                  </a:solidFill>
                </a:rPr>
                <a:t> </a:t>
              </a:r>
              <a:endParaRPr i="1" sz="900">
                <a:solidFill>
                  <a:srgbClr val="003726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6"/>
          <p:cNvPicPr preferRelativeResize="0"/>
          <p:nvPr/>
        </p:nvPicPr>
        <p:blipFill rotWithShape="1">
          <a:blip r:embed="rId4">
            <a:alphaModFix/>
          </a:blip>
          <a:srcRect b="12932" l="5389" r="5094" t="44"/>
          <a:stretch/>
        </p:blipFill>
        <p:spPr>
          <a:xfrm>
            <a:off x="0" y="0"/>
            <a:ext cx="3440400" cy="447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26"/>
          <p:cNvGrpSpPr/>
          <p:nvPr/>
        </p:nvGrpSpPr>
        <p:grpSpPr>
          <a:xfrm>
            <a:off x="3857625" y="642938"/>
            <a:ext cx="4786425" cy="3929175"/>
            <a:chOff x="5143500" y="857250"/>
            <a:chExt cx="6381900" cy="5238900"/>
          </a:xfrm>
        </p:grpSpPr>
        <p:grpSp>
          <p:nvGrpSpPr>
            <p:cNvPr id="477" name="Google Shape;477;p26"/>
            <p:cNvGrpSpPr/>
            <p:nvPr/>
          </p:nvGrpSpPr>
          <p:grpSpPr>
            <a:xfrm>
              <a:off x="8953500" y="857250"/>
              <a:ext cx="2571900" cy="285900"/>
              <a:chOff x="0" y="0"/>
              <a:chExt cx="2571900" cy="285900"/>
            </a:xfrm>
          </p:grpSpPr>
          <p:sp>
            <p:nvSpPr>
              <p:cNvPr id="478" name="Google Shape;478;p26"/>
              <p:cNvSpPr/>
              <p:nvPr/>
            </p:nvSpPr>
            <p:spPr>
              <a:xfrm>
                <a:off x="0" y="0"/>
                <a:ext cx="2571900" cy="285900"/>
              </a:xfrm>
              <a:prstGeom prst="roundRect">
                <a:avLst>
                  <a:gd fmla="val 50000" name="adj"/>
                </a:avLst>
              </a:prstGeom>
              <a:solidFill>
                <a:srgbClr val="CCFFE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6"/>
              <p:cNvSpPr txBox="1"/>
              <p:nvPr/>
            </p:nvSpPr>
            <p:spPr>
              <a:xfrm>
                <a:off x="0" y="0"/>
                <a:ext cx="2571900" cy="285900"/>
              </a:xfrm>
              <a:prstGeom prst="rect">
                <a:avLst/>
              </a:prstGeom>
              <a:solidFill>
                <a:srgbClr val="A7C1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chemeClr val="lt1"/>
                    </a:solidFill>
                    <a:highlight>
                      <a:srgbClr val="A7C142"/>
                    </a:highlight>
                  </a:rPr>
                  <a:t>CAMPAIGN PROPOSAL</a:t>
                </a:r>
                <a:endParaRPr b="1" sz="700">
                  <a:solidFill>
                    <a:schemeClr val="lt1"/>
                  </a:solidFill>
                  <a:highlight>
                    <a:srgbClr val="A7C142"/>
                  </a:highlight>
                </a:endParaRPr>
              </a:p>
            </p:txBody>
          </p:sp>
        </p:grpSp>
        <p:sp>
          <p:nvSpPr>
            <p:cNvPr id="480" name="Google Shape;480;p26"/>
            <p:cNvSpPr txBox="1"/>
            <p:nvPr/>
          </p:nvSpPr>
          <p:spPr>
            <a:xfrm>
              <a:off x="5143500" y="1809750"/>
              <a:ext cx="638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A7C142"/>
                  </a:solidFill>
                </a:rPr>
                <a:t>CAMP DIGITAL PREMIUM STREAMING OPTIMIZATION</a:t>
              </a:r>
              <a:endParaRPr b="1" sz="700">
                <a:solidFill>
                  <a:srgbClr val="A7C142"/>
                </a:solidFill>
              </a:endParaRPr>
            </a:p>
          </p:txBody>
        </p:sp>
        <p:sp>
          <p:nvSpPr>
            <p:cNvPr id="481" name="Google Shape;481;p26"/>
            <p:cNvSpPr txBox="1"/>
            <p:nvPr/>
          </p:nvSpPr>
          <p:spPr>
            <a:xfrm>
              <a:off x="5143500" y="2190750"/>
              <a:ext cx="6381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</a:rPr>
                <a:t>Tri Peaks </a:t>
              </a:r>
              <a:r>
                <a:rPr b="1" lang="en" sz="2400">
                  <a:solidFill>
                    <a:srgbClr val="FFFFFF"/>
                  </a:solidFill>
                </a:rPr>
                <a:t>Home Services</a:t>
              </a:r>
              <a:endParaRPr b="1" sz="2400">
                <a:solidFill>
                  <a:srgbClr val="FFFFFF"/>
                </a:solidFill>
              </a:endParaRPr>
            </a:p>
          </p:txBody>
        </p:sp>
        <p:sp>
          <p:nvSpPr>
            <p:cNvPr id="482" name="Google Shape;482;p26"/>
            <p:cNvSpPr txBox="1"/>
            <p:nvPr/>
          </p:nvSpPr>
          <p:spPr>
            <a:xfrm>
              <a:off x="5143500" y="2857500"/>
              <a:ext cx="6381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A7C142"/>
                  </a:solidFill>
                </a:rPr>
                <a:t>Premium Streaming (OTT / CTV) Campaign Review</a:t>
              </a:r>
              <a:endParaRPr b="1" sz="1800">
                <a:solidFill>
                  <a:srgbClr val="A7C142"/>
                </a:solidFill>
              </a:endParaRPr>
            </a:p>
          </p:txBody>
        </p:sp>
        <p:sp>
          <p:nvSpPr>
            <p:cNvPr id="483" name="Google Shape;483;p26"/>
            <p:cNvSpPr txBox="1"/>
            <p:nvPr/>
          </p:nvSpPr>
          <p:spPr>
            <a:xfrm>
              <a:off x="5143500" y="400050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A7C142"/>
                  </a:solidFill>
                </a:rPr>
                <a:t>Full Month Performance Report (Sept 1 – Sept 30)</a:t>
              </a:r>
              <a:endParaRPr b="1" sz="900">
                <a:solidFill>
                  <a:srgbClr val="A7C142"/>
                </a:solidFill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5143500" y="4476750"/>
              <a:ext cx="6381900" cy="14400"/>
            </a:xfrm>
            <a:prstGeom prst="rect">
              <a:avLst/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 txBox="1"/>
            <p:nvPr/>
          </p:nvSpPr>
          <p:spPr>
            <a:xfrm>
              <a:off x="5143500" y="4667250"/>
              <a:ext cx="638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Prepared by:</a:t>
              </a:r>
              <a:r>
                <a:rPr lang="en" sz="800">
                  <a:solidFill>
                    <a:srgbClr val="FFFFFF"/>
                  </a:solidFill>
                </a:rPr>
                <a:t> CAMP Digital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Platform:</a:t>
              </a:r>
              <a:r>
                <a:rPr lang="en" sz="800">
                  <a:solidFill>
                    <a:srgbClr val="FFFFFF"/>
                  </a:solidFill>
                </a:rPr>
                <a:t> Microsoft Advertising Network — Connected TV &amp; Premium OTT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A7C142"/>
                  </a:solidFill>
                </a:rPr>
                <a:t>Core Market:</a:t>
              </a:r>
              <a:r>
                <a:rPr lang="en" sz="800">
                  <a:solidFill>
                    <a:srgbClr val="FFFFFF"/>
                  </a:solidFill>
                </a:rPr>
                <a:t> Denver </a:t>
              </a:r>
              <a:endParaRPr sz="8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27"/>
          <p:cNvGrpSpPr/>
          <p:nvPr/>
        </p:nvGrpSpPr>
        <p:grpSpPr>
          <a:xfrm>
            <a:off x="476250" y="266700"/>
            <a:ext cx="1000200" cy="171600"/>
            <a:chOff x="0" y="0"/>
            <a:chExt cx="1000200" cy="171600"/>
          </a:xfrm>
        </p:grpSpPr>
        <p:sp>
          <p:nvSpPr>
            <p:cNvPr id="491" name="Google Shape;491;p27"/>
            <p:cNvSpPr/>
            <p:nvPr/>
          </p:nvSpPr>
          <p:spPr>
            <a:xfrm>
              <a:off x="0" y="0"/>
              <a:ext cx="1000200" cy="171600"/>
            </a:xfrm>
            <a:prstGeom prst="roundRect">
              <a:avLst>
                <a:gd fmla="val 22222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7"/>
            <p:cNvSpPr txBox="1"/>
            <p:nvPr/>
          </p:nvSpPr>
          <p:spPr>
            <a:xfrm>
              <a:off x="0" y="0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PRICING MODEL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27"/>
          <p:cNvGrpSpPr/>
          <p:nvPr/>
        </p:nvGrpSpPr>
        <p:grpSpPr>
          <a:xfrm>
            <a:off x="476250" y="495300"/>
            <a:ext cx="8191500" cy="800100"/>
            <a:chOff x="0" y="0"/>
            <a:chExt cx="8191500" cy="800100"/>
          </a:xfrm>
        </p:grpSpPr>
        <p:sp>
          <p:nvSpPr>
            <p:cNvPr id="494" name="Google Shape;494;p27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100% Working Media. Zero Hidden Tech Taxes.</a:t>
              </a:r>
              <a:endParaRPr b="1" sz="24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7"/>
            <p:cNvSpPr txBox="1"/>
            <p:nvPr/>
          </p:nvSpPr>
          <p:spPr>
            <a:xfrm>
              <a:off x="0" y="41910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Media is purchased directly through the ad engines at transparent CPM-based pricing, with a flat monthly management fee that keeps our incentives aligned with campaign outcomes.</a:t>
              </a:r>
              <a:endParaRPr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27"/>
          <p:cNvGrpSpPr/>
          <p:nvPr/>
        </p:nvGrpSpPr>
        <p:grpSpPr>
          <a:xfrm>
            <a:off x="476250" y="1428750"/>
            <a:ext cx="3762300" cy="1571700"/>
            <a:chOff x="0" y="0"/>
            <a:chExt cx="3762300" cy="1571700"/>
          </a:xfrm>
        </p:grpSpPr>
        <p:sp>
          <p:nvSpPr>
            <p:cNvPr id="497" name="Google Shape;497;p27"/>
            <p:cNvSpPr/>
            <p:nvPr/>
          </p:nvSpPr>
          <p:spPr>
            <a:xfrm>
              <a:off x="0" y="0"/>
              <a:ext cx="3762300" cy="15717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7"/>
            <p:cNvSpPr txBox="1"/>
            <p:nvPr/>
          </p:nvSpPr>
          <p:spPr>
            <a:xfrm>
              <a:off x="190500" y="142875"/>
              <a:ext cx="3381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TRADITIONAL CTV MODELS</a:t>
              </a:r>
              <a:endParaRPr b="1"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lang="en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Hidden platform markups and unknown inventory fees</a:t>
              </a:r>
              <a:endParaRPr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lang="en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Layered reseller margins that shrink working media</a:t>
              </a:r>
              <a:endParaRPr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—</a:t>
              </a:r>
              <a:r>
                <a:rPr lang="en" sz="105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Obscured placement and performance reporting</a:t>
              </a:r>
              <a:endParaRPr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27"/>
          <p:cNvGrpSpPr/>
          <p:nvPr/>
        </p:nvGrpSpPr>
        <p:grpSpPr>
          <a:xfrm>
            <a:off x="4429125" y="1428750"/>
            <a:ext cx="4238700" cy="1571700"/>
            <a:chOff x="0" y="0"/>
            <a:chExt cx="4238700" cy="1571700"/>
          </a:xfrm>
        </p:grpSpPr>
        <p:sp>
          <p:nvSpPr>
            <p:cNvPr id="500" name="Google Shape;500;p27"/>
            <p:cNvSpPr/>
            <p:nvPr/>
          </p:nvSpPr>
          <p:spPr>
            <a:xfrm>
              <a:off x="0" y="0"/>
              <a:ext cx="4238700" cy="1571700"/>
            </a:xfrm>
            <a:prstGeom prst="roundRect">
              <a:avLst>
                <a:gd fmla="val 3636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7"/>
            <p:cNvSpPr txBox="1"/>
            <p:nvPr/>
          </p:nvSpPr>
          <p:spPr>
            <a:xfrm>
              <a:off x="190500" y="142875"/>
              <a:ext cx="3857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THE CAMP DIGITAL MODEL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100% of media budget goes to buying impressions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Flat monthly management fee, disclosed up front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Direct access to placement, CPM and delivery reporting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27"/>
          <p:cNvGrpSpPr/>
          <p:nvPr/>
        </p:nvGrpSpPr>
        <p:grpSpPr>
          <a:xfrm>
            <a:off x="476250" y="3190875"/>
            <a:ext cx="2476500" cy="1047900"/>
            <a:chOff x="0" y="0"/>
            <a:chExt cx="2476500" cy="1047900"/>
          </a:xfrm>
        </p:grpSpPr>
        <p:sp>
          <p:nvSpPr>
            <p:cNvPr id="503" name="Google Shape;503;p27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7"/>
            <p:cNvSpPr txBox="1"/>
            <p:nvPr/>
          </p:nvSpPr>
          <p:spPr>
            <a:xfrm>
              <a:off x="171450" y="114300"/>
              <a:ext cx="2133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MONARCH’S MONTHLY MEDIA</a:t>
              </a:r>
              <a:endParaRPr b="1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$20,000</a:t>
              </a:r>
              <a:endParaRPr b="1" sz="2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NET USD, working media</a:t>
              </a:r>
              <a:endParaRPr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27"/>
          <p:cNvGrpSpPr/>
          <p:nvPr/>
        </p:nvGrpSpPr>
        <p:grpSpPr>
          <a:xfrm>
            <a:off x="3095625" y="3190875"/>
            <a:ext cx="2476500" cy="1047900"/>
            <a:chOff x="0" y="0"/>
            <a:chExt cx="2476500" cy="1047900"/>
          </a:xfrm>
        </p:grpSpPr>
        <p:sp>
          <p:nvSpPr>
            <p:cNvPr id="506" name="Google Shape;506;p27"/>
            <p:cNvSpPr/>
            <p:nvPr/>
          </p:nvSpPr>
          <p:spPr>
            <a:xfrm>
              <a:off x="0" y="0"/>
              <a:ext cx="2476500" cy="1047900"/>
            </a:xfrm>
            <a:prstGeom prst="roundRect">
              <a:avLst>
                <a:gd fmla="val 5454" name="adj"/>
              </a:avLst>
            </a:prstGeom>
            <a:solidFill>
              <a:srgbClr val="EBF7EE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 txBox="1"/>
            <p:nvPr/>
          </p:nvSpPr>
          <p:spPr>
            <a:xfrm>
              <a:off x="171450" y="114300"/>
              <a:ext cx="2133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THIRD-PARTY MARKUPS</a:t>
              </a:r>
              <a:endParaRPr b="1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rPr>
                <a:t>$0</a:t>
              </a:r>
              <a:endParaRPr b="1" sz="2600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No reseller margin in the buy</a:t>
              </a:r>
              <a:endParaRPr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27"/>
          <p:cNvGrpSpPr/>
          <p:nvPr/>
        </p:nvGrpSpPr>
        <p:grpSpPr>
          <a:xfrm>
            <a:off x="5715000" y="3190875"/>
            <a:ext cx="2952900" cy="1047900"/>
            <a:chOff x="0" y="0"/>
            <a:chExt cx="2952900" cy="1047900"/>
          </a:xfrm>
        </p:grpSpPr>
        <p:sp>
          <p:nvSpPr>
            <p:cNvPr id="509" name="Google Shape;509;p27"/>
            <p:cNvSpPr/>
            <p:nvPr/>
          </p:nvSpPr>
          <p:spPr>
            <a:xfrm>
              <a:off x="0" y="0"/>
              <a:ext cx="2952900" cy="10479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7"/>
            <p:cNvSpPr txBox="1"/>
            <p:nvPr/>
          </p:nvSpPr>
          <p:spPr>
            <a:xfrm>
              <a:off x="171450" y="114300"/>
              <a:ext cx="2610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ESTIMATED IMPRESSIONS</a:t>
              </a:r>
              <a:endParaRPr b="1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1,900,000</a:t>
              </a:r>
              <a:endParaRPr b="1" sz="2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Across two targeted ad groups</a:t>
              </a:r>
              <a:endParaRPr sz="8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27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512" name="Google Shape;512;p27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Monarch Home Services · </a:t>
              </a:r>
              <a:r>
                <a:rPr lang="en" sz="750">
                  <a:solidFill>
                    <a:srgbClr val="999999"/>
                  </a:solidFill>
                </a:rPr>
                <a:t>August </a:t>
              </a: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7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28"/>
          <p:cNvGrpSpPr/>
          <p:nvPr/>
        </p:nvGrpSpPr>
        <p:grpSpPr>
          <a:xfrm>
            <a:off x="552450" y="333375"/>
            <a:ext cx="8039100" cy="1028700"/>
            <a:chOff x="0" y="0"/>
            <a:chExt cx="8039100" cy="1028700"/>
          </a:xfrm>
        </p:grpSpPr>
        <p:sp>
          <p:nvSpPr>
            <p:cNvPr id="516" name="Google Shape;516;p28"/>
            <p:cNvSpPr/>
            <p:nvPr/>
          </p:nvSpPr>
          <p:spPr>
            <a:xfrm>
              <a:off x="0" y="0"/>
              <a:ext cx="1333500" cy="190500"/>
            </a:xfrm>
            <a:prstGeom prst="roundRect">
              <a:avLst>
                <a:gd fmla="val 25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8"/>
            <p:cNvSpPr txBox="1"/>
            <p:nvPr/>
          </p:nvSpPr>
          <p:spPr>
            <a:xfrm>
              <a:off x="0" y="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GEOGRAPHIC TARGETING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0" y="238125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Five Cities. Three DMAs. Zero Wasted Impressions.</a:t>
              </a:r>
              <a:endParaRPr b="1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8"/>
            <p:cNvSpPr txBox="1"/>
            <p:nvPr/>
          </p:nvSpPr>
          <p:spPr>
            <a:xfrm>
              <a:off x="0" y="647700"/>
              <a:ext cx="803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Delivery is confined to the California cities Monarch actively services — bought by name, one city at a time, rather than as a Fresno–Visalia or Bakersfield DMA broadcast buy.</a:t>
              </a:r>
              <a:endParaRPr b="0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28"/>
          <p:cNvGrpSpPr/>
          <p:nvPr/>
        </p:nvGrpSpPr>
        <p:grpSpPr>
          <a:xfrm>
            <a:off x="552450" y="1543050"/>
            <a:ext cx="4762500" cy="2381400"/>
            <a:chOff x="0" y="0"/>
            <a:chExt cx="4762500" cy="2381400"/>
          </a:xfrm>
        </p:grpSpPr>
        <p:sp>
          <p:nvSpPr>
            <p:cNvPr id="521" name="Google Shape;521;p28"/>
            <p:cNvSpPr/>
            <p:nvPr/>
          </p:nvSpPr>
          <p:spPr>
            <a:xfrm>
              <a:off x="0" y="0"/>
              <a:ext cx="4762500" cy="2381400"/>
            </a:xfrm>
            <a:prstGeom prst="roundRect">
              <a:avLst>
                <a:gd fmla="val 24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2" name="Google Shape;522;p28"/>
            <p:cNvGrpSpPr/>
            <p:nvPr/>
          </p:nvGrpSpPr>
          <p:grpSpPr>
            <a:xfrm>
              <a:off x="152400" y="133350"/>
              <a:ext cx="4457850" cy="2019300"/>
              <a:chOff x="0" y="0"/>
              <a:chExt cx="4457850" cy="2019300"/>
            </a:xfrm>
          </p:grpSpPr>
          <p:grpSp>
            <p:nvGrpSpPr>
              <p:cNvPr id="523" name="Google Shape;523;p28"/>
              <p:cNvGrpSpPr/>
              <p:nvPr/>
            </p:nvGrpSpPr>
            <p:grpSpPr>
              <a:xfrm>
                <a:off x="0" y="0"/>
                <a:ext cx="4457850" cy="330708"/>
                <a:chOff x="0" y="0"/>
                <a:chExt cx="4457850" cy="330708"/>
              </a:xfrm>
            </p:grpSpPr>
            <p:sp>
              <p:nvSpPr>
                <p:cNvPr id="524" name="Google Shape;524;p28"/>
                <p:cNvSpPr/>
                <p:nvPr/>
              </p:nvSpPr>
              <p:spPr>
                <a:xfrm>
                  <a:off x="0" y="0"/>
                  <a:ext cx="4457850" cy="330708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28"/>
                <p:cNvSpPr txBox="1"/>
                <p:nvPr/>
              </p:nvSpPr>
              <p:spPr>
                <a:xfrm>
                  <a:off x="137160" y="0"/>
                  <a:ext cx="220000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Bakersfield, CA</a:t>
                  </a:r>
                  <a:endParaRPr b="1" sz="11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28"/>
                <p:cNvSpPr txBox="1"/>
                <p:nvPr/>
              </p:nvSpPr>
              <p:spPr>
                <a:xfrm>
                  <a:off x="2200000" y="0"/>
                  <a:ext cx="212069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rgbClr val="77777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Bakersfield DMA</a:t>
                  </a:r>
                  <a:endParaRPr sz="85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7" name="Google Shape;527;p28"/>
              <p:cNvGrpSpPr/>
              <p:nvPr/>
            </p:nvGrpSpPr>
            <p:grpSpPr>
              <a:xfrm>
                <a:off x="0" y="422148"/>
                <a:ext cx="4457850" cy="330708"/>
                <a:chOff x="0" y="0"/>
                <a:chExt cx="4457850" cy="330708"/>
              </a:xfrm>
            </p:grpSpPr>
            <p:sp>
              <p:nvSpPr>
                <p:cNvPr id="528" name="Google Shape;528;p28"/>
                <p:cNvSpPr/>
                <p:nvPr/>
              </p:nvSpPr>
              <p:spPr>
                <a:xfrm>
                  <a:off x="0" y="0"/>
                  <a:ext cx="4457850" cy="330708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28"/>
                <p:cNvSpPr txBox="1"/>
                <p:nvPr/>
              </p:nvSpPr>
              <p:spPr>
                <a:xfrm>
                  <a:off x="137160" y="0"/>
                  <a:ext cx="220000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Visalia, CA</a:t>
                  </a:r>
                  <a:endParaRPr b="1" sz="11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28"/>
                <p:cNvSpPr txBox="1"/>
                <p:nvPr/>
              </p:nvSpPr>
              <p:spPr>
                <a:xfrm>
                  <a:off x="2200000" y="0"/>
                  <a:ext cx="212069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rgbClr val="77777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Fresno–Visalia DMA</a:t>
                  </a:r>
                  <a:endParaRPr sz="85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1" name="Google Shape;531;p28"/>
              <p:cNvGrpSpPr/>
              <p:nvPr/>
            </p:nvGrpSpPr>
            <p:grpSpPr>
              <a:xfrm>
                <a:off x="0" y="844296"/>
                <a:ext cx="4457850" cy="330708"/>
                <a:chOff x="0" y="0"/>
                <a:chExt cx="4457850" cy="330708"/>
              </a:xfrm>
            </p:grpSpPr>
            <p:sp>
              <p:nvSpPr>
                <p:cNvPr id="532" name="Google Shape;532;p28"/>
                <p:cNvSpPr/>
                <p:nvPr/>
              </p:nvSpPr>
              <p:spPr>
                <a:xfrm>
                  <a:off x="0" y="0"/>
                  <a:ext cx="4457850" cy="330708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28"/>
                <p:cNvSpPr txBox="1"/>
                <p:nvPr/>
              </p:nvSpPr>
              <p:spPr>
                <a:xfrm>
                  <a:off x="137160" y="0"/>
                  <a:ext cx="220000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Fresno, CA</a:t>
                  </a:r>
                  <a:endParaRPr b="1" sz="11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28"/>
                <p:cNvSpPr txBox="1"/>
                <p:nvPr/>
              </p:nvSpPr>
              <p:spPr>
                <a:xfrm>
                  <a:off x="2200000" y="0"/>
                  <a:ext cx="212069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rgbClr val="77777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Fresno–Visalia DMA</a:t>
                  </a:r>
                  <a:endParaRPr sz="85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5" name="Google Shape;535;p28"/>
              <p:cNvGrpSpPr/>
              <p:nvPr/>
            </p:nvGrpSpPr>
            <p:grpSpPr>
              <a:xfrm>
                <a:off x="0" y="1266444"/>
                <a:ext cx="4457850" cy="330708"/>
                <a:chOff x="0" y="0"/>
                <a:chExt cx="4457850" cy="330708"/>
              </a:xfrm>
            </p:grpSpPr>
            <p:sp>
              <p:nvSpPr>
                <p:cNvPr id="536" name="Google Shape;536;p28"/>
                <p:cNvSpPr/>
                <p:nvPr/>
              </p:nvSpPr>
              <p:spPr>
                <a:xfrm>
                  <a:off x="0" y="0"/>
                  <a:ext cx="4457850" cy="330708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28"/>
                <p:cNvSpPr txBox="1"/>
                <p:nvPr/>
              </p:nvSpPr>
              <p:spPr>
                <a:xfrm>
                  <a:off x="137160" y="0"/>
                  <a:ext cx="220000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Paso Robles, CA</a:t>
                  </a:r>
                  <a:endParaRPr b="1" sz="11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28"/>
                <p:cNvSpPr txBox="1"/>
                <p:nvPr/>
              </p:nvSpPr>
              <p:spPr>
                <a:xfrm>
                  <a:off x="2200000" y="0"/>
                  <a:ext cx="212069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rgbClr val="77777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Santa Barbara–SLO DMA</a:t>
                  </a:r>
                  <a:endParaRPr sz="85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9" name="Google Shape;539;p28"/>
              <p:cNvGrpSpPr/>
              <p:nvPr/>
            </p:nvGrpSpPr>
            <p:grpSpPr>
              <a:xfrm>
                <a:off x="0" y="1688592"/>
                <a:ext cx="4457850" cy="330708"/>
                <a:chOff x="0" y="0"/>
                <a:chExt cx="4457850" cy="330708"/>
              </a:xfrm>
            </p:grpSpPr>
            <p:sp>
              <p:nvSpPr>
                <p:cNvPr id="540" name="Google Shape;540;p28"/>
                <p:cNvSpPr/>
                <p:nvPr/>
              </p:nvSpPr>
              <p:spPr>
                <a:xfrm>
                  <a:off x="0" y="0"/>
                  <a:ext cx="4457850" cy="330708"/>
                </a:xfrm>
                <a:prstGeom prst="roundRect">
                  <a:avLst>
                    <a:gd fmla="val 1728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A7C14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28"/>
                <p:cNvSpPr txBox="1"/>
                <p:nvPr/>
              </p:nvSpPr>
              <p:spPr>
                <a:xfrm>
                  <a:off x="137160" y="0"/>
                  <a:ext cx="220000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100">
                      <a:solidFill>
                        <a:srgbClr val="00331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San Luis Obispo, CA</a:t>
                  </a:r>
                  <a:endParaRPr b="1" sz="11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28"/>
                <p:cNvSpPr txBox="1"/>
                <p:nvPr/>
              </p:nvSpPr>
              <p:spPr>
                <a:xfrm>
                  <a:off x="2200000" y="0"/>
                  <a:ext cx="2120690" cy="330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rgbClr val="77777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Santa Barbara–SLO DMA</a:t>
                  </a:r>
                  <a:endParaRPr sz="85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59" name="Google Shape;559;p28"/>
          <p:cNvGrpSpPr/>
          <p:nvPr/>
        </p:nvGrpSpPr>
        <p:grpSpPr>
          <a:xfrm>
            <a:off x="5524500" y="1543050"/>
            <a:ext cx="3067200" cy="2381400"/>
            <a:chOff x="0" y="0"/>
            <a:chExt cx="3067200" cy="2381400"/>
          </a:xfrm>
        </p:grpSpPr>
        <p:grpSp>
          <p:nvGrpSpPr>
            <p:cNvPr id="560" name="Google Shape;560;p28"/>
            <p:cNvGrpSpPr/>
            <p:nvPr/>
          </p:nvGrpSpPr>
          <p:grpSpPr>
            <a:xfrm>
              <a:off x="0" y="0"/>
              <a:ext cx="3067200" cy="705000"/>
              <a:chOff x="0" y="0"/>
              <a:chExt cx="3067200" cy="705000"/>
            </a:xfrm>
          </p:grpSpPr>
          <p:sp>
            <p:nvSpPr>
              <p:cNvPr id="561" name="Google Shape;561;p28"/>
              <p:cNvSpPr/>
              <p:nvPr/>
            </p:nvSpPr>
            <p:spPr>
              <a:xfrm>
                <a:off x="0" y="0"/>
                <a:ext cx="30672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00331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8"/>
              <p:cNvSpPr txBox="1"/>
              <p:nvPr/>
            </p:nvSpPr>
            <p:spPr>
              <a:xfrm>
                <a:off x="152400" y="7620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38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COMMUNITIES TARGETED</a:t>
                </a:r>
                <a:endParaRPr b="1" sz="638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87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1" sz="18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23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Named city-level geo targets</a:t>
                </a:r>
                <a:endParaRPr sz="723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3" name="Google Shape;563;p28"/>
            <p:cNvGrpSpPr/>
            <p:nvPr/>
          </p:nvGrpSpPr>
          <p:grpSpPr>
            <a:xfrm>
              <a:off x="0" y="819150"/>
              <a:ext cx="3067200" cy="705000"/>
              <a:chOff x="0" y="0"/>
              <a:chExt cx="3067200" cy="705000"/>
            </a:xfrm>
          </p:grpSpPr>
          <p:sp>
            <p:nvSpPr>
              <p:cNvPr id="564" name="Google Shape;564;p28"/>
              <p:cNvSpPr/>
              <p:nvPr/>
            </p:nvSpPr>
            <p:spPr>
              <a:xfrm>
                <a:off x="0" y="0"/>
                <a:ext cx="3067200" cy="705000"/>
              </a:xfrm>
              <a:prstGeom prst="roundRect">
                <a:avLst>
                  <a:gd fmla="val 81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8"/>
              <p:cNvSpPr txBox="1"/>
              <p:nvPr/>
            </p:nvSpPr>
            <p:spPr>
              <a:xfrm>
                <a:off x="152400" y="7620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94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DEVICE SCOPE</a:t>
                </a:r>
                <a:endParaRPr b="1" sz="694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665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42+ inch TV Screens</a:t>
                </a:r>
                <a:endParaRPr b="1" sz="1665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86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CTV-led, cross-screen</a:t>
                </a:r>
                <a:endParaRPr sz="786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28"/>
            <p:cNvGrpSpPr/>
            <p:nvPr/>
          </p:nvGrpSpPr>
          <p:grpSpPr>
            <a:xfrm>
              <a:off x="0" y="1638300"/>
              <a:ext cx="3067200" cy="743100"/>
              <a:chOff x="0" y="0"/>
              <a:chExt cx="3067200" cy="743100"/>
            </a:xfrm>
          </p:grpSpPr>
          <p:sp>
            <p:nvSpPr>
              <p:cNvPr id="567" name="Google Shape;567;p28"/>
              <p:cNvSpPr/>
              <p:nvPr/>
            </p:nvSpPr>
            <p:spPr>
              <a:xfrm>
                <a:off x="0" y="0"/>
                <a:ext cx="3067200" cy="743100"/>
              </a:xfrm>
              <a:prstGeom prst="roundRect">
                <a:avLst>
                  <a:gd fmla="val 769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A7C1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8"/>
              <p:cNvSpPr txBox="1"/>
              <p:nvPr/>
            </p:nvSpPr>
            <p:spPr>
              <a:xfrm>
                <a:off x="152400" y="95250"/>
                <a:ext cx="27624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94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FLIGHT LENGTH</a:t>
                </a:r>
                <a:endParaRPr b="1" sz="694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665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30 Days</a:t>
                </a:r>
                <a:endParaRPr b="1" sz="1665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86">
                    <a:solidFill>
                      <a:srgbClr val="777777"/>
                    </a:solidFill>
                  </a:rPr>
                  <a:t>August </a:t>
                </a:r>
                <a:r>
                  <a:rPr lang="en" sz="786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2026</a:t>
                </a:r>
                <a:endParaRPr sz="786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9" name="Google Shape;569;p28"/>
          <p:cNvGrpSpPr/>
          <p:nvPr/>
        </p:nvGrpSpPr>
        <p:grpSpPr>
          <a:xfrm>
            <a:off x="552450" y="4038600"/>
            <a:ext cx="8039100" cy="533400"/>
            <a:chOff x="0" y="0"/>
            <a:chExt cx="8039100" cy="533400"/>
          </a:xfrm>
        </p:grpSpPr>
        <p:sp>
          <p:nvSpPr>
            <p:cNvPr id="570" name="Google Shape;570;p28"/>
            <p:cNvSpPr/>
            <p:nvPr/>
          </p:nvSpPr>
          <p:spPr>
            <a:xfrm>
              <a:off x="0" y="0"/>
              <a:ext cx="8039100" cy="533400"/>
            </a:xfrm>
            <a:prstGeom prst="roundRect">
              <a:avLst>
                <a:gd fmla="val 10714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8"/>
            <p:cNvSpPr txBox="1"/>
            <p:nvPr/>
          </p:nvSpPr>
          <p:spPr>
            <a:xfrm>
              <a:off x="152400" y="57150"/>
              <a:ext cx="7734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WHY THIS MATTERS</a:t>
              </a:r>
              <a:endParaRPr b="1" sz="7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 DMA broadcast buy would scatter impressions across three separate California markets, most of them in front of households Monarch cannot profitably serve. City-level CTV targeting spends the same dollars only where the trucks already run.</a:t>
              </a:r>
              <a:endParaRPr b="0" sz="8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28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573" name="Google Shape;573;p28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Monarch Home Services · </a:t>
              </a:r>
              <a:r>
                <a:rPr lang="en" sz="750">
                  <a:solidFill>
                    <a:srgbClr val="999999"/>
                  </a:solidFill>
                </a:rPr>
                <a:t>August</a:t>
              </a:r>
              <a:r>
                <a:rPr lang="en" sz="750">
                  <a:solidFill>
                    <a:srgbClr val="999999"/>
                  </a:solidFill>
                </a:rPr>
                <a:t> </a:t>
              </a: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8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29"/>
          <p:cNvGrpSpPr/>
          <p:nvPr/>
        </p:nvGrpSpPr>
        <p:grpSpPr>
          <a:xfrm>
            <a:off x="552450" y="333375"/>
            <a:ext cx="8039100" cy="781050"/>
            <a:chOff x="0" y="0"/>
            <a:chExt cx="8039100" cy="781050"/>
          </a:xfrm>
        </p:grpSpPr>
        <p:sp>
          <p:nvSpPr>
            <p:cNvPr id="580" name="Google Shape;580;p29"/>
            <p:cNvSpPr/>
            <p:nvPr/>
          </p:nvSpPr>
          <p:spPr>
            <a:xfrm>
              <a:off x="0" y="0"/>
              <a:ext cx="1000200" cy="171600"/>
            </a:xfrm>
            <a:prstGeom prst="roundRect">
              <a:avLst>
                <a:gd fmla="val 22222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 txBox="1"/>
            <p:nvPr/>
          </p:nvSpPr>
          <p:spPr>
            <a:xfrm>
              <a:off x="0" y="0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PROPOSAL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9"/>
            <p:cNvSpPr txBox="1"/>
            <p:nvPr/>
          </p:nvSpPr>
          <p:spPr>
            <a:xfrm>
              <a:off x="0" y="228600"/>
              <a:ext cx="8039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The Monarch Home Services Premium Streaming Plan</a:t>
              </a:r>
              <a:endParaRPr b="1" sz="222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9"/>
            <p:cNvSpPr txBox="1"/>
            <p:nvPr/>
          </p:nvSpPr>
          <p:spPr>
            <a:xfrm>
              <a:off x="0" y="590550"/>
              <a:ext cx="803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One campaign, two ad groups, each with individual targeting — built to create demand at the top of the funnel and recapture it at the bottom.</a:t>
              </a:r>
              <a:endParaRPr b="0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29"/>
          <p:cNvGrpSpPr/>
          <p:nvPr/>
        </p:nvGrpSpPr>
        <p:grpSpPr>
          <a:xfrm>
            <a:off x="552450" y="1190625"/>
            <a:ext cx="8039100" cy="552600"/>
            <a:chOff x="0" y="0"/>
            <a:chExt cx="8039100" cy="552600"/>
          </a:xfrm>
        </p:grpSpPr>
        <p:sp>
          <p:nvSpPr>
            <p:cNvPr id="585" name="Google Shape;585;p29"/>
            <p:cNvSpPr/>
            <p:nvPr/>
          </p:nvSpPr>
          <p:spPr>
            <a:xfrm>
              <a:off x="0" y="0"/>
              <a:ext cx="8039100" cy="552600"/>
            </a:xfrm>
            <a:prstGeom prst="roundRect">
              <a:avLst>
                <a:gd fmla="val 10344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6" name="Google Shape;586;p29"/>
            <p:cNvGrpSpPr/>
            <p:nvPr/>
          </p:nvGrpSpPr>
          <p:grpSpPr>
            <a:xfrm>
              <a:off x="152400" y="76200"/>
              <a:ext cx="7753350" cy="400200"/>
              <a:chOff x="0" y="0"/>
              <a:chExt cx="7753350" cy="400200"/>
            </a:xfrm>
          </p:grpSpPr>
          <p:sp>
            <p:nvSpPr>
              <p:cNvPr id="587" name="Google Shape;587;p29"/>
              <p:cNvSpPr txBox="1"/>
              <p:nvPr/>
            </p:nvSpPr>
            <p:spPr>
              <a:xfrm>
                <a:off x="0" y="0"/>
                <a:ext cx="1238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595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endParaRPr b="1" sz="595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893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Microsoft Audience Network</a:t>
                </a:r>
                <a:endParaRPr b="1" sz="89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9"/>
              <p:cNvSpPr txBox="1"/>
              <p:nvPr/>
            </p:nvSpPr>
            <p:spPr>
              <a:xfrm>
                <a:off x="1428750" y="0"/>
                <a:ext cx="1143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PLACEMENT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CTV / OTT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29"/>
              <p:cNvSpPr txBox="1"/>
              <p:nvPr/>
            </p:nvSpPr>
            <p:spPr>
              <a:xfrm>
                <a:off x="2762250" y="0"/>
                <a:ext cx="95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AD UNITS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:05 – :90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9"/>
              <p:cNvSpPr txBox="1"/>
              <p:nvPr/>
            </p:nvSpPr>
            <p:spPr>
              <a:xfrm>
                <a:off x="3905250" y="0"/>
                <a:ext cx="952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FLIGHT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30 days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9"/>
              <p:cNvSpPr txBox="1"/>
              <p:nvPr/>
            </p:nvSpPr>
            <p:spPr>
              <a:xfrm>
                <a:off x="5048250" y="0"/>
                <a:ext cx="1143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Cross Device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29"/>
              <p:cNvSpPr txBox="1"/>
              <p:nvPr/>
            </p:nvSpPr>
            <p:spPr>
              <a:xfrm>
                <a:off x="6381750" y="0"/>
                <a:ext cx="1371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A7C142"/>
                    </a:solidFill>
                    <a:latin typeface="Arial"/>
                    <a:ea typeface="Arial"/>
                    <a:cs typeface="Arial"/>
                    <a:sym typeface="Arial"/>
                  </a:rPr>
                  <a:t>PRICING</a:t>
                </a:r>
                <a:endParaRPr b="1" sz="7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CPCV · $0.03 est. bid</a:t>
                </a:r>
                <a:endParaRPr b="1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3" name="Google Shape;593;p29"/>
          <p:cNvGrpSpPr/>
          <p:nvPr/>
        </p:nvGrpSpPr>
        <p:grpSpPr>
          <a:xfrm>
            <a:off x="552450" y="1857375"/>
            <a:ext cx="8039100" cy="1286025"/>
            <a:chOff x="0" y="0"/>
            <a:chExt cx="8039100" cy="1286025"/>
          </a:xfrm>
        </p:grpSpPr>
        <p:sp>
          <p:nvSpPr>
            <p:cNvPr id="594" name="Google Shape;594;p29"/>
            <p:cNvSpPr/>
            <p:nvPr/>
          </p:nvSpPr>
          <p:spPr>
            <a:xfrm>
              <a:off x="0" y="0"/>
              <a:ext cx="80391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0" y="0"/>
              <a:ext cx="8039100" cy="333300"/>
            </a:xfrm>
            <a:prstGeom prst="rect">
              <a:avLst/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6" name="Google Shape;596;p29"/>
            <p:cNvCxnSpPr/>
            <p:nvPr/>
          </p:nvCxnSpPr>
          <p:spPr>
            <a:xfrm>
              <a:off x="22669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29"/>
            <p:cNvCxnSpPr/>
            <p:nvPr/>
          </p:nvCxnSpPr>
          <p:spPr>
            <a:xfrm>
              <a:off x="47053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29"/>
            <p:cNvCxnSpPr/>
            <p:nvPr/>
          </p:nvCxnSpPr>
          <p:spPr>
            <a:xfrm>
              <a:off x="58102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29"/>
            <p:cNvCxnSpPr/>
            <p:nvPr/>
          </p:nvCxnSpPr>
          <p:spPr>
            <a:xfrm>
              <a:off x="6915150" y="0"/>
              <a:ext cx="0" cy="12858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29"/>
            <p:cNvCxnSpPr/>
            <p:nvPr/>
          </p:nvCxnSpPr>
          <p:spPr>
            <a:xfrm>
              <a:off x="0" y="333375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1" name="Google Shape;601;p29"/>
            <p:cNvCxnSpPr/>
            <p:nvPr/>
          </p:nvCxnSpPr>
          <p:spPr>
            <a:xfrm>
              <a:off x="0" y="647700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29"/>
            <p:cNvCxnSpPr/>
            <p:nvPr/>
          </p:nvCxnSpPr>
          <p:spPr>
            <a:xfrm>
              <a:off x="0" y="962025"/>
              <a:ext cx="8039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3" name="Google Shape;603;p29"/>
            <p:cNvSpPr/>
            <p:nvPr/>
          </p:nvSpPr>
          <p:spPr>
            <a:xfrm>
              <a:off x="0" y="962025"/>
              <a:ext cx="8039100" cy="324000"/>
            </a:xfrm>
            <a:prstGeom prst="rect">
              <a:avLst/>
            </a:prstGeom>
            <a:solidFill>
              <a:srgbClr val="EBF7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9"/>
            <p:cNvSpPr txBox="1"/>
            <p:nvPr/>
          </p:nvSpPr>
          <p:spPr>
            <a:xfrm>
              <a:off x="114300" y="0"/>
              <a:ext cx="2038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 group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9"/>
            <p:cNvSpPr txBox="1"/>
            <p:nvPr/>
          </p:nvSpPr>
          <p:spPr>
            <a:xfrm>
              <a:off x="2381250" y="0"/>
              <a:ext cx="2209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Targeting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9"/>
            <p:cNvSpPr txBox="1"/>
            <p:nvPr/>
          </p:nvSpPr>
          <p:spPr>
            <a:xfrm>
              <a:off x="4705350" y="0"/>
              <a:ext cx="990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Est. impressions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9"/>
            <p:cNvSpPr txBox="1"/>
            <p:nvPr/>
          </p:nvSpPr>
          <p:spPr>
            <a:xfrm>
              <a:off x="5810250" y="0"/>
              <a:ext cx="990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Monthly investment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9"/>
            <p:cNvSpPr txBox="1"/>
            <p:nvPr/>
          </p:nvSpPr>
          <p:spPr>
            <a:xfrm>
              <a:off x="6915150" y="0"/>
              <a:ext cx="1009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Implied CPM</a:t>
              </a:r>
              <a:endParaRPr b="1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9" name="Google Shape;609;p29"/>
            <p:cNvGrpSpPr/>
            <p:nvPr/>
          </p:nvGrpSpPr>
          <p:grpSpPr>
            <a:xfrm>
              <a:off x="114300" y="333375"/>
              <a:ext cx="7810650" cy="314400"/>
              <a:chOff x="114300" y="0"/>
              <a:chExt cx="7810650" cy="314400"/>
            </a:xfrm>
          </p:grpSpPr>
          <p:sp>
            <p:nvSpPr>
              <p:cNvPr id="610" name="Google Shape;610;p29"/>
              <p:cNvSpPr txBox="1"/>
              <p:nvPr/>
            </p:nvSpPr>
            <p:spPr>
              <a:xfrm>
                <a:off x="114300" y="0"/>
                <a:ext cx="20385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In-Market — Relevant Audiences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9"/>
              <p:cNvSpPr txBox="1"/>
              <p:nvPr/>
            </p:nvSpPr>
            <p:spPr>
              <a:xfrm>
                <a:off x="2381250" y="0"/>
                <a:ext cx="22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Home &amp; Garden + Building Construction &amp; Maintenance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9"/>
              <p:cNvSpPr txBox="1"/>
              <p:nvPr/>
            </p:nvSpPr>
            <p:spPr>
              <a:xfrm>
                <a:off x="47053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1,800,000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9"/>
              <p:cNvSpPr txBox="1"/>
              <p:nvPr/>
            </p:nvSpPr>
            <p:spPr>
              <a:xfrm>
                <a:off x="58102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$18,000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9"/>
              <p:cNvSpPr txBox="1"/>
              <p:nvPr/>
            </p:nvSpPr>
            <p:spPr>
              <a:xfrm>
                <a:off x="6915150" y="0"/>
                <a:ext cx="10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$10.00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5" name="Google Shape;615;p29"/>
            <p:cNvGrpSpPr/>
            <p:nvPr/>
          </p:nvGrpSpPr>
          <p:grpSpPr>
            <a:xfrm>
              <a:off x="114300" y="647700"/>
              <a:ext cx="7810650" cy="314400"/>
              <a:chOff x="114300" y="0"/>
              <a:chExt cx="7810650" cy="314400"/>
            </a:xfrm>
          </p:grpSpPr>
          <p:sp>
            <p:nvSpPr>
              <p:cNvPr id="616" name="Google Shape;616;p29"/>
              <p:cNvSpPr txBox="1"/>
              <p:nvPr/>
            </p:nvSpPr>
            <p:spPr>
              <a:xfrm>
                <a:off x="114300" y="0"/>
                <a:ext cx="20385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Remarketing — Site Visitors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9"/>
              <p:cNvSpPr txBox="1"/>
              <p:nvPr/>
            </p:nvSpPr>
            <p:spPr>
              <a:xfrm>
                <a:off x="2381250" y="0"/>
                <a:ext cx="22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Remarketing list — prior site visitors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29"/>
              <p:cNvSpPr txBox="1"/>
              <p:nvPr/>
            </p:nvSpPr>
            <p:spPr>
              <a:xfrm>
                <a:off x="47053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100,000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29"/>
              <p:cNvSpPr txBox="1"/>
              <p:nvPr/>
            </p:nvSpPr>
            <p:spPr>
              <a:xfrm>
                <a:off x="5810250" y="0"/>
                <a:ext cx="9906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$2,000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29"/>
              <p:cNvSpPr txBox="1"/>
              <p:nvPr/>
            </p:nvSpPr>
            <p:spPr>
              <a:xfrm>
                <a:off x="6915150" y="0"/>
                <a:ext cx="1009800" cy="3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777777"/>
                    </a:solidFill>
                    <a:latin typeface="Arial"/>
                    <a:ea typeface="Arial"/>
                    <a:cs typeface="Arial"/>
                    <a:sym typeface="Arial"/>
                  </a:rPr>
                  <a:t>$20.00</a:t>
                </a:r>
                <a:endParaRPr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1" name="Google Shape;621;p29"/>
            <p:cNvGrpSpPr/>
            <p:nvPr/>
          </p:nvGrpSpPr>
          <p:grpSpPr>
            <a:xfrm>
              <a:off x="114300" y="962025"/>
              <a:ext cx="7810650" cy="324000"/>
              <a:chOff x="114300" y="0"/>
              <a:chExt cx="7810650" cy="324000"/>
            </a:xfrm>
          </p:grpSpPr>
          <p:sp>
            <p:nvSpPr>
              <p:cNvPr id="622" name="Google Shape;622;p29"/>
              <p:cNvSpPr txBox="1"/>
              <p:nvPr/>
            </p:nvSpPr>
            <p:spPr>
              <a:xfrm>
                <a:off x="114300" y="0"/>
                <a:ext cx="2038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Total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9"/>
              <p:cNvSpPr txBox="1"/>
              <p:nvPr/>
            </p:nvSpPr>
            <p:spPr>
              <a:xfrm>
                <a:off x="2381250" y="0"/>
                <a:ext cx="22098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1E"/>
                    </a:solidFill>
                    <a:latin typeface="Arial"/>
                    <a:ea typeface="Arial"/>
                    <a:cs typeface="Arial"/>
                    <a:sym typeface="Arial"/>
                  </a:rPr>
                  <a:t>1 campaign / 2 ad groups</a:t>
                </a:r>
                <a:endParaRPr b="1" sz="10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9"/>
              <p:cNvSpPr txBox="1"/>
              <p:nvPr/>
            </p:nvSpPr>
            <p:spPr>
              <a:xfrm>
                <a:off x="4705350" y="0"/>
                <a:ext cx="990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1,900,000</a:t>
                </a:r>
                <a:endParaRPr b="1" sz="10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9"/>
              <p:cNvSpPr txBox="1"/>
              <p:nvPr/>
            </p:nvSpPr>
            <p:spPr>
              <a:xfrm>
                <a:off x="5810250" y="0"/>
                <a:ext cx="990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$20,000</a:t>
                </a:r>
                <a:endParaRPr b="1" sz="10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9"/>
              <p:cNvSpPr txBox="1"/>
              <p:nvPr/>
            </p:nvSpPr>
            <p:spPr>
              <a:xfrm>
                <a:off x="6915150" y="0"/>
                <a:ext cx="10098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823D"/>
                    </a:solidFill>
                    <a:latin typeface="Arial"/>
                    <a:ea typeface="Arial"/>
                    <a:cs typeface="Arial"/>
                    <a:sym typeface="Arial"/>
                  </a:rPr>
                  <a:t>$10.53</a:t>
                </a:r>
                <a:endParaRPr b="1" sz="1000">
                  <a:solidFill>
                    <a:srgbClr val="0082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27" name="Google Shape;627;p29"/>
          <p:cNvGrpSpPr/>
          <p:nvPr/>
        </p:nvGrpSpPr>
        <p:grpSpPr>
          <a:xfrm>
            <a:off x="552450" y="3286125"/>
            <a:ext cx="8039100" cy="533400"/>
            <a:chOff x="0" y="0"/>
            <a:chExt cx="8039100" cy="533400"/>
          </a:xfrm>
        </p:grpSpPr>
        <p:sp>
          <p:nvSpPr>
            <p:cNvPr id="628" name="Google Shape;628;p29"/>
            <p:cNvSpPr/>
            <p:nvPr/>
          </p:nvSpPr>
          <p:spPr>
            <a:xfrm>
              <a:off x="0" y="0"/>
              <a:ext cx="8039100" cy="533400"/>
            </a:xfrm>
            <a:prstGeom prst="roundRect">
              <a:avLst>
                <a:gd fmla="val 10714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9"/>
            <p:cNvSpPr txBox="1"/>
            <p:nvPr/>
          </p:nvSpPr>
          <p:spPr>
            <a:xfrm>
              <a:off x="152400" y="57150"/>
              <a:ext cx="7734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READ THIS ALONGSIDE THE GEOGRAPHY</a:t>
              </a:r>
              <a:endParaRPr b="1" sz="7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1,800,000 in-market impressions build the brand across five California cities; 100,000 remarketing impressions keep Monarch in front of households that have already visited the site. Every dollar of the $20,000 is working media.</a:t>
              </a:r>
              <a:endParaRPr b="0" sz="85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29"/>
          <p:cNvSpPr txBox="1"/>
          <p:nvPr/>
        </p:nvSpPr>
        <p:spPr>
          <a:xfrm>
            <a:off x="552450" y="3924300"/>
            <a:ext cx="80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8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guaranteed; pricing is dynamic based on market demand. All dollars are NET USD. Implied CPM is derived from monthly investment ÷ estimated impressions.</a:t>
            </a:r>
            <a:endParaRPr i="1" sz="68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29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632" name="Google Shape;632;p29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Monarch Home Services · </a:t>
              </a:r>
              <a:r>
                <a:rPr lang="en" sz="750">
                  <a:solidFill>
                    <a:srgbClr val="999999"/>
                  </a:solidFill>
                </a:rPr>
                <a:t>August </a:t>
              </a: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2026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9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0"/>
          <p:cNvGrpSpPr/>
          <p:nvPr/>
        </p:nvGrpSpPr>
        <p:grpSpPr>
          <a:xfrm>
            <a:off x="552450" y="333375"/>
            <a:ext cx="8039100" cy="819150"/>
            <a:chOff x="0" y="0"/>
            <a:chExt cx="8039100" cy="819150"/>
          </a:xfrm>
        </p:grpSpPr>
        <p:sp>
          <p:nvSpPr>
            <p:cNvPr id="639" name="Google Shape;639;p30"/>
            <p:cNvSpPr/>
            <p:nvPr/>
          </p:nvSpPr>
          <p:spPr>
            <a:xfrm>
              <a:off x="0" y="0"/>
              <a:ext cx="2000100" cy="190500"/>
            </a:xfrm>
            <a:prstGeom prst="roundRect">
              <a:avLst>
                <a:gd fmla="val 2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0"/>
            <p:cNvSpPr txBox="1"/>
            <p:nvPr/>
          </p:nvSpPr>
          <p:spPr>
            <a:xfrm>
              <a:off x="0" y="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INCLUDED AT NO ADDITIONAL COST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0"/>
            <p:cNvSpPr txBox="1"/>
            <p:nvPr/>
          </p:nvSpPr>
          <p:spPr>
            <a:xfrm>
              <a:off x="0" y="228600"/>
              <a:ext cx="8039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Two Assets Monarch Keeps — Both Unlocked at Launch</a:t>
              </a:r>
              <a:endParaRPr b="1" sz="222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0"/>
            <p:cNvSpPr txBox="1"/>
            <p:nvPr/>
          </p:nvSpPr>
          <p:spPr>
            <a:xfrm>
              <a:off x="0" y="628650"/>
              <a:ext cx="803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777777"/>
                  </a:solidFill>
                  <a:latin typeface="Arial"/>
                  <a:ea typeface="Arial"/>
                  <a:cs typeface="Arial"/>
                  <a:sym typeface="Arial"/>
                </a:rPr>
                <a:t>The plan includes added-value components that most CTV vendors either charge for or simply do not offer. At 1.9M impressions, Monarch qualifies for both from day one.</a:t>
              </a:r>
              <a:endParaRPr b="0" sz="100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30"/>
          <p:cNvGrpSpPr/>
          <p:nvPr/>
        </p:nvGrpSpPr>
        <p:grpSpPr>
          <a:xfrm>
            <a:off x="552450" y="1333500"/>
            <a:ext cx="3905400" cy="1809600"/>
            <a:chOff x="0" y="0"/>
            <a:chExt cx="3905400" cy="1809600"/>
          </a:xfrm>
        </p:grpSpPr>
        <p:sp>
          <p:nvSpPr>
            <p:cNvPr id="644" name="Google Shape;644;p30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0"/>
            <p:cNvSpPr txBox="1"/>
            <p:nvPr/>
          </p:nvSpPr>
          <p:spPr>
            <a:xfrm>
              <a:off x="152400" y="133350"/>
              <a:ext cx="360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ADDED VALUE 01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Impression-Based Remarketing</a:t>
              </a:r>
              <a:endParaRPr b="1" sz="16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Every household exposed to Monarch’s streaming ad is assembled into a remarketing list — usable across Search, Performance Max, Display, Native and Online Video.</a:t>
              </a:r>
              <a:endParaRPr b="0" sz="9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152400" y="1219200"/>
              <a:ext cx="3600600" cy="457200"/>
            </a:xfrm>
            <a:prstGeom prst="roundRect">
              <a:avLst>
                <a:gd fmla="val 8333" name="adj"/>
              </a:avLst>
            </a:prstGeom>
            <a:solidFill>
              <a:srgbClr val="EBF7EE"/>
            </a:solidFill>
            <a:ln cap="flat" cmpd="sng" w="47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 txBox="1"/>
            <p:nvPr/>
          </p:nvSpPr>
          <p:spPr>
            <a:xfrm>
              <a:off x="228600" y="1219200"/>
              <a:ext cx="34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The audience built by the TV campaign becomes a targeting asset for every other channel Monarch runs.</a:t>
              </a:r>
              <a:endParaRPr b="1" sz="9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30"/>
          <p:cNvGrpSpPr/>
          <p:nvPr/>
        </p:nvGrpSpPr>
        <p:grpSpPr>
          <a:xfrm>
            <a:off x="4686300" y="1333500"/>
            <a:ext cx="3905400" cy="1809600"/>
            <a:chOff x="0" y="0"/>
            <a:chExt cx="3905400" cy="1809600"/>
          </a:xfrm>
        </p:grpSpPr>
        <p:sp>
          <p:nvSpPr>
            <p:cNvPr id="649" name="Google Shape;649;p30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 txBox="1"/>
            <p:nvPr/>
          </p:nvSpPr>
          <p:spPr>
            <a:xfrm>
              <a:off x="152400" y="133350"/>
              <a:ext cx="360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ADDED VALUE 02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Ad Effectiveness Study</a:t>
              </a:r>
              <a:endParaRPr b="1" sz="16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rPr>
                <a:t>Formal measurement of search lift, impact on the consumer decision journey and multi-touch attribution, correlated to Microsoft Audience Network ad exposure.</a:t>
              </a:r>
              <a:endParaRPr b="0" sz="9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152400" y="1219200"/>
              <a:ext cx="3600600" cy="457200"/>
            </a:xfrm>
            <a:prstGeom prst="roundRect">
              <a:avLst>
                <a:gd fmla="val 8333" name="adj"/>
              </a:avLst>
            </a:prstGeom>
            <a:solidFill>
              <a:srgbClr val="EBF7EE"/>
            </a:solidFill>
            <a:ln cap="flat" cmpd="sng" w="4775">
              <a:solidFill>
                <a:srgbClr val="A7C1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 txBox="1"/>
            <p:nvPr/>
          </p:nvSpPr>
          <p:spPr>
            <a:xfrm>
              <a:off x="228600" y="1219200"/>
              <a:ext cx="34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331E"/>
                  </a:solidFill>
                  <a:latin typeface="Arial"/>
                  <a:ea typeface="Arial"/>
                  <a:cs typeface="Arial"/>
                  <a:sym typeface="Arial"/>
                </a:rPr>
                <a:t>Requires approximately 1.5M impressions in a 30-day period — this plan delivers an estimated 1.9M.</a:t>
              </a:r>
              <a:endParaRPr b="1" sz="900">
                <a:solidFill>
                  <a:srgbClr val="0033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3" name="Google Shape;653;p30"/>
          <p:cNvGrpSpPr/>
          <p:nvPr/>
        </p:nvGrpSpPr>
        <p:grpSpPr>
          <a:xfrm>
            <a:off x="552450" y="3286125"/>
            <a:ext cx="8039100" cy="1238400"/>
            <a:chOff x="0" y="0"/>
            <a:chExt cx="8039100" cy="1238400"/>
          </a:xfrm>
        </p:grpSpPr>
        <p:sp>
          <p:nvSpPr>
            <p:cNvPr id="654" name="Google Shape;654;p30"/>
            <p:cNvSpPr/>
            <p:nvPr/>
          </p:nvSpPr>
          <p:spPr>
            <a:xfrm>
              <a:off x="0" y="0"/>
              <a:ext cx="8039100" cy="1238400"/>
            </a:xfrm>
            <a:prstGeom prst="roundRect">
              <a:avLst>
                <a:gd fmla="val 4615" name="adj"/>
              </a:avLst>
            </a:prstGeom>
            <a:solidFill>
              <a:srgbClr val="003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0"/>
            <p:cNvSpPr txBox="1"/>
            <p:nvPr/>
          </p:nvSpPr>
          <p:spPr>
            <a:xfrm>
              <a:off x="190500" y="133350"/>
              <a:ext cx="51435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THRESHOLD CLEARED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brand lift study is unlocked at launch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EBF7EE"/>
                  </a:solidFill>
                  <a:latin typeface="Arial"/>
                  <a:ea typeface="Arial"/>
                  <a:cs typeface="Arial"/>
                  <a:sym typeface="Arial"/>
                </a:rPr>
                <a:t>The August plan delivers an estimated 1,900,000 impressions in a 30-day window — above the roughly 1.5M the Ad Effectiveness Study requires. Monarch qualifies for formal search-lift and multi-touch attribution measurement from the very first flight, at no additional cost.</a:t>
              </a:r>
              <a:endParaRPr b="0" sz="950">
                <a:solidFill>
                  <a:srgbClr val="EBF7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0"/>
            <p:cNvSpPr txBox="1"/>
            <p:nvPr/>
          </p:nvSpPr>
          <p:spPr>
            <a:xfrm>
              <a:off x="5524500" y="190500"/>
              <a:ext cx="104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AUGUST PLAN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1.9M</a:t>
              </a:r>
              <a:endPara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0"/>
            <p:cNvSpPr txBox="1"/>
            <p:nvPr/>
          </p:nvSpPr>
          <p:spPr>
            <a:xfrm>
              <a:off x="6762750" y="190500"/>
              <a:ext cx="10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STUDY THRESHOLD</a:t>
              </a:r>
              <a:endParaRPr b="1" sz="85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1.5M</a:t>
              </a:r>
              <a:endParaRPr b="1" sz="28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8" name="Google Shape;658;p30"/>
          <p:cNvGrpSpPr/>
          <p:nvPr/>
        </p:nvGrpSpPr>
        <p:grpSpPr>
          <a:xfrm>
            <a:off x="552450" y="4714875"/>
            <a:ext cx="8039250" cy="190500"/>
            <a:chOff x="0" y="0"/>
            <a:chExt cx="8039250" cy="190500"/>
          </a:xfrm>
        </p:grpSpPr>
        <p:sp>
          <p:nvSpPr>
            <p:cNvPr id="659" name="Google Shape;659;p30"/>
            <p:cNvSpPr txBox="1"/>
            <p:nvPr/>
          </p:nvSpPr>
          <p:spPr>
            <a:xfrm>
              <a:off x="0" y="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CAMP Digital · Premium Streaming Media Plan · Monarch Home Services · August 2026</a:t>
              </a:r>
              <a:endParaRPr b="0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0"/>
            <p:cNvSpPr txBox="1"/>
            <p:nvPr/>
          </p:nvSpPr>
          <p:spPr>
            <a:xfrm>
              <a:off x="7753350" y="0"/>
              <a:ext cx="285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sz="7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1"/>
          <p:cNvGrpSpPr/>
          <p:nvPr/>
        </p:nvGrpSpPr>
        <p:grpSpPr>
          <a:xfrm>
            <a:off x="552450" y="476250"/>
            <a:ext cx="1295400" cy="190500"/>
            <a:chOff x="0" y="0"/>
            <a:chExt cx="1295400" cy="190500"/>
          </a:xfrm>
        </p:grpSpPr>
        <p:sp>
          <p:nvSpPr>
            <p:cNvPr id="666" name="Google Shape;666;p31"/>
            <p:cNvSpPr/>
            <p:nvPr/>
          </p:nvSpPr>
          <p:spPr>
            <a:xfrm>
              <a:off x="0" y="0"/>
              <a:ext cx="1295400" cy="190500"/>
            </a:xfrm>
            <a:prstGeom prst="roundRect">
              <a:avLst>
                <a:gd fmla="val 2000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1"/>
            <p:cNvSpPr txBox="1"/>
            <p:nvPr/>
          </p:nvSpPr>
          <p:spPr>
            <a:xfrm>
              <a:off x="0" y="0"/>
              <a:ext cx="129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RECOMMENDATION</a:t>
              </a:r>
              <a:endParaRPr b="1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31"/>
          <p:cNvSpPr txBox="1"/>
          <p:nvPr/>
        </p:nvSpPr>
        <p:spPr>
          <a:xfrm>
            <a:off x="552450" y="742950"/>
            <a:ext cx="803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Monarch Home Services Receives for $20,000 a Month</a:t>
            </a:r>
            <a:endParaRPr b="1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9" name="Google Shape;669;p31"/>
          <p:cNvGrpSpPr/>
          <p:nvPr/>
        </p:nvGrpSpPr>
        <p:grpSpPr>
          <a:xfrm>
            <a:off x="552450" y="1200150"/>
            <a:ext cx="4857900" cy="2381400"/>
            <a:chOff x="0" y="0"/>
            <a:chExt cx="4857900" cy="2381400"/>
          </a:xfrm>
        </p:grpSpPr>
        <p:sp>
          <p:nvSpPr>
            <p:cNvPr id="670" name="Google Shape;670;p31"/>
            <p:cNvSpPr/>
            <p:nvPr/>
          </p:nvSpPr>
          <p:spPr>
            <a:xfrm>
              <a:off x="0" y="0"/>
              <a:ext cx="4857900" cy="2381400"/>
            </a:xfrm>
            <a:prstGeom prst="roundRect">
              <a:avLst>
                <a:gd fmla="val 3200" name="adj"/>
              </a:avLst>
            </a:prstGeom>
            <a:solidFill>
              <a:srgbClr val="0044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1"/>
            <p:cNvSpPr txBox="1"/>
            <p:nvPr/>
          </p:nvSpPr>
          <p:spPr>
            <a:xfrm>
              <a:off x="171450" y="152400"/>
              <a:ext cx="45150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1,900,000 estimated premium CTV/OTT impressions over a 30-day flight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Delivery confined to five named California cities across three DMAs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Two in-market audience pools plus prior-site-visitor retargeting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Direct-to-engine buying — no reseller markup on any impression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Impression-Based Remarketing and the Ad Effectiveness Study, both included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App-level placement, CPM and completion reporting every month</a:t>
              </a:r>
              <a:endPara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31"/>
          <p:cNvGrpSpPr/>
          <p:nvPr/>
        </p:nvGrpSpPr>
        <p:grpSpPr>
          <a:xfrm>
            <a:off x="5600700" y="1200150"/>
            <a:ext cx="2762400" cy="1095300"/>
            <a:chOff x="0" y="0"/>
            <a:chExt cx="2762400" cy="1095300"/>
          </a:xfrm>
        </p:grpSpPr>
        <p:sp>
          <p:nvSpPr>
            <p:cNvPr id="673" name="Google Shape;673;p31"/>
            <p:cNvSpPr/>
            <p:nvPr/>
          </p:nvSpPr>
          <p:spPr>
            <a:xfrm>
              <a:off x="0" y="0"/>
              <a:ext cx="2762400" cy="1095300"/>
            </a:xfrm>
            <a:prstGeom prst="roundRect">
              <a:avLst>
                <a:gd fmla="val 6956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1"/>
            <p:cNvSpPr txBox="1"/>
            <p:nvPr/>
          </p:nvSpPr>
          <p:spPr>
            <a:xfrm>
              <a:off x="171450" y="114300"/>
              <a:ext cx="2419500" cy="8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MONTHLY INVESTMENT</a:t>
              </a:r>
              <a:endParaRPr b="1" sz="75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$20,000</a:t>
              </a:r>
              <a:endParaRPr b="1" sz="320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NET USD · 100% working media · fully scalable</a:t>
              </a:r>
              <a:endParaRPr b="0" sz="85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31"/>
          <p:cNvGrpSpPr/>
          <p:nvPr/>
        </p:nvGrpSpPr>
        <p:grpSpPr>
          <a:xfrm>
            <a:off x="5600700" y="2419350"/>
            <a:ext cx="2762400" cy="1162200"/>
            <a:chOff x="0" y="0"/>
            <a:chExt cx="2762400" cy="1162200"/>
          </a:xfrm>
        </p:grpSpPr>
        <p:sp>
          <p:nvSpPr>
            <p:cNvPr id="676" name="Google Shape;676;p31"/>
            <p:cNvSpPr/>
            <p:nvPr/>
          </p:nvSpPr>
          <p:spPr>
            <a:xfrm>
              <a:off x="0" y="0"/>
              <a:ext cx="2762400" cy="1162200"/>
            </a:xfrm>
            <a:prstGeom prst="roundRect">
              <a:avLst>
                <a:gd fmla="val 6557" name="adj"/>
              </a:avLst>
            </a:prstGeom>
            <a:solidFill>
              <a:srgbClr val="0044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1"/>
            <p:cNvSpPr txBox="1"/>
            <p:nvPr/>
          </p:nvSpPr>
          <p:spPr>
            <a:xfrm>
              <a:off x="171450" y="114300"/>
              <a:ext cx="24195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94">
                  <a:solidFill>
                    <a:srgbClr val="A7C142"/>
                  </a:solidFill>
                  <a:latin typeface="Arial"/>
                  <a:ea typeface="Arial"/>
                  <a:cs typeface="Arial"/>
                  <a:sym typeface="Arial"/>
                </a:rPr>
                <a:t>NEXT STEP</a:t>
              </a:r>
              <a:endParaRPr b="1" sz="694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Complimentary local CTV audit</a:t>
              </a:r>
              <a:endParaRPr b="1" sz="120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EBF7EE"/>
                  </a:solidFill>
                  <a:latin typeface="Arial"/>
                  <a:ea typeface="Arial"/>
                  <a:cs typeface="Arial"/>
                  <a:sym typeface="Arial"/>
                </a:rPr>
                <a:t>A real-time inventory forecast across Monarch’s five California cities, confirming the streaming audience supports a sustained television presence — before a dollar is committed.</a:t>
              </a:r>
              <a:endParaRPr b="0" sz="833">
                <a:solidFill>
                  <a:srgbClr val="EBF7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8" name="Google Shape;678;p31"/>
          <p:cNvSpPr txBox="1"/>
          <p:nvPr/>
        </p:nvSpPr>
        <p:spPr>
          <a:xfrm>
            <a:off x="552450" y="3848100"/>
            <a:ext cx="1238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00E676"/>
                </a:solidFill>
                <a:latin typeface="Arial"/>
                <a:ea typeface="Arial"/>
                <a:cs typeface="Arial"/>
                <a:sym typeface="Arial"/>
              </a:rPr>
              <a:t>CAMP</a:t>
            </a:r>
            <a:endParaRPr b="0" sz="2220">
              <a:solidFill>
                <a:srgbClr val="00E67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74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1" sz="740">
              <a:solidFill>
                <a:srgbClr val="A7C1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1"/>
          <p:cNvSpPr txBox="1"/>
          <p:nvPr/>
        </p:nvSpPr>
        <p:spPr>
          <a:xfrm>
            <a:off x="1905000" y="3848100"/>
            <a:ext cx="400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own the big screen in your service territory?</a:t>
            </a:r>
            <a:endParaRPr b="1" sz="12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0" name="Google Shape;680;p31"/>
          <p:cNvGrpSpPr/>
          <p:nvPr/>
        </p:nvGrpSpPr>
        <p:grpSpPr>
          <a:xfrm>
            <a:off x="6096000" y="3886200"/>
            <a:ext cx="2267100" cy="419100"/>
            <a:chOff x="0" y="0"/>
            <a:chExt cx="2267100" cy="419100"/>
          </a:xfrm>
        </p:grpSpPr>
        <p:sp>
          <p:nvSpPr>
            <p:cNvPr id="681" name="Google Shape;681;p31"/>
            <p:cNvSpPr/>
            <p:nvPr/>
          </p:nvSpPr>
          <p:spPr>
            <a:xfrm>
              <a:off x="0" y="0"/>
              <a:ext cx="2267100" cy="419100"/>
            </a:xfrm>
            <a:prstGeom prst="roundRect">
              <a:avLst>
                <a:gd fmla="val 18181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1"/>
            <p:cNvSpPr txBox="1"/>
            <p:nvPr/>
          </p:nvSpPr>
          <p:spPr>
            <a:xfrm>
              <a:off x="0" y="0"/>
              <a:ext cx="2267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2D1A"/>
                  </a:solidFill>
                  <a:latin typeface="Arial"/>
                  <a:ea typeface="Arial"/>
                  <a:cs typeface="Arial"/>
                  <a:sym typeface="Arial"/>
                </a:rPr>
                <a:t>Request Your Free CTV Audit</a:t>
              </a:r>
              <a:endParaRPr b="1" sz="1100">
                <a:solidFill>
                  <a:srgbClr val="002D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p31"/>
          <p:cNvSpPr txBox="1"/>
          <p:nvPr/>
        </p:nvSpPr>
        <p:spPr>
          <a:xfrm>
            <a:off x="552450" y="4572000"/>
            <a:ext cx="803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88AAAA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guaranteed. Pricing is dynamic based on market demand. All dollars are NET USD.</a:t>
            </a:r>
            <a:endParaRPr i="1" sz="800">
              <a:solidFill>
                <a:srgbClr val="88AAA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